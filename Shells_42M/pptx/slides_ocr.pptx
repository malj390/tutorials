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" Type="http://schemas.openxmlformats.org/officeDocument/2006/relationships/image" Target="../media/slide-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" Type="http://schemas.openxmlformats.org/officeDocument/2006/relationships/image" Target="../media/slide-1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" Type="http://schemas.openxmlformats.org/officeDocument/2006/relationships/image" Target="../media/slide-1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4" Type="http://schemas.openxmlformats.org/officeDocument/2006/relationships/image" Target="../media/slide-1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5" Type="http://schemas.openxmlformats.org/officeDocument/2006/relationships/image" Target="../media/slide-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6" Type="http://schemas.openxmlformats.org/officeDocument/2006/relationships/image" Target="../media/slide-1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7" Type="http://schemas.openxmlformats.org/officeDocument/2006/relationships/image" Target="../media/slide-1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8" Type="http://schemas.openxmlformats.org/officeDocument/2006/relationships/image" Target="../media/slide-1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9" Type="http://schemas.openxmlformats.org/officeDocument/2006/relationships/image" Target="../media/slide-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0" Type="http://schemas.openxmlformats.org/officeDocument/2006/relationships/image" Target="../media/slide-18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1" Type="http://schemas.openxmlformats.org/officeDocument/2006/relationships/image" Target="../media/slide-1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2" Type="http://schemas.openxmlformats.org/officeDocument/2006/relationships/image" Target="../media/slide-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3" Type="http://schemas.openxmlformats.org/officeDocument/2006/relationships/image" Target="../media/slide-2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4" Type="http://schemas.openxmlformats.org/officeDocument/2006/relationships/image" Target="../media/slide-21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5" Type="http://schemas.openxmlformats.org/officeDocument/2006/relationships/image" Target="../media/slide-22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6" Type="http://schemas.openxmlformats.org/officeDocument/2006/relationships/image" Target="../media/slide-23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7" Type="http://schemas.openxmlformats.org/officeDocument/2006/relationships/image" Target="../media/slide-24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8" Type="http://schemas.openxmlformats.org/officeDocument/2006/relationships/image" Target="../media/slide-2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19" Type="http://schemas.openxmlformats.org/officeDocument/2006/relationships/image" Target="../media/slide-26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0" Type="http://schemas.openxmlformats.org/officeDocument/2006/relationships/image" Target="../media/slide-2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1" Type="http://schemas.openxmlformats.org/officeDocument/2006/relationships/image" Target="../media/slide-28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2" Type="http://schemas.openxmlformats.org/officeDocument/2006/relationships/image" Target="../media/slide-2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3" Type="http://schemas.openxmlformats.org/officeDocument/2006/relationships/image" Target="../media/slide-3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4" Type="http://schemas.openxmlformats.org/officeDocument/2006/relationships/image" Target="../media/slide-30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5" Type="http://schemas.openxmlformats.org/officeDocument/2006/relationships/image" Target="../media/slide-31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6" Type="http://schemas.openxmlformats.org/officeDocument/2006/relationships/image" Target="../media/slide-32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7" Type="http://schemas.openxmlformats.org/officeDocument/2006/relationships/image" Target="../media/slide-33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8" Type="http://schemas.openxmlformats.org/officeDocument/2006/relationships/image" Target="../media/slide-3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29" Type="http://schemas.openxmlformats.org/officeDocument/2006/relationships/image" Target="../media/slide-3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0" Type="http://schemas.openxmlformats.org/officeDocument/2006/relationships/image" Target="../media/slide-4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1" Type="http://schemas.openxmlformats.org/officeDocument/2006/relationships/image" Target="../media/slide-5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2" Type="http://schemas.openxmlformats.org/officeDocument/2006/relationships/image" Target="../media/slide-6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3" Type="http://schemas.openxmlformats.org/officeDocument/2006/relationships/image" Target="../media/slide-7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4" Type="http://schemas.openxmlformats.org/officeDocument/2006/relationships/image" Target="../media/slide-8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mg35" Type="http://schemas.openxmlformats.org/officeDocument/2006/relationships/image" Target="../media/slide-9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1" name="Picture 1" descr="slide-1.svg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2" name="Picture 2" descr="slide-10.svg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00" name="TextBox 200"/>
          <p:cNvSpPr txBox="1"/>
          <p:nvPr/>
        </p:nvSpPr>
        <p:spPr>
          <a:xfrm>
            <a:off x="4536637" y="1648239"/>
            <a:ext cx="3118419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4800" dirty="0"/>
              <a:t>Variables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787898" y="2890630"/>
            <a:ext cx="77960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CONCEPTO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3972667" y="2890630"/>
            <a:ext cx="41468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BASH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4636161" y="2890630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ZSH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7671644" y="2890630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FISH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787898" y="3420717"/>
            <a:ext cx="66349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Declarar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4072192" y="3453847"/>
            <a:ext cx="364921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vars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7754581" y="3437282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8102915" y="3453847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var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787898" y="3934239"/>
            <a:ext cx="43127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Local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4072192" y="3950804"/>
            <a:ext cx="43127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local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4586399" y="3967369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var=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7754581" y="3967369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8368313" y="3967369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var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779604" y="4439478"/>
            <a:ext cx="53079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Global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4063898" y="4472608"/>
            <a:ext cx="53908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export</a:t>
            </a:r>
          </a:p>
        </p:txBody>
      </p:sp>
      <p:sp>
        <p:nvSpPr>
          <p:cNvPr id="216" name="TextBox 216"/>
          <p:cNvSpPr txBox="1"/>
          <p:nvPr/>
        </p:nvSpPr>
        <p:spPr>
          <a:xfrm>
            <a:off x="4685923" y="4480891"/>
            <a:ext cx="44785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VAReX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7754581" y="4480891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8185852" y="4497456"/>
            <a:ext cx="19904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gx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8434662" y="4464326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VAR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771311" y="4936434"/>
            <a:ext cx="870835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Espacios en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4271240" y="4977847"/>
            <a:ext cx="71325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Prohibido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7970216" y="5010978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No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8202439" y="5010978"/>
            <a:ext cx="464445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aplica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3" name="Picture 3" descr="slide-11.svg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24" name="TextBox 224"/>
          <p:cNvSpPr txBox="1"/>
          <p:nvPr/>
        </p:nvSpPr>
        <p:spPr>
          <a:xfrm>
            <a:off x="3698976" y="1639956"/>
            <a:ext cx="4793741" cy="795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5000" dirty="0"/>
              <a:t>Condicionales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787898" y="2890630"/>
            <a:ext cx="77960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CONCEPTO</a:t>
            </a:r>
          </a:p>
        </p:txBody>
      </p:sp>
      <p:sp>
        <p:nvSpPr>
          <p:cNvPr id="226" name="TextBox 226"/>
          <p:cNvSpPr txBox="1"/>
          <p:nvPr/>
        </p:nvSpPr>
        <p:spPr>
          <a:xfrm>
            <a:off x="3060364" y="2890630"/>
            <a:ext cx="41468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BASH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3707270" y="2890630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ZSH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7422834" y="2890630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FISH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3126713" y="3420717"/>
            <a:ext cx="81277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if [ "Sa"</a:t>
            </a:r>
          </a:p>
        </p:txBody>
      </p:sp>
      <p:sp>
        <p:nvSpPr>
          <p:cNvPr id="230" name="TextBox 230"/>
          <p:cNvSpPr txBox="1"/>
          <p:nvPr/>
        </p:nvSpPr>
        <p:spPr>
          <a:xfrm>
            <a:off x="4204890" y="3437282"/>
            <a:ext cx="18246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"b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7489184" y="3420717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if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7771168" y="3437282"/>
            <a:ext cx="34833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test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8185852" y="3404152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Sa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8633710" y="3437282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"b"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804485" y="3934239"/>
            <a:ext cx="33174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And</a:t>
            </a:r>
          </a:p>
        </p:txBody>
      </p:sp>
      <p:sp>
        <p:nvSpPr>
          <p:cNvPr id="236" name="TextBox 236"/>
          <p:cNvSpPr txBox="1"/>
          <p:nvPr/>
        </p:nvSpPr>
        <p:spPr>
          <a:xfrm>
            <a:off x="3143300" y="3950804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&amp;&amp;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3475047" y="3950804"/>
            <a:ext cx="34833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 [ ]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7671644" y="3950804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and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787898" y="4464326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Or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3475047" y="4497456"/>
            <a:ext cx="19904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</a:t>
            </a:r>
          </a:p>
        </p:txBody>
      </p:sp>
      <p:sp>
        <p:nvSpPr>
          <p:cNvPr id="241" name="TextBox 241"/>
          <p:cNvSpPr txBox="1"/>
          <p:nvPr/>
        </p:nvSpPr>
        <p:spPr>
          <a:xfrm>
            <a:off x="7671644" y="4497456"/>
            <a:ext cx="19904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01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787898" y="4977847"/>
            <a:ext cx="46444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Cierre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3126713" y="4977847"/>
            <a:ext cx="19904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7505771" y="4994413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4" name="Picture 4" descr="slide-12.svg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45" name="TextBox 245"/>
          <p:cNvSpPr txBox="1"/>
          <p:nvPr/>
        </p:nvSpPr>
        <p:spPr>
          <a:xfrm>
            <a:off x="3674095" y="1383195"/>
            <a:ext cx="2313933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6000" dirty="0"/>
              <a:t>Arrays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6419300" y="1391478"/>
            <a:ext cx="2098298" cy="803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5000" dirty="0"/>
              <a:t>Listas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787898" y="2625586"/>
            <a:ext cx="77960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CONCEPTO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3159888" y="2625586"/>
            <a:ext cx="41468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BASH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3823381" y="2625586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ZSH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7655057" y="2625586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FISH</a:t>
            </a:r>
          </a:p>
        </p:txBody>
      </p:sp>
      <p:sp>
        <p:nvSpPr>
          <p:cNvPr id="251" name="TextBox 251"/>
          <p:cNvSpPr txBox="1"/>
          <p:nvPr/>
        </p:nvSpPr>
        <p:spPr>
          <a:xfrm>
            <a:off x="787898" y="3155673"/>
            <a:ext cx="66349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Declarar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3242824" y="3155673"/>
            <a:ext cx="81277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arr-(a b)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7737994" y="3188804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8086328" y="3188804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arr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787898" y="3685760"/>
            <a:ext cx="613731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Acceder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3300880" y="3660913"/>
            <a:ext cx="84595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'${arr[0]}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4370764" y="3702326"/>
            <a:ext cx="43127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(Base 0)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7729700" y="3660913"/>
            <a:ext cx="64690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Sarr[1]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8517599" y="3702326"/>
            <a:ext cx="315159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(Base</a:t>
            </a:r>
          </a:p>
        </p:txBody>
      </p:sp>
      <p:sp>
        <p:nvSpPr>
          <p:cNvPr id="260" name="TextBox 260"/>
          <p:cNvSpPr txBox="1"/>
          <p:nvPr/>
        </p:nvSpPr>
        <p:spPr>
          <a:xfrm>
            <a:off x="787898" y="4199282"/>
            <a:ext cx="46444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Todos</a:t>
            </a:r>
          </a:p>
        </p:txBody>
      </p:sp>
      <p:sp>
        <p:nvSpPr>
          <p:cNvPr id="261" name="TextBox 261"/>
          <p:cNvSpPr txBox="1"/>
          <p:nvPr/>
        </p:nvSpPr>
        <p:spPr>
          <a:xfrm>
            <a:off x="3300880" y="4191000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'${arr[@]}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7754581" y="4215847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Sarr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779604" y="4704521"/>
            <a:ext cx="71325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Longitud</a:t>
            </a:r>
          </a:p>
        </p:txBody>
      </p:sp>
      <p:sp>
        <p:nvSpPr>
          <p:cNvPr id="264" name="TextBox 264"/>
          <p:cNvSpPr txBox="1"/>
          <p:nvPr/>
        </p:nvSpPr>
        <p:spPr>
          <a:xfrm>
            <a:off x="3217943" y="4704521"/>
            <a:ext cx="92889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S{#arr[e]}</a:t>
            </a:r>
          </a:p>
        </p:txBody>
      </p:sp>
      <p:sp>
        <p:nvSpPr>
          <p:cNvPr id="265" name="TextBox 265"/>
          <p:cNvSpPr txBox="1"/>
          <p:nvPr/>
        </p:nvSpPr>
        <p:spPr>
          <a:xfrm>
            <a:off x="7737994" y="4745934"/>
            <a:ext cx="44785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count</a:t>
            </a:r>
          </a:p>
        </p:txBody>
      </p:sp>
      <p:sp>
        <p:nvSpPr>
          <p:cNvPr id="266" name="TextBox 266"/>
          <p:cNvSpPr txBox="1"/>
          <p:nvPr/>
        </p:nvSpPr>
        <p:spPr>
          <a:xfrm>
            <a:off x="8268789" y="4729369"/>
            <a:ext cx="364921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Sarr</a:t>
            </a:r>
          </a:p>
        </p:txBody>
      </p:sp>
      <p:sp>
        <p:nvSpPr>
          <p:cNvPr id="267" name="TextBox 267"/>
          <p:cNvSpPr txBox="1"/>
          <p:nvPr/>
        </p:nvSpPr>
        <p:spPr>
          <a:xfrm>
            <a:off x="779604" y="5218043"/>
            <a:ext cx="56396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Anadir</a:t>
            </a:r>
          </a:p>
        </p:txBody>
      </p:sp>
      <p:sp>
        <p:nvSpPr>
          <p:cNvPr id="268" name="TextBox 268"/>
          <p:cNvSpPr txBox="1"/>
          <p:nvPr/>
        </p:nvSpPr>
        <p:spPr>
          <a:xfrm>
            <a:off x="3242824" y="5259456"/>
            <a:ext cx="72984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arrts("x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7737994" y="5276021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270" name="TextBox 270"/>
          <p:cNvSpPr txBox="1"/>
          <p:nvPr/>
        </p:nvSpPr>
        <p:spPr>
          <a:xfrm>
            <a:off x="8351725" y="5276021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arr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5" name="Picture 5" descr="slide-13.svg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71" name="TextBox 271"/>
          <p:cNvSpPr txBox="1"/>
          <p:nvPr/>
        </p:nvSpPr>
        <p:spPr>
          <a:xfrm>
            <a:off x="4951321" y="1913282"/>
            <a:ext cx="227246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4800" dirty="0"/>
              <a:t>Bucles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787898" y="3155673"/>
            <a:ext cx="77960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CONCEPTO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3043776" y="3155673"/>
            <a:ext cx="414683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BASH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3707270" y="3155673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ZSH</a:t>
            </a:r>
          </a:p>
        </p:txBody>
      </p:sp>
      <p:sp>
        <p:nvSpPr>
          <p:cNvPr id="275" name="TextBox 275"/>
          <p:cNvSpPr txBox="1"/>
          <p:nvPr/>
        </p:nvSpPr>
        <p:spPr>
          <a:xfrm>
            <a:off x="7837518" y="3155673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FISH</a:t>
            </a:r>
          </a:p>
        </p:txBody>
      </p:sp>
      <p:sp>
        <p:nvSpPr>
          <p:cNvPr id="276" name="TextBox 276"/>
          <p:cNvSpPr txBox="1"/>
          <p:nvPr/>
        </p:nvSpPr>
        <p:spPr>
          <a:xfrm>
            <a:off x="779604" y="3660913"/>
            <a:ext cx="76301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For rango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3118419" y="3660913"/>
            <a:ext cx="26539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{1 .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3450166" y="3660913"/>
            <a:ext cx="23222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5}</a:t>
            </a:r>
          </a:p>
        </p:txBody>
      </p:sp>
      <p:sp>
        <p:nvSpPr>
          <p:cNvPr id="279" name="TextBox 279"/>
          <p:cNvSpPr txBox="1"/>
          <p:nvPr/>
        </p:nvSpPr>
        <p:spPr>
          <a:xfrm>
            <a:off x="3922905" y="3669195"/>
            <a:ext cx="54738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dofdone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7928748" y="3685760"/>
            <a:ext cx="35662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(seq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8509305" y="3660913"/>
            <a:ext cx="23222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5)</a:t>
            </a:r>
          </a:p>
        </p:txBody>
      </p:sp>
      <p:sp>
        <p:nvSpPr>
          <p:cNvPr id="282" name="TextBox 282"/>
          <p:cNvSpPr txBox="1"/>
          <p:nvPr/>
        </p:nvSpPr>
        <p:spPr>
          <a:xfrm>
            <a:off x="8982044" y="3685760"/>
            <a:ext cx="265397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283" name="TextBox 283"/>
          <p:cNvSpPr txBox="1"/>
          <p:nvPr/>
        </p:nvSpPr>
        <p:spPr>
          <a:xfrm>
            <a:off x="787898" y="4199282"/>
            <a:ext cx="63031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For lista</a:t>
            </a:r>
          </a:p>
        </p:txBody>
      </p:sp>
      <p:sp>
        <p:nvSpPr>
          <p:cNvPr id="284" name="TextBox 284"/>
          <p:cNvSpPr txBox="1"/>
          <p:nvPr/>
        </p:nvSpPr>
        <p:spPr>
          <a:xfrm>
            <a:off x="3201356" y="4191000"/>
            <a:ext cx="82936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${arr[e]}</a:t>
            </a:r>
          </a:p>
        </p:txBody>
      </p:sp>
      <p:sp>
        <p:nvSpPr>
          <p:cNvPr id="285" name="TextBox 285"/>
          <p:cNvSpPr txBox="1"/>
          <p:nvPr/>
        </p:nvSpPr>
        <p:spPr>
          <a:xfrm>
            <a:off x="4370764" y="4215847"/>
            <a:ext cx="53079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do/done</a:t>
            </a:r>
          </a:p>
        </p:txBody>
      </p:sp>
      <p:sp>
        <p:nvSpPr>
          <p:cNvPr id="286" name="TextBox 286"/>
          <p:cNvSpPr txBox="1"/>
          <p:nvPr/>
        </p:nvSpPr>
        <p:spPr>
          <a:xfrm>
            <a:off x="8019978" y="4232413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arr</a:t>
            </a:r>
          </a:p>
        </p:txBody>
      </p:sp>
      <p:sp>
        <p:nvSpPr>
          <p:cNvPr id="287" name="TextBox 287"/>
          <p:cNvSpPr txBox="1"/>
          <p:nvPr/>
        </p:nvSpPr>
        <p:spPr>
          <a:xfrm>
            <a:off x="8550773" y="4215847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779604" y="4704521"/>
            <a:ext cx="49762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Cierre</a:t>
            </a:r>
          </a:p>
        </p:txBody>
      </p:sp>
      <p:sp>
        <p:nvSpPr>
          <p:cNvPr id="289" name="TextBox 289"/>
          <p:cNvSpPr txBox="1"/>
          <p:nvPr/>
        </p:nvSpPr>
        <p:spPr>
          <a:xfrm>
            <a:off x="3143300" y="4745934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done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7937042" y="4745934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6" name="Picture 6" descr="slide-14.svg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91" name="TextBox 291"/>
          <p:cNvSpPr txBox="1"/>
          <p:nvPr/>
        </p:nvSpPr>
        <p:spPr>
          <a:xfrm>
            <a:off x="630318" y="2890630"/>
            <a:ext cx="10931057" cy="1010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6300" dirty="0"/>
              <a:t>06. Compatibilidad y Ecosistema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7" name="Picture 7" descr="slide-15.svg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92" name="TextBox 292"/>
          <p:cNvSpPr txBox="1"/>
          <p:nvPr/>
        </p:nvSpPr>
        <p:spPr>
          <a:xfrm>
            <a:off x="630318" y="546652"/>
            <a:ext cx="481032" cy="447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800" dirty="0"/>
              <a:t>El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1094764" y="430695"/>
            <a:ext cx="3466754" cy="6708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4200" dirty="0"/>
              <a:t>problema POSIX</a:t>
            </a:r>
          </a:p>
        </p:txBody>
      </p:sp>
      <p:sp>
        <p:nvSpPr>
          <p:cNvPr id="294" name="TextBox 294"/>
          <p:cNvSpPr txBox="1"/>
          <p:nvPr/>
        </p:nvSpPr>
        <p:spPr>
          <a:xfrm>
            <a:off x="1451392" y="1565413"/>
            <a:ext cx="116111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Esto funciona</a:t>
            </a:r>
          </a:p>
        </p:txBody>
      </p:sp>
      <p:sp>
        <p:nvSpPr>
          <p:cNvPr id="295" name="TextBox 295"/>
          <p:cNvSpPr txBox="1"/>
          <p:nvPr/>
        </p:nvSpPr>
        <p:spPr>
          <a:xfrm>
            <a:off x="2678855" y="1615108"/>
            <a:ext cx="19904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</a:t>
            </a:r>
          </a:p>
        </p:txBody>
      </p:sp>
      <p:sp>
        <p:nvSpPr>
          <p:cNvPr id="296" name="TextBox 296"/>
          <p:cNvSpPr txBox="1"/>
          <p:nvPr/>
        </p:nvSpPr>
        <p:spPr>
          <a:xfrm>
            <a:off x="2919371" y="1557130"/>
            <a:ext cx="1459685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Bash/Zsh pero NO</a:t>
            </a:r>
          </a:p>
        </p:txBody>
      </p:sp>
      <p:sp>
        <p:nvSpPr>
          <p:cNvPr id="297" name="TextBox 297"/>
          <p:cNvSpPr txBox="1"/>
          <p:nvPr/>
        </p:nvSpPr>
        <p:spPr>
          <a:xfrm>
            <a:off x="4420526" y="1565413"/>
            <a:ext cx="63031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 Fish</a:t>
            </a:r>
          </a:p>
        </p:txBody>
      </p:sp>
      <p:sp>
        <p:nvSpPr>
          <p:cNvPr id="298" name="TextBox 298"/>
          <p:cNvSpPr txBox="1"/>
          <p:nvPr/>
        </p:nvSpPr>
        <p:spPr>
          <a:xfrm>
            <a:off x="6983270" y="1557130"/>
            <a:ext cx="101182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Equivalente</a:t>
            </a:r>
          </a:p>
        </p:txBody>
      </p:sp>
      <p:sp>
        <p:nvSpPr>
          <p:cNvPr id="299" name="TextBox 299"/>
          <p:cNvSpPr txBox="1"/>
          <p:nvPr/>
        </p:nvSpPr>
        <p:spPr>
          <a:xfrm>
            <a:off x="8053153" y="1565413"/>
            <a:ext cx="63031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 Fish</a:t>
            </a:r>
          </a:p>
        </p:txBody>
      </p:sp>
      <p:sp>
        <p:nvSpPr>
          <p:cNvPr id="300" name="TextBox 300"/>
          <p:cNvSpPr txBox="1"/>
          <p:nvPr/>
        </p:nvSpPr>
        <p:spPr>
          <a:xfrm>
            <a:off x="1260637" y="1772478"/>
            <a:ext cx="361604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export GOOGLE_CLOUD_PROJECT-"mi-proyecto"</a:t>
            </a:r>
          </a:p>
        </p:txBody>
      </p:sp>
      <p:sp>
        <p:nvSpPr>
          <p:cNvPr id="301" name="TextBox 301"/>
          <p:cNvSpPr txBox="1"/>
          <p:nvPr/>
        </p:nvSpPr>
        <p:spPr>
          <a:xfrm>
            <a:off x="6825690" y="1813891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set</a:t>
            </a:r>
          </a:p>
        </p:txBody>
      </p:sp>
      <p:sp>
        <p:nvSpPr>
          <p:cNvPr id="302" name="TextBox 302"/>
          <p:cNvSpPr txBox="1"/>
          <p:nvPr/>
        </p:nvSpPr>
        <p:spPr>
          <a:xfrm>
            <a:off x="7182318" y="1772478"/>
            <a:ext cx="212317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~gx GOOGLE_CLOUD_PROJECT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9355259" y="1797326"/>
            <a:ext cx="116111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"mi-proyecto"</a:t>
            </a:r>
          </a:p>
        </p:txBody>
      </p:sp>
      <p:sp>
        <p:nvSpPr>
          <p:cNvPr id="304" name="TextBox 304"/>
          <p:cNvSpPr txBox="1"/>
          <p:nvPr/>
        </p:nvSpPr>
        <p:spPr>
          <a:xfrm>
            <a:off x="1285518" y="2045804"/>
            <a:ext cx="54738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source</a:t>
            </a:r>
          </a:p>
        </p:txBody>
      </p:sp>
      <p:sp>
        <p:nvSpPr>
          <p:cNvPr id="305" name="TextBox 305"/>
          <p:cNvSpPr txBox="1"/>
          <p:nvPr/>
        </p:nvSpPr>
        <p:spPr>
          <a:xfrm>
            <a:off x="1899250" y="2012673"/>
            <a:ext cx="89571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[rutalinit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2844728" y="2029239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sh</a:t>
            </a:r>
          </a:p>
        </p:txBody>
      </p:sp>
      <p:sp>
        <p:nvSpPr>
          <p:cNvPr id="307" name="TextBox 307"/>
          <p:cNvSpPr txBox="1"/>
          <p:nvPr/>
        </p:nvSpPr>
        <p:spPr>
          <a:xfrm>
            <a:off x="6809103" y="2012673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bass</a:t>
            </a:r>
          </a:p>
        </p:txBody>
      </p:sp>
      <p:sp>
        <p:nvSpPr>
          <p:cNvPr id="308" name="TextBox 308"/>
          <p:cNvSpPr txBox="1"/>
          <p:nvPr/>
        </p:nvSpPr>
        <p:spPr>
          <a:xfrm>
            <a:off x="7273548" y="2045804"/>
            <a:ext cx="54738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source</a:t>
            </a:r>
          </a:p>
        </p:txBody>
      </p:sp>
      <p:sp>
        <p:nvSpPr>
          <p:cNvPr id="309" name="TextBox 309"/>
          <p:cNvSpPr txBox="1"/>
          <p:nvPr/>
        </p:nvSpPr>
        <p:spPr>
          <a:xfrm>
            <a:off x="7887280" y="2012673"/>
            <a:ext cx="89571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Irutalinit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8832758" y="2029239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8" name="Picture 8" descr="slide-16.svg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11" name="TextBox 311"/>
          <p:cNvSpPr txBox="1"/>
          <p:nvPr/>
        </p:nvSpPr>
        <p:spPr>
          <a:xfrm>
            <a:off x="597144" y="488673"/>
            <a:ext cx="5142075" cy="604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800" dirty="0"/>
              <a:t>Plugins Fisher esenciales</a:t>
            </a:r>
          </a:p>
        </p:txBody>
      </p:sp>
      <p:sp>
        <p:nvSpPr>
          <p:cNvPr id="312" name="TextBox 312"/>
          <p:cNvSpPr txBox="1"/>
          <p:nvPr/>
        </p:nvSpPr>
        <p:spPr>
          <a:xfrm>
            <a:off x="787898" y="1366630"/>
            <a:ext cx="59714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PLUGIN</a:t>
            </a:r>
          </a:p>
        </p:txBody>
      </p:sp>
      <p:sp>
        <p:nvSpPr>
          <p:cNvPr id="313" name="TextBox 313"/>
          <p:cNvSpPr txBox="1"/>
          <p:nvPr/>
        </p:nvSpPr>
        <p:spPr>
          <a:xfrm>
            <a:off x="3184769" y="1341782"/>
            <a:ext cx="69666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FUNCION</a:t>
            </a:r>
          </a:p>
        </p:txBody>
      </p:sp>
      <p:sp>
        <p:nvSpPr>
          <p:cNvPr id="314" name="TextBox 314"/>
          <p:cNvSpPr txBox="1"/>
          <p:nvPr/>
        </p:nvSpPr>
        <p:spPr>
          <a:xfrm>
            <a:off x="5722632" y="1341782"/>
            <a:ext cx="109476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DESCRIPCION</a:t>
            </a:r>
          </a:p>
        </p:txBody>
      </p:sp>
      <p:sp>
        <p:nvSpPr>
          <p:cNvPr id="315" name="TextBox 315"/>
          <p:cNvSpPr txBox="1"/>
          <p:nvPr/>
        </p:nvSpPr>
        <p:spPr>
          <a:xfrm>
            <a:off x="887422" y="1913282"/>
            <a:ext cx="69666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edc/bass</a:t>
            </a:r>
          </a:p>
        </p:txBody>
      </p:sp>
      <p:sp>
        <p:nvSpPr>
          <p:cNvPr id="316" name="TextBox 316"/>
          <p:cNvSpPr txBox="1"/>
          <p:nvPr/>
        </p:nvSpPr>
        <p:spPr>
          <a:xfrm>
            <a:off x="3184769" y="1871869"/>
            <a:ext cx="189095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Ejecuta scripts Bash en Fish</a:t>
            </a:r>
          </a:p>
        </p:txBody>
      </p:sp>
      <p:sp>
        <p:nvSpPr>
          <p:cNvPr id="317" name="TextBox 317"/>
          <p:cNvSpPr txBox="1"/>
          <p:nvPr/>
        </p:nvSpPr>
        <p:spPr>
          <a:xfrm>
            <a:off x="5747513" y="1896717"/>
            <a:ext cx="64690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Permite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6435887" y="1871869"/>
            <a:ext cx="361604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usar herramientas CLI disenadas para Bash</a:t>
            </a:r>
          </a:p>
        </p:txBody>
      </p:sp>
      <p:sp>
        <p:nvSpPr>
          <p:cNvPr id="319" name="TextBox 319"/>
          <p:cNvSpPr txBox="1"/>
          <p:nvPr/>
        </p:nvSpPr>
        <p:spPr>
          <a:xfrm>
            <a:off x="887422" y="2426804"/>
            <a:ext cx="1426511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jorgebucaran/nvm_</a:t>
            </a:r>
          </a:p>
        </p:txBody>
      </p:sp>
      <p:sp>
        <p:nvSpPr>
          <p:cNvPr id="320" name="TextBox 320"/>
          <p:cNvSpPr txBox="1"/>
          <p:nvPr/>
        </p:nvSpPr>
        <p:spPr>
          <a:xfrm>
            <a:off x="2363695" y="2426804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fish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3184769" y="2401956"/>
            <a:ext cx="172508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NVM nativo ultra-rapido</a:t>
            </a:r>
          </a:p>
        </p:txBody>
      </p:sp>
      <p:sp>
        <p:nvSpPr>
          <p:cNvPr id="322" name="TextBox 322"/>
          <p:cNvSpPr txBox="1"/>
          <p:nvPr/>
        </p:nvSpPr>
        <p:spPr>
          <a:xfrm>
            <a:off x="5739219" y="2393673"/>
            <a:ext cx="2836435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Gestion de versiones Node.js sin</a:t>
            </a:r>
          </a:p>
        </p:txBody>
      </p:sp>
      <p:sp>
        <p:nvSpPr>
          <p:cNvPr id="323" name="TextBox 323"/>
          <p:cNvSpPr txBox="1"/>
          <p:nvPr/>
        </p:nvSpPr>
        <p:spPr>
          <a:xfrm>
            <a:off x="8617123" y="2410239"/>
            <a:ext cx="91230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ralentizar</a:t>
            </a:r>
          </a:p>
        </p:txBody>
      </p:sp>
      <p:sp>
        <p:nvSpPr>
          <p:cNvPr id="324" name="TextBox 324"/>
          <p:cNvSpPr txBox="1"/>
          <p:nvPr/>
        </p:nvSpPr>
        <p:spPr>
          <a:xfrm>
            <a:off x="9570895" y="2401956"/>
            <a:ext cx="72984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el shell</a:t>
            </a:r>
          </a:p>
        </p:txBody>
      </p:sp>
      <p:sp>
        <p:nvSpPr>
          <p:cNvPr id="325" name="TextBox 325"/>
          <p:cNvSpPr txBox="1"/>
          <p:nvPr/>
        </p:nvSpPr>
        <p:spPr>
          <a:xfrm>
            <a:off x="854248" y="2915478"/>
            <a:ext cx="161726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patrickfl/fzf.fish</a:t>
            </a:r>
          </a:p>
        </p:txBody>
      </p:sp>
      <p:sp>
        <p:nvSpPr>
          <p:cNvPr id="326" name="TextBox 326"/>
          <p:cNvSpPr txBox="1"/>
          <p:nvPr/>
        </p:nvSpPr>
        <p:spPr>
          <a:xfrm>
            <a:off x="3184769" y="2915478"/>
            <a:ext cx="213976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Buscador difuso (Ctrl+R visual)</a:t>
            </a:r>
          </a:p>
        </p:txBody>
      </p:sp>
      <p:sp>
        <p:nvSpPr>
          <p:cNvPr id="327" name="TextBox 327"/>
          <p:cNvSpPr txBox="1"/>
          <p:nvPr/>
        </p:nvSpPr>
        <p:spPr>
          <a:xfrm>
            <a:off x="5739219" y="2915478"/>
            <a:ext cx="82936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Reemplazo</a:t>
            </a:r>
          </a:p>
        </p:txBody>
      </p:sp>
      <p:sp>
        <p:nvSpPr>
          <p:cNvPr id="328" name="TextBox 328"/>
          <p:cNvSpPr txBox="1"/>
          <p:nvPr/>
        </p:nvSpPr>
        <p:spPr>
          <a:xfrm>
            <a:off x="6610055" y="2940326"/>
            <a:ext cx="107817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moderno para</a:t>
            </a:r>
          </a:p>
        </p:txBody>
      </p:sp>
      <p:sp>
        <p:nvSpPr>
          <p:cNvPr id="329" name="TextBox 329"/>
          <p:cNvSpPr txBox="1"/>
          <p:nvPr/>
        </p:nvSpPr>
        <p:spPr>
          <a:xfrm>
            <a:off x="7787756" y="2907195"/>
            <a:ext cx="688374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history</a:t>
            </a:r>
          </a:p>
        </p:txBody>
      </p:sp>
      <p:sp>
        <p:nvSpPr>
          <p:cNvPr id="330" name="TextBox 330"/>
          <p:cNvSpPr txBox="1"/>
          <p:nvPr/>
        </p:nvSpPr>
        <p:spPr>
          <a:xfrm>
            <a:off x="8592242" y="2907195"/>
            <a:ext cx="1443098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con vista previa</a:t>
            </a:r>
          </a:p>
        </p:txBody>
      </p:sp>
      <p:sp>
        <p:nvSpPr>
          <p:cNvPr id="331" name="TextBox 331"/>
          <p:cNvSpPr txBox="1"/>
          <p:nvPr/>
        </p:nvSpPr>
        <p:spPr>
          <a:xfrm>
            <a:off x="10076809" y="2932043"/>
            <a:ext cx="970359" cy="1573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de comandos</a:t>
            </a:r>
          </a:p>
        </p:txBody>
      </p:sp>
      <p:sp>
        <p:nvSpPr>
          <p:cNvPr id="332" name="TextBox 332"/>
          <p:cNvSpPr txBox="1"/>
          <p:nvPr/>
        </p:nvSpPr>
        <p:spPr>
          <a:xfrm>
            <a:off x="887422" y="3470413"/>
            <a:ext cx="104500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jethrokuan/z</a:t>
            </a:r>
          </a:p>
        </p:txBody>
      </p:sp>
      <p:sp>
        <p:nvSpPr>
          <p:cNvPr id="333" name="TextBox 333"/>
          <p:cNvSpPr txBox="1"/>
          <p:nvPr/>
        </p:nvSpPr>
        <p:spPr>
          <a:xfrm>
            <a:off x="3184769" y="3445565"/>
            <a:ext cx="184119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Salto a carpetas frecuentes</a:t>
            </a:r>
          </a:p>
        </p:txBody>
      </p:sp>
      <p:sp>
        <p:nvSpPr>
          <p:cNvPr id="334" name="TextBox 334"/>
          <p:cNvSpPr txBox="1"/>
          <p:nvPr/>
        </p:nvSpPr>
        <p:spPr>
          <a:xfrm>
            <a:off x="5722632" y="3445565"/>
            <a:ext cx="215635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Navegacion rapida basada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7937042" y="3486978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</a:t>
            </a:r>
          </a:p>
        </p:txBody>
      </p:sp>
      <p:sp>
        <p:nvSpPr>
          <p:cNvPr id="336" name="TextBox 336"/>
          <p:cNvSpPr txBox="1"/>
          <p:nvPr/>
        </p:nvSpPr>
        <p:spPr>
          <a:xfrm>
            <a:off x="8185852" y="3453847"/>
            <a:ext cx="107817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uso reciente</a:t>
            </a:r>
          </a:p>
        </p:txBody>
      </p:sp>
      <p:sp>
        <p:nvSpPr>
          <p:cNvPr id="337" name="TextBox 337"/>
          <p:cNvSpPr txBox="1"/>
          <p:nvPr/>
        </p:nvSpPr>
        <p:spPr>
          <a:xfrm>
            <a:off x="870835" y="3983934"/>
            <a:ext cx="895716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IlanCosman</a:t>
            </a:r>
          </a:p>
        </p:txBody>
      </p:sp>
      <p:sp>
        <p:nvSpPr>
          <p:cNvPr id="338" name="TextBox 338"/>
          <p:cNvSpPr txBox="1"/>
          <p:nvPr/>
        </p:nvSpPr>
        <p:spPr>
          <a:xfrm>
            <a:off x="1832901" y="3983934"/>
            <a:ext cx="364921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tide</a:t>
            </a:r>
          </a:p>
        </p:txBody>
      </p:sp>
      <p:sp>
        <p:nvSpPr>
          <p:cNvPr id="339" name="TextBox 339"/>
          <p:cNvSpPr txBox="1"/>
          <p:nvPr/>
        </p:nvSpPr>
        <p:spPr>
          <a:xfrm>
            <a:off x="3168181" y="3959086"/>
            <a:ext cx="192413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Prompt asincrono moderno</a:t>
            </a:r>
          </a:p>
        </p:txBody>
      </p:sp>
      <p:sp>
        <p:nvSpPr>
          <p:cNvPr id="340" name="TextBox 340"/>
          <p:cNvSpPr txBox="1"/>
          <p:nvPr/>
        </p:nvSpPr>
        <p:spPr>
          <a:xfrm>
            <a:off x="5739219" y="3967369"/>
            <a:ext cx="1874369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Prompt personal izable</a:t>
            </a:r>
          </a:p>
        </p:txBody>
      </p:sp>
      <p:sp>
        <p:nvSpPr>
          <p:cNvPr id="341" name="TextBox 341"/>
          <p:cNvSpPr txBox="1"/>
          <p:nvPr/>
        </p:nvSpPr>
        <p:spPr>
          <a:xfrm>
            <a:off x="7663351" y="3959086"/>
            <a:ext cx="2720323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con informacion de Git, tiempo ,</a:t>
            </a:r>
          </a:p>
        </p:txBody>
      </p:sp>
      <p:sp>
        <p:nvSpPr>
          <p:cNvPr id="342" name="TextBox 342"/>
          <p:cNvSpPr txBox="1"/>
          <p:nvPr/>
        </p:nvSpPr>
        <p:spPr>
          <a:xfrm>
            <a:off x="10441730" y="3983934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etc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887422" y="4514021"/>
            <a:ext cx="149286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franciscolourenco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2446632" y="4514021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done</a:t>
            </a:r>
          </a:p>
        </p:txBody>
      </p:sp>
      <p:sp>
        <p:nvSpPr>
          <p:cNvPr id="345" name="TextBox 345"/>
          <p:cNvSpPr txBox="1"/>
          <p:nvPr/>
        </p:nvSpPr>
        <p:spPr>
          <a:xfrm>
            <a:off x="3184769" y="4472608"/>
            <a:ext cx="2255878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Notificacion de comandos largos</a:t>
            </a:r>
          </a:p>
        </p:txBody>
      </p:sp>
      <p:sp>
        <p:nvSpPr>
          <p:cNvPr id="346" name="TextBox 346"/>
          <p:cNvSpPr txBox="1"/>
          <p:nvPr/>
        </p:nvSpPr>
        <p:spPr>
          <a:xfrm>
            <a:off x="5730926" y="4497456"/>
            <a:ext cx="7464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Notifica</a:t>
            </a:r>
          </a:p>
        </p:txBody>
      </p:sp>
      <p:sp>
        <p:nvSpPr>
          <p:cNvPr id="347" name="TextBox 347"/>
          <p:cNvSpPr txBox="1"/>
          <p:nvPr/>
        </p:nvSpPr>
        <p:spPr>
          <a:xfrm>
            <a:off x="6518824" y="4472608"/>
            <a:ext cx="4412232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al terminar comandos que tardan mas de 10 segundos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9" name="Picture 9" descr="slide-17.svg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48" name="TextBox 348"/>
          <p:cNvSpPr txBox="1"/>
          <p:nvPr/>
        </p:nvSpPr>
        <p:spPr>
          <a:xfrm>
            <a:off x="613731" y="480391"/>
            <a:ext cx="5905093" cy="629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900" dirty="0"/>
              <a:t>Instalacion rapida de plugins</a:t>
            </a:r>
          </a:p>
        </p:txBody>
      </p:sp>
      <p:sp>
        <p:nvSpPr>
          <p:cNvPr id="349" name="TextBox 349"/>
          <p:cNvSpPr txBox="1"/>
          <p:nvPr/>
        </p:nvSpPr>
        <p:spPr>
          <a:xfrm>
            <a:off x="646906" y="1408043"/>
            <a:ext cx="2819847" cy="46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900" dirty="0"/>
              <a:t>For Fish (Fisher)</a:t>
            </a:r>
          </a:p>
        </p:txBody>
      </p:sp>
      <p:sp>
        <p:nvSpPr>
          <p:cNvPr id="350" name="TextBox 350"/>
          <p:cNvSpPr txBox="1"/>
          <p:nvPr/>
        </p:nvSpPr>
        <p:spPr>
          <a:xfrm>
            <a:off x="6187077" y="1424608"/>
            <a:ext cx="3499928" cy="46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900" dirty="0"/>
              <a:t>For Zsh (Oh My Zsh)</a:t>
            </a:r>
          </a:p>
        </p:txBody>
      </p:sp>
      <p:sp>
        <p:nvSpPr>
          <p:cNvPr id="351" name="TextBox 351"/>
          <p:cNvSpPr txBox="1"/>
          <p:nvPr/>
        </p:nvSpPr>
        <p:spPr>
          <a:xfrm>
            <a:off x="1260637" y="2004391"/>
            <a:ext cx="126063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fisher install</a:t>
            </a:r>
          </a:p>
        </p:txBody>
      </p:sp>
      <p:sp>
        <p:nvSpPr>
          <p:cNvPr id="352" name="TextBox 352"/>
          <p:cNvSpPr txBox="1"/>
          <p:nvPr/>
        </p:nvSpPr>
        <p:spPr>
          <a:xfrm>
            <a:off x="2571037" y="2004391"/>
            <a:ext cx="7464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edc/bass</a:t>
            </a:r>
          </a:p>
        </p:txBody>
      </p:sp>
      <p:sp>
        <p:nvSpPr>
          <p:cNvPr id="353" name="TextBox 353"/>
          <p:cNvSpPr txBox="1"/>
          <p:nvPr/>
        </p:nvSpPr>
        <p:spPr>
          <a:xfrm>
            <a:off x="6817396" y="2004391"/>
            <a:ext cx="117770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# En ~/ .zshrc</a:t>
            </a:r>
          </a:p>
        </p:txBody>
      </p:sp>
      <p:sp>
        <p:nvSpPr>
          <p:cNvPr id="354" name="TextBox 354"/>
          <p:cNvSpPr txBox="1"/>
          <p:nvPr/>
        </p:nvSpPr>
        <p:spPr>
          <a:xfrm>
            <a:off x="1260637" y="2211456"/>
            <a:ext cx="2935959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fisher install patrickfl/fzf.fish</a:t>
            </a:r>
          </a:p>
        </p:txBody>
      </p:sp>
      <p:sp>
        <p:nvSpPr>
          <p:cNvPr id="355" name="TextBox 355"/>
          <p:cNvSpPr txBox="1"/>
          <p:nvPr/>
        </p:nvSpPr>
        <p:spPr>
          <a:xfrm>
            <a:off x="6800809" y="2219739"/>
            <a:ext cx="1542622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plugins-(git fzf)</a:t>
            </a:r>
          </a:p>
        </p:txBody>
      </p:sp>
      <p:sp>
        <p:nvSpPr>
          <p:cNvPr id="356" name="TextBox 356"/>
          <p:cNvSpPr txBox="1"/>
          <p:nvPr/>
        </p:nvSpPr>
        <p:spPr>
          <a:xfrm>
            <a:off x="6833984" y="2451652"/>
            <a:ext cx="212317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source SZSH/oh-my-zsh. 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0" name="Picture 10" descr="slide-18.svg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7" name="TextBox 357"/>
          <p:cNvSpPr txBox="1"/>
          <p:nvPr/>
        </p:nvSpPr>
        <p:spPr>
          <a:xfrm>
            <a:off x="622025" y="505239"/>
            <a:ext cx="4097073" cy="496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100" dirty="0"/>
              <a:t>fzf: Buscador difuso</a:t>
            </a:r>
          </a:p>
        </p:txBody>
      </p:sp>
      <p:sp>
        <p:nvSpPr>
          <p:cNvPr id="358" name="TextBox 358"/>
          <p:cNvSpPr txBox="1"/>
          <p:nvPr/>
        </p:nvSpPr>
        <p:spPr>
          <a:xfrm>
            <a:off x="2604212" y="1631673"/>
            <a:ext cx="138504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srcfutil/eventbox_testa go</a:t>
            </a:r>
          </a:p>
        </p:txBody>
      </p:sp>
      <p:sp>
        <p:nvSpPr>
          <p:cNvPr id="359" name="TextBox 359"/>
          <p:cNvSpPr txBox="1"/>
          <p:nvPr/>
        </p:nvSpPr>
        <p:spPr>
          <a:xfrm>
            <a:off x="2604212" y="1747630"/>
            <a:ext cx="945478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sfc/ curses/curses</a:t>
            </a:r>
          </a:p>
        </p:txBody>
      </p:sp>
      <p:sp>
        <p:nvSpPr>
          <p:cNvPr id="360" name="TextBox 360"/>
          <p:cNvSpPr txBox="1"/>
          <p:nvPr/>
        </p:nvSpPr>
        <p:spPr>
          <a:xfrm>
            <a:off x="3591159" y="1747630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testa go</a:t>
            </a:r>
          </a:p>
        </p:txBody>
      </p:sp>
      <p:sp>
        <p:nvSpPr>
          <p:cNvPr id="361" name="TextBox 361"/>
          <p:cNvSpPr txBox="1"/>
          <p:nvPr/>
        </p:nvSpPr>
        <p:spPr>
          <a:xfrm>
            <a:off x="4437113" y="1747630"/>
            <a:ext cx="414683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package</a:t>
            </a:r>
          </a:p>
        </p:txBody>
      </p:sp>
      <p:sp>
        <p:nvSpPr>
          <p:cNvPr id="362" name="TextBox 362"/>
          <p:cNvSpPr txBox="1"/>
          <p:nvPr/>
        </p:nvSpPr>
        <p:spPr>
          <a:xfrm>
            <a:off x="4884971" y="1731065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fzf</a:t>
            </a:r>
          </a:p>
        </p:txBody>
      </p:sp>
      <p:sp>
        <p:nvSpPr>
          <p:cNvPr id="363" name="TextBox 363"/>
          <p:cNvSpPr txBox="1"/>
          <p:nvPr/>
        </p:nvSpPr>
        <p:spPr>
          <a:xfrm>
            <a:off x="2612506" y="1830456"/>
            <a:ext cx="1227463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src/util/atonicbool.g0</a:t>
            </a:r>
          </a:p>
        </p:txBody>
      </p:sp>
      <p:sp>
        <p:nvSpPr>
          <p:cNvPr id="364" name="TextBox 364"/>
          <p:cNvSpPr txBox="1"/>
          <p:nvPr/>
        </p:nvSpPr>
        <p:spPr>
          <a:xfrm>
            <a:off x="2612506" y="1946413"/>
            <a:ext cx="1161113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src/util/util_test.g0</a:t>
            </a:r>
          </a:p>
        </p:txBody>
      </p:sp>
      <p:sp>
        <p:nvSpPr>
          <p:cNvPr id="365" name="TextBox 365"/>
          <p:cNvSpPr txBox="1"/>
          <p:nvPr/>
        </p:nvSpPr>
        <p:spPr>
          <a:xfrm>
            <a:off x="4453700" y="1946413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import</a:t>
            </a:r>
          </a:p>
        </p:txBody>
      </p:sp>
      <p:sp>
        <p:nvSpPr>
          <p:cNvPr id="366" name="TextBox 366"/>
          <p:cNvSpPr txBox="1"/>
          <p:nvPr/>
        </p:nvSpPr>
        <p:spPr>
          <a:xfrm>
            <a:off x="2612506" y="2062369"/>
            <a:ext cx="1161113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srcftokenizer_test. g0</a:t>
            </a:r>
          </a:p>
        </p:txBody>
      </p:sp>
      <p:sp>
        <p:nvSpPr>
          <p:cNvPr id="367" name="TextBox 367"/>
          <p:cNvSpPr txBox="1"/>
          <p:nvPr/>
        </p:nvSpPr>
        <p:spPr>
          <a:xfrm>
            <a:off x="2612506" y="2161760"/>
            <a:ext cx="1161113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src/chunklist_test.go</a:t>
            </a:r>
          </a:p>
        </p:txBody>
      </p:sp>
      <p:sp>
        <p:nvSpPr>
          <p:cNvPr id="368" name="TextBox 368"/>
          <p:cNvSpPr txBox="1"/>
          <p:nvPr/>
        </p:nvSpPr>
        <p:spPr>
          <a:xfrm>
            <a:off x="4934733" y="2277717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regexp</a:t>
            </a:r>
          </a:p>
        </p:txBody>
      </p:sp>
      <p:sp>
        <p:nvSpPr>
          <p:cNvPr id="369" name="TextBox 369"/>
          <p:cNvSpPr txBox="1"/>
          <p:nvPr/>
        </p:nvSpPr>
        <p:spPr>
          <a:xfrm>
            <a:off x="2612506" y="2377108"/>
            <a:ext cx="111135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src/util/eventbox.g0</a:t>
            </a:r>
          </a:p>
        </p:txBody>
      </p:sp>
      <p:sp>
        <p:nvSpPr>
          <p:cNvPr id="370" name="TextBox 370"/>
          <p:cNvSpPr txBox="1"/>
          <p:nvPr/>
        </p:nvSpPr>
        <p:spPr>
          <a:xfrm>
            <a:off x="4926440" y="2401956"/>
            <a:ext cx="381508" cy="66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strconv</a:t>
            </a:r>
          </a:p>
        </p:txBody>
      </p:sp>
      <p:sp>
        <p:nvSpPr>
          <p:cNvPr id="371" name="TextBox 371"/>
          <p:cNvSpPr txBox="1"/>
          <p:nvPr/>
        </p:nvSpPr>
        <p:spPr>
          <a:xfrm>
            <a:off x="2612506" y="2493065"/>
            <a:ext cx="94547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src/cursesicurses</a:t>
            </a:r>
          </a:p>
        </p:txBody>
      </p:sp>
      <p:sp>
        <p:nvSpPr>
          <p:cNvPr id="372" name="TextBox 372"/>
          <p:cNvSpPr txBox="1"/>
          <p:nvPr/>
        </p:nvSpPr>
        <p:spPr>
          <a:xfrm>
            <a:off x="4934733" y="2493065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strings"</a:t>
            </a:r>
          </a:p>
        </p:txBody>
      </p:sp>
      <p:sp>
        <p:nvSpPr>
          <p:cNvPr id="373" name="TextBox 373"/>
          <p:cNvSpPr txBox="1"/>
          <p:nvPr/>
        </p:nvSpPr>
        <p:spPr>
          <a:xfrm>
            <a:off x="2612506" y="2609021"/>
            <a:ext cx="1061589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 pattern_test.g0</a:t>
            </a:r>
          </a:p>
        </p:txBody>
      </p:sp>
      <p:sp>
        <p:nvSpPr>
          <p:cNvPr id="374" name="TextBox 374"/>
          <p:cNvSpPr txBox="1"/>
          <p:nvPr/>
        </p:nvSpPr>
        <p:spPr>
          <a:xfrm>
            <a:off x="4918146" y="2592456"/>
            <a:ext cx="74643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'unicode/utfo"</a:t>
            </a:r>
          </a:p>
        </p:txBody>
      </p:sp>
      <p:sp>
        <p:nvSpPr>
          <p:cNvPr id="375" name="TextBox 375"/>
          <p:cNvSpPr txBox="1"/>
          <p:nvPr/>
        </p:nvSpPr>
        <p:spPr>
          <a:xfrm>
            <a:off x="2612506" y="2708413"/>
            <a:ext cx="1061589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src/options_test.g0</a:t>
            </a:r>
          </a:p>
        </p:txBody>
      </p:sp>
      <p:sp>
        <p:nvSpPr>
          <p:cNvPr id="376" name="TextBox 376"/>
          <p:cNvSpPr txBox="1"/>
          <p:nvPr/>
        </p:nvSpPr>
        <p:spPr>
          <a:xfrm>
            <a:off x="2604212" y="2791239"/>
            <a:ext cx="1069883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src/history_test.g0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4918146" y="2791239"/>
            <a:ext cx="1874369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'github. com/ junegunn/fzf/src/curses'</a:t>
            </a:r>
          </a:p>
        </p:txBody>
      </p:sp>
      <p:sp>
        <p:nvSpPr>
          <p:cNvPr id="378" name="TextBox 378"/>
          <p:cNvSpPr txBox="1"/>
          <p:nvPr/>
        </p:nvSpPr>
        <p:spPr>
          <a:xfrm>
            <a:off x="2612506" y="2923760"/>
            <a:ext cx="101182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 reader_test.g0</a:t>
            </a:r>
          </a:p>
        </p:txBody>
      </p:sp>
      <p:sp>
        <p:nvSpPr>
          <p:cNvPr id="379" name="TextBox 379"/>
          <p:cNvSpPr txBox="1"/>
          <p:nvPr/>
        </p:nvSpPr>
        <p:spPr>
          <a:xfrm>
            <a:off x="2612506" y="3023152"/>
            <a:ext cx="99524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src/merger_test.go</a:t>
            </a:r>
          </a:p>
        </p:txBody>
      </p:sp>
      <p:sp>
        <p:nvSpPr>
          <p:cNvPr id="380" name="TextBox 380"/>
          <p:cNvSpPr txBox="1"/>
          <p:nvPr/>
        </p:nvSpPr>
        <p:spPr>
          <a:xfrm>
            <a:off x="4918146" y="3023152"/>
            <a:ext cx="180802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'github. con/ junegunn/go-shellwords"</a:t>
            </a:r>
          </a:p>
        </p:txBody>
      </p:sp>
      <p:sp>
        <p:nvSpPr>
          <p:cNvPr id="381" name="TextBox 381"/>
          <p:cNvSpPr txBox="1"/>
          <p:nvPr/>
        </p:nvSpPr>
        <p:spPr>
          <a:xfrm>
            <a:off x="2612506" y="3139108"/>
            <a:ext cx="94547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src/cache_test.g0</a:t>
            </a:r>
          </a:p>
        </p:txBody>
      </p:sp>
      <p:sp>
        <p:nvSpPr>
          <p:cNvPr id="382" name="TextBox 382"/>
          <p:cNvSpPr txBox="1"/>
          <p:nvPr/>
        </p:nvSpPr>
        <p:spPr>
          <a:xfrm>
            <a:off x="2612506" y="3238500"/>
            <a:ext cx="89571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src/util/util.go</a:t>
            </a:r>
          </a:p>
        </p:txBody>
      </p:sp>
      <p:sp>
        <p:nvSpPr>
          <p:cNvPr id="383" name="TextBox 383"/>
          <p:cNvSpPr txBox="1"/>
          <p:nvPr/>
        </p:nvSpPr>
        <p:spPr>
          <a:xfrm>
            <a:off x="2612506" y="3354456"/>
            <a:ext cx="89571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src/tokenizer.g0</a:t>
            </a:r>
          </a:p>
        </p:txBody>
      </p:sp>
      <p:sp>
        <p:nvSpPr>
          <p:cNvPr id="384" name="TextBox 384"/>
          <p:cNvSpPr txBox="1"/>
          <p:nvPr/>
        </p:nvSpPr>
        <p:spPr>
          <a:xfrm>
            <a:off x="4461994" y="3362739"/>
            <a:ext cx="265397" cy="66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const</a:t>
            </a:r>
          </a:p>
        </p:txBody>
      </p:sp>
      <p:sp>
        <p:nvSpPr>
          <p:cNvPr id="385" name="TextBox 385"/>
          <p:cNvSpPr txBox="1"/>
          <p:nvPr/>
        </p:nvSpPr>
        <p:spPr>
          <a:xfrm>
            <a:off x="4768860" y="3354456"/>
            <a:ext cx="29857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usage</a:t>
            </a:r>
          </a:p>
        </p:txBody>
      </p:sp>
      <p:sp>
        <p:nvSpPr>
          <p:cNvPr id="386" name="TextBox 386"/>
          <p:cNvSpPr txBox="1"/>
          <p:nvPr/>
        </p:nvSpPr>
        <p:spPr>
          <a:xfrm>
            <a:off x="5249893" y="3354456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usage:</a:t>
            </a:r>
          </a:p>
        </p:txBody>
      </p:sp>
      <p:sp>
        <p:nvSpPr>
          <p:cNvPr id="387" name="TextBox 387"/>
          <p:cNvSpPr txBox="1"/>
          <p:nvPr/>
        </p:nvSpPr>
        <p:spPr>
          <a:xfrm>
            <a:off x="5631401" y="3337891"/>
            <a:ext cx="713255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fzf [options]</a:t>
            </a:r>
          </a:p>
        </p:txBody>
      </p:sp>
      <p:sp>
        <p:nvSpPr>
          <p:cNvPr id="388" name="TextBox 388"/>
          <p:cNvSpPr txBox="1"/>
          <p:nvPr/>
        </p:nvSpPr>
        <p:spPr>
          <a:xfrm>
            <a:off x="2612506" y="3453847"/>
            <a:ext cx="89571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srclitem_test.go</a:t>
            </a:r>
          </a:p>
        </p:txBody>
      </p:sp>
      <p:sp>
        <p:nvSpPr>
          <p:cNvPr id="389" name="TextBox 389"/>
          <p:cNvSpPr txBox="1"/>
          <p:nvPr/>
        </p:nvSpPr>
        <p:spPr>
          <a:xfrm>
            <a:off x="2612506" y="3569804"/>
            <a:ext cx="89571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src/constants.go</a:t>
            </a:r>
          </a:p>
        </p:txBody>
      </p:sp>
      <p:sp>
        <p:nvSpPr>
          <p:cNvPr id="390" name="TextBox 390"/>
          <p:cNvSpPr txBox="1"/>
          <p:nvPr/>
        </p:nvSpPr>
        <p:spPr>
          <a:xfrm>
            <a:off x="4553224" y="3569804"/>
            <a:ext cx="364921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Search</a:t>
            </a:r>
          </a:p>
        </p:txBody>
      </p:sp>
      <p:sp>
        <p:nvSpPr>
          <p:cNvPr id="391" name="TextBox 391"/>
          <p:cNvSpPr txBox="1"/>
          <p:nvPr/>
        </p:nvSpPr>
        <p:spPr>
          <a:xfrm>
            <a:off x="2612506" y="3669195"/>
            <a:ext cx="89571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src/chunklist.go</a:t>
            </a:r>
          </a:p>
        </p:txBody>
      </p:sp>
      <p:sp>
        <p:nvSpPr>
          <p:cNvPr id="392" name="TextBox 392"/>
          <p:cNvSpPr txBox="1"/>
          <p:nvPr/>
        </p:nvSpPr>
        <p:spPr>
          <a:xfrm>
            <a:off x="4984495" y="3669195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extended</a:t>
            </a:r>
          </a:p>
        </p:txBody>
      </p:sp>
      <p:sp>
        <p:nvSpPr>
          <p:cNvPr id="393" name="TextBox 393"/>
          <p:cNvSpPr txBox="1"/>
          <p:nvPr/>
        </p:nvSpPr>
        <p:spPr>
          <a:xfrm>
            <a:off x="5847037" y="3669195"/>
            <a:ext cx="109476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Extended-search mode</a:t>
            </a:r>
          </a:p>
        </p:txBody>
      </p:sp>
      <p:sp>
        <p:nvSpPr>
          <p:cNvPr id="394" name="TextBox 394"/>
          <p:cNvSpPr txBox="1"/>
          <p:nvPr/>
        </p:nvSpPr>
        <p:spPr>
          <a:xfrm>
            <a:off x="2612506" y="3785152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src/ansi</a:t>
            </a:r>
          </a:p>
        </p:txBody>
      </p:sp>
      <p:sp>
        <p:nvSpPr>
          <p:cNvPr id="395" name="TextBox 395"/>
          <p:cNvSpPr txBox="1"/>
          <p:nvPr/>
        </p:nvSpPr>
        <p:spPr>
          <a:xfrm>
            <a:off x="3110126" y="3785152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test.go</a:t>
            </a:r>
          </a:p>
        </p:txBody>
      </p:sp>
      <p:sp>
        <p:nvSpPr>
          <p:cNvPr id="396" name="TextBox 396"/>
          <p:cNvSpPr txBox="1"/>
          <p:nvPr/>
        </p:nvSpPr>
        <p:spPr>
          <a:xfrm>
            <a:off x="5847037" y="3785152"/>
            <a:ext cx="447858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(enab Led</a:t>
            </a:r>
          </a:p>
        </p:txBody>
      </p:sp>
      <p:sp>
        <p:nvSpPr>
          <p:cNvPr id="397" name="TextBox 397"/>
          <p:cNvSpPr txBox="1"/>
          <p:nvPr/>
        </p:nvSpPr>
        <p:spPr>
          <a:xfrm>
            <a:off x="6328070" y="3785152"/>
            <a:ext cx="613731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by detault;</a:t>
            </a:r>
          </a:p>
        </p:txBody>
      </p:sp>
      <p:sp>
        <p:nvSpPr>
          <p:cNvPr id="398" name="TextBox 398"/>
          <p:cNvSpPr txBox="1"/>
          <p:nvPr/>
        </p:nvSpPr>
        <p:spPr>
          <a:xfrm>
            <a:off x="7555533" y="3785152"/>
            <a:ext cx="46444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extended</a:t>
            </a:r>
          </a:p>
        </p:txBody>
      </p:sp>
      <p:sp>
        <p:nvSpPr>
          <p:cNvPr id="399" name="TextBox 399"/>
          <p:cNvSpPr txBox="1"/>
          <p:nvPr/>
        </p:nvSpPr>
        <p:spPr>
          <a:xfrm>
            <a:off x="8053153" y="3768586"/>
            <a:ext cx="59714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to disable)</a:t>
            </a:r>
          </a:p>
        </p:txBody>
      </p:sp>
      <p:sp>
        <p:nvSpPr>
          <p:cNvPr id="400" name="TextBox 400"/>
          <p:cNvSpPr txBox="1"/>
          <p:nvPr/>
        </p:nvSpPr>
        <p:spPr>
          <a:xfrm>
            <a:off x="2612506" y="3884543"/>
            <a:ext cx="89571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src/algo/algo.go</a:t>
            </a:r>
          </a:p>
        </p:txBody>
      </p:sp>
      <p:sp>
        <p:nvSpPr>
          <p:cNvPr id="401" name="TextBox 401"/>
          <p:cNvSpPr txBox="1"/>
          <p:nvPr/>
        </p:nvSpPr>
        <p:spPr>
          <a:xfrm>
            <a:off x="4984495" y="3884543"/>
            <a:ext cx="29857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exact</a:t>
            </a:r>
          </a:p>
        </p:txBody>
      </p:sp>
      <p:sp>
        <p:nvSpPr>
          <p:cNvPr id="402" name="TextBox 402"/>
          <p:cNvSpPr txBox="1"/>
          <p:nvPr/>
        </p:nvSpPr>
        <p:spPr>
          <a:xfrm>
            <a:off x="5847037" y="3884543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Enable</a:t>
            </a:r>
          </a:p>
        </p:txBody>
      </p:sp>
      <p:sp>
        <p:nvSpPr>
          <p:cNvPr id="403" name="TextBox 403"/>
          <p:cNvSpPr txBox="1"/>
          <p:nvPr/>
        </p:nvSpPr>
        <p:spPr>
          <a:xfrm>
            <a:off x="6228546" y="3884543"/>
            <a:ext cx="613731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Exact-match</a:t>
            </a:r>
          </a:p>
        </p:txBody>
      </p:sp>
      <p:sp>
        <p:nvSpPr>
          <p:cNvPr id="404" name="TextBox 404"/>
          <p:cNvSpPr txBox="1"/>
          <p:nvPr/>
        </p:nvSpPr>
        <p:spPr>
          <a:xfrm>
            <a:off x="2612506" y="4000500"/>
            <a:ext cx="84595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srcftermina(  g0</a:t>
            </a:r>
          </a:p>
        </p:txBody>
      </p:sp>
      <p:sp>
        <p:nvSpPr>
          <p:cNvPr id="405" name="TextBox 405"/>
          <p:cNvSpPr txBox="1"/>
          <p:nvPr/>
        </p:nvSpPr>
        <p:spPr>
          <a:xfrm>
            <a:off x="5847037" y="4000500"/>
            <a:ext cx="121087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Case-insensitive Iatcn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7091087" y="3983934"/>
            <a:ext cx="49762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(default:</a:t>
            </a:r>
          </a:p>
        </p:txBody>
      </p:sp>
      <p:sp>
        <p:nvSpPr>
          <p:cNvPr id="407" name="TextBox 407"/>
          <p:cNvSpPr txBox="1"/>
          <p:nvPr/>
        </p:nvSpPr>
        <p:spPr>
          <a:xfrm>
            <a:off x="7621882" y="3983934"/>
            <a:ext cx="928891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smart-case match)</a:t>
            </a:r>
          </a:p>
        </p:txBody>
      </p:sp>
      <p:sp>
        <p:nvSpPr>
          <p:cNvPr id="408" name="TextBox 408"/>
          <p:cNvSpPr txBox="1"/>
          <p:nvPr/>
        </p:nvSpPr>
        <p:spPr>
          <a:xfrm>
            <a:off x="2604212" y="4083326"/>
            <a:ext cx="85424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srcffzf/main.g0</a:t>
            </a:r>
          </a:p>
        </p:txBody>
      </p:sp>
      <p:sp>
        <p:nvSpPr>
          <p:cNvPr id="409" name="TextBox 409"/>
          <p:cNvSpPr txBox="1"/>
          <p:nvPr/>
        </p:nvSpPr>
        <p:spPr>
          <a:xfrm>
            <a:off x="5847037" y="4099891"/>
            <a:ext cx="109476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Case-sensitive match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2612506" y="4215847"/>
            <a:ext cx="79619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Src/patternag0</a:t>
            </a:r>
          </a:p>
        </p:txBody>
      </p:sp>
      <p:sp>
        <p:nvSpPr>
          <p:cNvPr id="411" name="TextBox 411"/>
          <p:cNvSpPr txBox="1"/>
          <p:nvPr/>
        </p:nvSpPr>
        <p:spPr>
          <a:xfrm>
            <a:off x="4884971" y="4199282"/>
            <a:ext cx="64690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~~nth-N[,.]</a:t>
            </a:r>
          </a:p>
        </p:txBody>
      </p:sp>
      <p:sp>
        <p:nvSpPr>
          <p:cNvPr id="412" name="TextBox 412"/>
          <p:cNvSpPr txBox="1"/>
          <p:nvPr/>
        </p:nvSpPr>
        <p:spPr>
          <a:xfrm>
            <a:off x="5847037" y="4215847"/>
            <a:ext cx="829367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Comila-separated</a:t>
            </a:r>
          </a:p>
        </p:txBody>
      </p:sp>
      <p:sp>
        <p:nvSpPr>
          <p:cNvPr id="413" name="TextBox 413"/>
          <p:cNvSpPr txBox="1"/>
          <p:nvPr/>
        </p:nvSpPr>
        <p:spPr>
          <a:xfrm>
            <a:off x="6709579" y="4215847"/>
            <a:ext cx="232222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Lis t</a:t>
            </a:r>
          </a:p>
        </p:txBody>
      </p:sp>
      <p:sp>
        <p:nvSpPr>
          <p:cNvPr id="414" name="TextBox 414"/>
          <p:cNvSpPr txBox="1"/>
          <p:nvPr/>
        </p:nvSpPr>
        <p:spPr>
          <a:xfrm>
            <a:off x="7140849" y="4199282"/>
            <a:ext cx="126063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Field index expressions</a:t>
            </a:r>
          </a:p>
        </p:txBody>
      </p:sp>
      <p:sp>
        <p:nvSpPr>
          <p:cNvPr id="415" name="TextBox 415"/>
          <p:cNvSpPr txBox="1"/>
          <p:nvPr/>
        </p:nvSpPr>
        <p:spPr>
          <a:xfrm>
            <a:off x="2612506" y="4315239"/>
            <a:ext cx="79619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src/options.g0</a:t>
            </a:r>
          </a:p>
        </p:txBody>
      </p:sp>
      <p:sp>
        <p:nvSpPr>
          <p:cNvPr id="416" name="TextBox 416"/>
          <p:cNvSpPr txBox="1"/>
          <p:nvPr/>
        </p:nvSpPr>
        <p:spPr>
          <a:xfrm>
            <a:off x="5847037" y="4315239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for</a:t>
            </a:r>
          </a:p>
        </p:txBody>
      </p:sp>
      <p:sp>
        <p:nvSpPr>
          <p:cNvPr id="417" name="TextBox 417"/>
          <p:cNvSpPr txBox="1"/>
          <p:nvPr/>
        </p:nvSpPr>
        <p:spPr>
          <a:xfrm>
            <a:off x="6062672" y="4315239"/>
            <a:ext cx="44785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Limiting</a:t>
            </a:r>
          </a:p>
        </p:txBody>
      </p:sp>
      <p:sp>
        <p:nvSpPr>
          <p:cNvPr id="418" name="TextBox 418"/>
          <p:cNvSpPr txBox="1"/>
          <p:nvPr/>
        </p:nvSpPr>
        <p:spPr>
          <a:xfrm>
            <a:off x="6543705" y="4315239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search</a:t>
            </a:r>
          </a:p>
        </p:txBody>
      </p:sp>
      <p:sp>
        <p:nvSpPr>
          <p:cNvPr id="419" name="TextBox 419"/>
          <p:cNvSpPr txBox="1"/>
          <p:nvPr/>
        </p:nvSpPr>
        <p:spPr>
          <a:xfrm>
            <a:off x="6925214" y="4331804"/>
            <a:ext cx="33174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scope:</a:t>
            </a:r>
          </a:p>
        </p:txBody>
      </p:sp>
      <p:sp>
        <p:nvSpPr>
          <p:cNvPr id="420" name="TextBox 420"/>
          <p:cNvSpPr txBox="1"/>
          <p:nvPr/>
        </p:nvSpPr>
        <p:spPr>
          <a:xfrm>
            <a:off x="7290135" y="4315239"/>
            <a:ext cx="24881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Each</a:t>
            </a:r>
          </a:p>
        </p:txBody>
      </p:sp>
      <p:sp>
        <p:nvSpPr>
          <p:cNvPr id="421" name="TextBox 421"/>
          <p:cNvSpPr txBox="1"/>
          <p:nvPr/>
        </p:nvSpPr>
        <p:spPr>
          <a:xfrm>
            <a:off x="8036566" y="4331804"/>
            <a:ext cx="46444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non-zero</a:t>
            </a:r>
          </a:p>
        </p:txBody>
      </p:sp>
      <p:sp>
        <p:nvSpPr>
          <p:cNvPr id="422" name="TextBox 422"/>
          <p:cNvSpPr txBox="1"/>
          <p:nvPr/>
        </p:nvSpPr>
        <p:spPr>
          <a:xfrm>
            <a:off x="2612506" y="4431195"/>
            <a:ext cx="630318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srcfmatcher</a:t>
            </a:r>
          </a:p>
        </p:txBody>
      </p:sp>
      <p:sp>
        <p:nvSpPr>
          <p:cNvPr id="423" name="TextBox 423"/>
          <p:cNvSpPr txBox="1"/>
          <p:nvPr/>
        </p:nvSpPr>
        <p:spPr>
          <a:xfrm>
            <a:off x="5847037" y="4431195"/>
            <a:ext cx="563969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integer Or</a:t>
            </a:r>
          </a:p>
        </p:txBody>
      </p:sp>
      <p:sp>
        <p:nvSpPr>
          <p:cNvPr id="424" name="TextBox 424"/>
          <p:cNvSpPr txBox="1"/>
          <p:nvPr/>
        </p:nvSpPr>
        <p:spPr>
          <a:xfrm>
            <a:off x="6543705" y="4431195"/>
            <a:ext cx="89571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range expression</a:t>
            </a:r>
          </a:p>
        </p:txBody>
      </p:sp>
      <p:sp>
        <p:nvSpPr>
          <p:cNvPr id="425" name="TextBox 425"/>
          <p:cNvSpPr txBox="1"/>
          <p:nvPr/>
        </p:nvSpPr>
        <p:spPr>
          <a:xfrm>
            <a:off x="7505771" y="4414630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[begiN]</a:t>
            </a:r>
          </a:p>
        </p:txBody>
      </p:sp>
      <p:sp>
        <p:nvSpPr>
          <p:cNvPr id="426" name="TextBox 426"/>
          <p:cNvSpPr txBox="1"/>
          <p:nvPr/>
        </p:nvSpPr>
        <p:spPr>
          <a:xfrm>
            <a:off x="8003391" y="4414630"/>
            <a:ext cx="38150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[END] ) .</a:t>
            </a:r>
          </a:p>
        </p:txBody>
      </p:sp>
      <p:sp>
        <p:nvSpPr>
          <p:cNvPr id="427" name="TextBox 427"/>
          <p:cNvSpPr txBox="1"/>
          <p:nvPr/>
        </p:nvSpPr>
        <p:spPr>
          <a:xfrm>
            <a:off x="2612506" y="4530586"/>
            <a:ext cx="79619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src/history.go</a:t>
            </a:r>
          </a:p>
        </p:txBody>
      </p:sp>
      <p:sp>
        <p:nvSpPr>
          <p:cNvPr id="428" name="TextBox 428"/>
          <p:cNvSpPr txBox="1"/>
          <p:nvPr/>
        </p:nvSpPr>
        <p:spPr>
          <a:xfrm>
            <a:off x="5838743" y="4522304"/>
            <a:ext cx="158409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Transform the presentation 0f</a:t>
            </a:r>
          </a:p>
        </p:txBody>
      </p:sp>
      <p:sp>
        <p:nvSpPr>
          <p:cNvPr id="429" name="TextBox 429"/>
          <p:cNvSpPr txBox="1"/>
          <p:nvPr/>
        </p:nvSpPr>
        <p:spPr>
          <a:xfrm>
            <a:off x="7456009" y="4530586"/>
            <a:ext cx="82936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each line using</a:t>
            </a:r>
          </a:p>
        </p:txBody>
      </p:sp>
      <p:sp>
        <p:nvSpPr>
          <p:cNvPr id="430" name="TextBox 430"/>
          <p:cNvSpPr txBox="1"/>
          <p:nvPr/>
        </p:nvSpPr>
        <p:spPr>
          <a:xfrm>
            <a:off x="2612506" y="4646543"/>
            <a:ext cx="72984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srcf reader. g0</a:t>
            </a:r>
          </a:p>
        </p:txBody>
      </p:sp>
      <p:sp>
        <p:nvSpPr>
          <p:cNvPr id="431" name="TextBox 431"/>
          <p:cNvSpPr txBox="1"/>
          <p:nvPr/>
        </p:nvSpPr>
        <p:spPr>
          <a:xfrm>
            <a:off x="5847037" y="4646543"/>
            <a:ext cx="126063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Fieldindex expressions</a:t>
            </a:r>
          </a:p>
        </p:txBody>
      </p:sp>
      <p:sp>
        <p:nvSpPr>
          <p:cNvPr id="432" name="TextBox 432"/>
          <p:cNvSpPr txBox="1"/>
          <p:nvPr/>
        </p:nvSpPr>
        <p:spPr>
          <a:xfrm>
            <a:off x="2612506" y="4745934"/>
            <a:ext cx="72984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src/merger.g0</a:t>
            </a:r>
          </a:p>
        </p:txBody>
      </p:sp>
      <p:sp>
        <p:nvSpPr>
          <p:cNvPr id="433" name="TextBox 433"/>
          <p:cNvSpPr txBox="1"/>
          <p:nvPr/>
        </p:nvSpPr>
        <p:spPr>
          <a:xfrm>
            <a:off x="4984495" y="4745934"/>
            <a:ext cx="72984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delimiterzSTR</a:t>
            </a:r>
          </a:p>
        </p:txBody>
      </p:sp>
      <p:sp>
        <p:nvSpPr>
          <p:cNvPr id="434" name="TextBox 434"/>
          <p:cNvSpPr txBox="1"/>
          <p:nvPr/>
        </p:nvSpPr>
        <p:spPr>
          <a:xfrm>
            <a:off x="5847037" y="4745934"/>
            <a:ext cx="82936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Field delimiter</a:t>
            </a:r>
          </a:p>
        </p:txBody>
      </p:sp>
      <p:sp>
        <p:nvSpPr>
          <p:cNvPr id="435" name="TextBox 435"/>
          <p:cNvSpPr txBox="1"/>
          <p:nvPr/>
        </p:nvSpPr>
        <p:spPr>
          <a:xfrm>
            <a:off x="6709579" y="4745934"/>
            <a:ext cx="812779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regex (default:</a:t>
            </a:r>
          </a:p>
        </p:txBody>
      </p:sp>
      <p:sp>
        <p:nvSpPr>
          <p:cNvPr id="436" name="TextBox 436"/>
          <p:cNvSpPr txBox="1"/>
          <p:nvPr/>
        </p:nvSpPr>
        <p:spPr>
          <a:xfrm>
            <a:off x="7555533" y="4745934"/>
            <a:ext cx="563969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AwK-style)</a:t>
            </a:r>
          </a:p>
        </p:txBody>
      </p:sp>
      <p:sp>
        <p:nvSpPr>
          <p:cNvPr id="437" name="TextBox 437"/>
          <p:cNvSpPr txBox="1"/>
          <p:nvPr/>
        </p:nvSpPr>
        <p:spPr>
          <a:xfrm>
            <a:off x="2612506" y="4861891"/>
            <a:ext cx="68008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 cacne.g0</a:t>
            </a:r>
          </a:p>
        </p:txBody>
      </p:sp>
      <p:sp>
        <p:nvSpPr>
          <p:cNvPr id="438" name="TextBox 438"/>
          <p:cNvSpPr txBox="1"/>
          <p:nvPr/>
        </p:nvSpPr>
        <p:spPr>
          <a:xfrm>
            <a:off x="6493943" y="4861891"/>
            <a:ext cx="182460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Ehe</a:t>
            </a:r>
          </a:p>
        </p:txBody>
      </p:sp>
      <p:sp>
        <p:nvSpPr>
          <p:cNvPr id="439" name="TextBox 439"/>
          <p:cNvSpPr txBox="1"/>
          <p:nvPr/>
        </p:nvSpPr>
        <p:spPr>
          <a:xfrm>
            <a:off x="6709579" y="4845326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result</a:t>
            </a:r>
          </a:p>
        </p:txBody>
      </p:sp>
      <p:sp>
        <p:nvSpPr>
          <p:cNvPr id="440" name="TextBox 440"/>
          <p:cNvSpPr txBox="1"/>
          <p:nvPr/>
        </p:nvSpPr>
        <p:spPr>
          <a:xfrm>
            <a:off x="2612506" y="4961282"/>
            <a:ext cx="63031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src/item.g0</a:t>
            </a:r>
          </a:p>
        </p:txBody>
      </p:sp>
      <p:sp>
        <p:nvSpPr>
          <p:cNvPr id="441" name="TextBox 441"/>
          <p:cNvSpPr txBox="1"/>
          <p:nvPr/>
        </p:nvSpPr>
        <p:spPr>
          <a:xfrm>
            <a:off x="4719098" y="4961282"/>
            <a:ext cx="248810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Ftac</a:t>
            </a:r>
          </a:p>
        </p:txBody>
      </p:sp>
      <p:sp>
        <p:nvSpPr>
          <p:cNvPr id="442" name="TextBox 442"/>
          <p:cNvSpPr txBox="1"/>
          <p:nvPr/>
        </p:nvSpPr>
        <p:spPr>
          <a:xfrm>
            <a:off x="5847037" y="4961282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Reverse</a:t>
            </a:r>
          </a:p>
        </p:txBody>
      </p:sp>
      <p:sp>
        <p:nvSpPr>
          <p:cNvPr id="443" name="TextBox 443"/>
          <p:cNvSpPr txBox="1"/>
          <p:nvPr/>
        </p:nvSpPr>
        <p:spPr>
          <a:xfrm>
            <a:off x="6278308" y="4961282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the</a:t>
            </a:r>
          </a:p>
        </p:txBody>
      </p:sp>
      <p:sp>
        <p:nvSpPr>
          <p:cNvPr id="444" name="TextBox 444"/>
          <p:cNvSpPr txBox="1"/>
          <p:nvPr/>
        </p:nvSpPr>
        <p:spPr>
          <a:xfrm>
            <a:off x="6493943" y="4961282"/>
            <a:ext cx="44785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order 0f</a:t>
            </a:r>
          </a:p>
        </p:txBody>
      </p:sp>
      <p:sp>
        <p:nvSpPr>
          <p:cNvPr id="445" name="TextBox 445"/>
          <p:cNvSpPr txBox="1"/>
          <p:nvPr/>
        </p:nvSpPr>
        <p:spPr>
          <a:xfrm>
            <a:off x="6974976" y="4961282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the</a:t>
            </a:r>
          </a:p>
        </p:txBody>
      </p:sp>
      <p:sp>
        <p:nvSpPr>
          <p:cNvPr id="446" name="TextBox 446"/>
          <p:cNvSpPr txBox="1"/>
          <p:nvPr/>
        </p:nvSpPr>
        <p:spPr>
          <a:xfrm>
            <a:off x="7190611" y="4961282"/>
            <a:ext cx="29857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input</a:t>
            </a:r>
          </a:p>
        </p:txBody>
      </p:sp>
      <p:sp>
        <p:nvSpPr>
          <p:cNvPr id="447" name="TextBox 447"/>
          <p:cNvSpPr txBox="1"/>
          <p:nvPr/>
        </p:nvSpPr>
        <p:spPr>
          <a:xfrm>
            <a:off x="2612506" y="5077239"/>
            <a:ext cx="63031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src/core.g0</a:t>
            </a:r>
          </a:p>
        </p:txBody>
      </p:sp>
      <p:sp>
        <p:nvSpPr>
          <p:cNvPr id="448" name="TextBox 448"/>
          <p:cNvSpPr txBox="1"/>
          <p:nvPr/>
        </p:nvSpPr>
        <p:spPr>
          <a:xfrm>
            <a:off x="5847037" y="5060673"/>
            <a:ext cx="82936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Comma-separated</a:t>
            </a:r>
          </a:p>
        </p:txBody>
      </p:sp>
      <p:sp>
        <p:nvSpPr>
          <p:cNvPr id="449" name="TextBox 449"/>
          <p:cNvSpPr txBox="1"/>
          <p:nvPr/>
        </p:nvSpPr>
        <p:spPr>
          <a:xfrm>
            <a:off x="6709579" y="5060673"/>
            <a:ext cx="663493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list 0f sort</a:t>
            </a:r>
          </a:p>
        </p:txBody>
      </p:sp>
      <p:sp>
        <p:nvSpPr>
          <p:cNvPr id="450" name="TextBox 450"/>
          <p:cNvSpPr txBox="1"/>
          <p:nvPr/>
        </p:nvSpPr>
        <p:spPr>
          <a:xfrm>
            <a:off x="7406247" y="5060673"/>
            <a:ext cx="44785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criteria</a:t>
            </a:r>
          </a:p>
        </p:txBody>
      </p:sp>
      <p:sp>
        <p:nvSpPr>
          <p:cNvPr id="451" name="TextBox 451"/>
          <p:cNvSpPr txBox="1"/>
          <p:nvPr/>
        </p:nvSpPr>
        <p:spPr>
          <a:xfrm>
            <a:off x="7887280" y="5077239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to appLy</a:t>
            </a:r>
          </a:p>
        </p:txBody>
      </p:sp>
      <p:sp>
        <p:nvSpPr>
          <p:cNvPr id="452" name="TextBox 452"/>
          <p:cNvSpPr txBox="1"/>
          <p:nvPr/>
        </p:nvSpPr>
        <p:spPr>
          <a:xfrm>
            <a:off x="2612506" y="5176630"/>
            <a:ext cx="63031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src/ansi.g0</a:t>
            </a:r>
          </a:p>
        </p:txBody>
      </p:sp>
      <p:sp>
        <p:nvSpPr>
          <p:cNvPr id="453" name="TextBox 453"/>
          <p:cNvSpPr txBox="1"/>
          <p:nvPr/>
        </p:nvSpPr>
        <p:spPr>
          <a:xfrm>
            <a:off x="5830450" y="5176630"/>
            <a:ext cx="248810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when</a:t>
            </a:r>
          </a:p>
        </p:txBody>
      </p:sp>
      <p:sp>
        <p:nvSpPr>
          <p:cNvPr id="454" name="TextBox 454"/>
          <p:cNvSpPr txBox="1"/>
          <p:nvPr/>
        </p:nvSpPr>
        <p:spPr>
          <a:xfrm>
            <a:off x="6112434" y="5168347"/>
            <a:ext cx="547382" cy="124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the scores</a:t>
            </a:r>
          </a:p>
        </p:txBody>
      </p:sp>
      <p:sp>
        <p:nvSpPr>
          <p:cNvPr id="455" name="TextBox 455"/>
          <p:cNvSpPr txBox="1"/>
          <p:nvPr/>
        </p:nvSpPr>
        <p:spPr>
          <a:xfrm>
            <a:off x="6925214" y="5176630"/>
            <a:ext cx="232222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tied</a:t>
            </a:r>
          </a:p>
        </p:txBody>
      </p:sp>
      <p:sp>
        <p:nvSpPr>
          <p:cNvPr id="456" name="TextBox 456"/>
          <p:cNvSpPr txBox="1"/>
          <p:nvPr/>
        </p:nvSpPr>
        <p:spPr>
          <a:xfrm>
            <a:off x="7190611" y="5176630"/>
            <a:ext cx="129381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[length beginlendlindex]</a:t>
            </a:r>
          </a:p>
        </p:txBody>
      </p:sp>
      <p:sp>
        <p:nvSpPr>
          <p:cNvPr id="457" name="TextBox 457"/>
          <p:cNvSpPr txBox="1"/>
          <p:nvPr/>
        </p:nvSpPr>
        <p:spPr>
          <a:xfrm>
            <a:off x="2612506" y="5292586"/>
            <a:ext cx="298572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35/63</a:t>
            </a:r>
          </a:p>
        </p:txBody>
      </p:sp>
      <p:sp>
        <p:nvSpPr>
          <p:cNvPr id="458" name="TextBox 458"/>
          <p:cNvSpPr txBox="1"/>
          <p:nvPr/>
        </p:nvSpPr>
        <p:spPr>
          <a:xfrm>
            <a:off x="5847037" y="5292586"/>
            <a:ext cx="497620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(detault:</a:t>
            </a:r>
          </a:p>
        </p:txBody>
      </p:sp>
      <p:sp>
        <p:nvSpPr>
          <p:cNvPr id="459" name="TextBox 459"/>
          <p:cNvSpPr txBox="1"/>
          <p:nvPr/>
        </p:nvSpPr>
        <p:spPr>
          <a:xfrm>
            <a:off x="6394419" y="5276021"/>
            <a:ext cx="38150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Length)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1" name="Picture 11" descr="slide-19.svg"/>
          <p:cNvPicPr>
            <a:picLocks noChangeAspect="1"/>
          </p:cNvPicPr>
          <p:nvPr/>
        </p:nvPicPr>
        <p:blipFill>
          <a:blip r:embed="rIdImg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60" name="TextBox 460"/>
          <p:cNvSpPr txBox="1"/>
          <p:nvPr/>
        </p:nvSpPr>
        <p:spPr>
          <a:xfrm>
            <a:off x="613731" y="496956"/>
            <a:ext cx="3383817" cy="604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800" dirty="0"/>
              <a:t>eza: Is mejorado</a:t>
            </a:r>
          </a:p>
        </p:txBody>
      </p:sp>
      <p:sp>
        <p:nvSpPr>
          <p:cNvPr id="461" name="TextBox 461"/>
          <p:cNvSpPr txBox="1"/>
          <p:nvPr/>
        </p:nvSpPr>
        <p:spPr>
          <a:xfrm>
            <a:off x="3093538" y="1979543"/>
            <a:ext cx="33174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Jul 09;18</a:t>
            </a:r>
          </a:p>
        </p:txBody>
      </p:sp>
      <p:sp>
        <p:nvSpPr>
          <p:cNvPr id="462" name="TextBox 462"/>
          <p:cNvSpPr txBox="1"/>
          <p:nvPr/>
        </p:nvSpPr>
        <p:spPr>
          <a:xfrm>
            <a:off x="7845811" y="2749826"/>
            <a:ext cx="481032" cy="49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cuuchain Fun</a:t>
            </a:r>
          </a:p>
        </p:txBody>
      </p:sp>
      <p:sp>
        <p:nvSpPr>
          <p:cNvPr id="463" name="TextBox 463"/>
          <p:cNvSpPr txBox="1"/>
          <p:nvPr/>
        </p:nvSpPr>
        <p:spPr>
          <a:xfrm>
            <a:off x="7248667" y="3743739"/>
            <a:ext cx="364921" cy="49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cotnleciang</a:t>
            </a:r>
          </a:p>
        </p:txBody>
      </p:sp>
      <p:sp>
        <p:nvSpPr>
          <p:cNvPr id="464" name="TextBox 464"/>
          <p:cNvSpPr txBox="1"/>
          <p:nvPr/>
        </p:nvSpPr>
        <p:spPr>
          <a:xfrm>
            <a:off x="7248667" y="4075043"/>
            <a:ext cx="232222" cy="49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LICEHCE</a:t>
            </a:r>
          </a:p>
        </p:txBody>
      </p:sp>
      <p:sp>
        <p:nvSpPr>
          <p:cNvPr id="465" name="TextBox 465"/>
          <p:cNvSpPr txBox="1"/>
          <p:nvPr/>
        </p:nvSpPr>
        <p:spPr>
          <a:xfrm>
            <a:off x="6717872" y="4406347"/>
            <a:ext cx="232222" cy="49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chancer</a:t>
            </a:r>
          </a:p>
        </p:txBody>
      </p:sp>
      <p:sp>
        <p:nvSpPr>
          <p:cNvPr id="466" name="TextBox 466"/>
          <p:cNvSpPr txBox="1"/>
          <p:nvPr/>
        </p:nvSpPr>
        <p:spPr>
          <a:xfrm>
            <a:off x="7547239" y="4406347"/>
            <a:ext cx="232222" cy="49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LICEHCE</a:t>
            </a:r>
          </a:p>
        </p:txBody>
      </p:sp>
      <p:sp>
        <p:nvSpPr>
          <p:cNvPr id="467" name="TextBox 467"/>
          <p:cNvSpPr txBox="1"/>
          <p:nvPr/>
        </p:nvSpPr>
        <p:spPr>
          <a:xfrm>
            <a:off x="7149143" y="4538869"/>
            <a:ext cx="281984" cy="66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Juule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2" name="Picture 12" descr="slide-2.svg"/>
          <p:cNvPicPr>
            <a:picLocks noChangeAspect="1"/>
          </p:cNvPicPr>
          <p:nvPr/>
        </p:nvPicPr>
        <p:blipFill>
          <a:blip r:embed="rIdImg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68" name="TextBox 468"/>
          <p:cNvSpPr txBox="1"/>
          <p:nvPr/>
        </p:nvSpPr>
        <p:spPr>
          <a:xfrm>
            <a:off x="3300880" y="2766391"/>
            <a:ext cx="5573346" cy="7951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5000" dirty="0"/>
              <a:t>01. Introduccion</a:t>
            </a:r>
          </a:p>
        </p:txBody>
      </p:sp>
      <p:sp>
        <p:nvSpPr>
          <p:cNvPr id="469" name="TextBox 469"/>
          <p:cNvSpPr txBox="1"/>
          <p:nvPr/>
        </p:nvSpPr>
        <p:spPr>
          <a:xfrm>
            <a:off x="5100607" y="3884543"/>
            <a:ext cx="1990480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BashvsZshvsFish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3" name="Picture 13" descr="slide-20.svg"/>
          <p:cNvPicPr>
            <a:picLocks noChangeAspect="1"/>
          </p:cNvPicPr>
          <p:nvPr/>
        </p:nvPicPr>
        <p:blipFill>
          <a:blip r:embed="rIdImg1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70" name="TextBox 470"/>
          <p:cNvSpPr txBox="1"/>
          <p:nvPr/>
        </p:nvSpPr>
        <p:spPr>
          <a:xfrm>
            <a:off x="1219169" y="2940326"/>
            <a:ext cx="9687006" cy="944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5900" dirty="0"/>
              <a:t>Ejemplos del Dia a Dia (Fish)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4" name="Picture 14" descr="slide-21.svg"/>
          <p:cNvPicPr>
            <a:picLocks noChangeAspect="1"/>
          </p:cNvPicPr>
          <p:nvPr/>
        </p:nvPicPr>
        <p:blipFill>
          <a:blip r:embed="rIdImg1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71" name="TextBox 471"/>
          <p:cNvSpPr txBox="1"/>
          <p:nvPr/>
        </p:nvSpPr>
        <p:spPr>
          <a:xfrm>
            <a:off x="588850" y="496956"/>
            <a:ext cx="1592384" cy="646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4000" dirty="0"/>
              <a:t>gcpush</a:t>
            </a:r>
          </a:p>
        </p:txBody>
      </p:sp>
      <p:sp>
        <p:nvSpPr>
          <p:cNvPr id="472" name="TextBox 472"/>
          <p:cNvSpPr txBox="1"/>
          <p:nvPr/>
        </p:nvSpPr>
        <p:spPr>
          <a:xfrm>
            <a:off x="1260637" y="1292086"/>
            <a:ext cx="1376749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function gcpush</a:t>
            </a:r>
          </a:p>
        </p:txBody>
      </p:sp>
      <p:sp>
        <p:nvSpPr>
          <p:cNvPr id="473" name="TextBox 473"/>
          <p:cNvSpPr txBox="1"/>
          <p:nvPr/>
        </p:nvSpPr>
        <p:spPr>
          <a:xfrm>
            <a:off x="1608971" y="1524000"/>
            <a:ext cx="68008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git add</a:t>
            </a:r>
          </a:p>
        </p:txBody>
      </p:sp>
      <p:sp>
        <p:nvSpPr>
          <p:cNvPr id="474" name="TextBox 474"/>
          <p:cNvSpPr txBox="1"/>
          <p:nvPr/>
        </p:nvSpPr>
        <p:spPr>
          <a:xfrm>
            <a:off x="1608971" y="1755913"/>
            <a:ext cx="6634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if test</a:t>
            </a:r>
          </a:p>
        </p:txBody>
      </p:sp>
      <p:sp>
        <p:nvSpPr>
          <p:cNvPr id="475" name="TextBox 475"/>
          <p:cNvSpPr txBox="1"/>
          <p:nvPr/>
        </p:nvSpPr>
        <p:spPr>
          <a:xfrm>
            <a:off x="2322227" y="1747630"/>
            <a:ext cx="1526035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(count Sargv) ~gt</a:t>
            </a:r>
          </a:p>
        </p:txBody>
      </p:sp>
      <p:sp>
        <p:nvSpPr>
          <p:cNvPr id="476" name="TextBox 476"/>
          <p:cNvSpPr txBox="1"/>
          <p:nvPr/>
        </p:nvSpPr>
        <p:spPr>
          <a:xfrm>
            <a:off x="1957306" y="1987826"/>
            <a:ext cx="31515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git</a:t>
            </a:r>
          </a:p>
        </p:txBody>
      </p:sp>
      <p:sp>
        <p:nvSpPr>
          <p:cNvPr id="477" name="TextBox 477"/>
          <p:cNvSpPr txBox="1"/>
          <p:nvPr/>
        </p:nvSpPr>
        <p:spPr>
          <a:xfrm>
            <a:off x="2330521" y="2012673"/>
            <a:ext cx="54738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commit</a:t>
            </a:r>
          </a:p>
        </p:txBody>
      </p:sp>
      <p:sp>
        <p:nvSpPr>
          <p:cNvPr id="478" name="TextBox 478"/>
          <p:cNvSpPr txBox="1"/>
          <p:nvPr/>
        </p:nvSpPr>
        <p:spPr>
          <a:xfrm>
            <a:off x="2960840" y="2029239"/>
            <a:ext cx="19904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~M</a:t>
            </a:r>
          </a:p>
        </p:txBody>
      </p:sp>
      <p:sp>
        <p:nvSpPr>
          <p:cNvPr id="479" name="TextBox 479"/>
          <p:cNvSpPr txBox="1"/>
          <p:nvPr/>
        </p:nvSpPr>
        <p:spPr>
          <a:xfrm>
            <a:off x="3259412" y="1962978"/>
            <a:ext cx="83766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'Sargv[1]"</a:t>
            </a:r>
          </a:p>
        </p:txBody>
      </p:sp>
      <p:sp>
        <p:nvSpPr>
          <p:cNvPr id="480" name="TextBox 480"/>
          <p:cNvSpPr txBox="1"/>
          <p:nvPr/>
        </p:nvSpPr>
        <p:spPr>
          <a:xfrm>
            <a:off x="1633853" y="2228021"/>
            <a:ext cx="38150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else</a:t>
            </a:r>
          </a:p>
        </p:txBody>
      </p:sp>
      <p:sp>
        <p:nvSpPr>
          <p:cNvPr id="481" name="TextBox 481"/>
          <p:cNvSpPr txBox="1"/>
          <p:nvPr/>
        </p:nvSpPr>
        <p:spPr>
          <a:xfrm>
            <a:off x="1957306" y="2435086"/>
            <a:ext cx="33174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git</a:t>
            </a:r>
          </a:p>
        </p:txBody>
      </p:sp>
      <p:sp>
        <p:nvSpPr>
          <p:cNvPr id="482" name="TextBox 482"/>
          <p:cNvSpPr txBox="1"/>
          <p:nvPr/>
        </p:nvSpPr>
        <p:spPr>
          <a:xfrm>
            <a:off x="2330521" y="2459934"/>
            <a:ext cx="54738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commit</a:t>
            </a:r>
          </a:p>
        </p:txBody>
      </p:sp>
      <p:sp>
        <p:nvSpPr>
          <p:cNvPr id="483" name="TextBox 483"/>
          <p:cNvSpPr txBox="1"/>
          <p:nvPr/>
        </p:nvSpPr>
        <p:spPr>
          <a:xfrm>
            <a:off x="2960840" y="2476500"/>
            <a:ext cx="19904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~M</a:t>
            </a:r>
          </a:p>
        </p:txBody>
      </p:sp>
      <p:sp>
        <p:nvSpPr>
          <p:cNvPr id="484" name="TextBox 484"/>
          <p:cNvSpPr txBox="1"/>
          <p:nvPr/>
        </p:nvSpPr>
        <p:spPr>
          <a:xfrm>
            <a:off x="3275999" y="2443369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date</a:t>
            </a:r>
          </a:p>
        </p:txBody>
      </p:sp>
      <p:sp>
        <p:nvSpPr>
          <p:cNvPr id="485" name="TextBox 485"/>
          <p:cNvSpPr txBox="1"/>
          <p:nvPr/>
        </p:nvSpPr>
        <p:spPr>
          <a:xfrm>
            <a:off x="3790207" y="2443369"/>
            <a:ext cx="15260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+d %^b %y %H: %M"</a:t>
            </a:r>
          </a:p>
        </p:txBody>
      </p:sp>
      <p:sp>
        <p:nvSpPr>
          <p:cNvPr id="486" name="TextBox 486"/>
          <p:cNvSpPr txBox="1"/>
          <p:nvPr/>
        </p:nvSpPr>
        <p:spPr>
          <a:xfrm>
            <a:off x="1633853" y="2658717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487" name="TextBox 487"/>
          <p:cNvSpPr txBox="1"/>
          <p:nvPr/>
        </p:nvSpPr>
        <p:spPr>
          <a:xfrm>
            <a:off x="1608971" y="2865782"/>
            <a:ext cx="76301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git push</a:t>
            </a:r>
          </a:p>
        </p:txBody>
      </p:sp>
      <p:sp>
        <p:nvSpPr>
          <p:cNvPr id="488" name="TextBox 488"/>
          <p:cNvSpPr txBox="1"/>
          <p:nvPr/>
        </p:nvSpPr>
        <p:spPr>
          <a:xfrm>
            <a:off x="1285518" y="3139108"/>
            <a:ext cx="29857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489" name="TextBox 489"/>
          <p:cNvSpPr txBox="1"/>
          <p:nvPr/>
        </p:nvSpPr>
        <p:spPr>
          <a:xfrm>
            <a:off x="821073" y="3354456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10</a:t>
            </a:r>
          </a:p>
        </p:txBody>
      </p:sp>
      <p:sp>
        <p:nvSpPr>
          <p:cNvPr id="490" name="TextBox 490"/>
          <p:cNvSpPr txBox="1"/>
          <p:nvPr/>
        </p:nvSpPr>
        <p:spPr>
          <a:xfrm>
            <a:off x="804485" y="3553239"/>
            <a:ext cx="19904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11</a:t>
            </a:r>
          </a:p>
        </p:txBody>
      </p:sp>
      <p:sp>
        <p:nvSpPr>
          <p:cNvPr id="491" name="TextBox 491"/>
          <p:cNvSpPr txBox="1"/>
          <p:nvPr/>
        </p:nvSpPr>
        <p:spPr>
          <a:xfrm>
            <a:off x="1260637" y="3544956"/>
            <a:ext cx="137674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funcsave gcpush</a:t>
            </a:r>
          </a:p>
        </p:txBody>
      </p:sp>
      <p:sp>
        <p:nvSpPr>
          <p:cNvPr id="492" name="TextBox 492"/>
          <p:cNvSpPr txBox="1"/>
          <p:nvPr/>
        </p:nvSpPr>
        <p:spPr>
          <a:xfrm>
            <a:off x="655199" y="3950804"/>
            <a:ext cx="696668" cy="364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200" dirty="0"/>
              <a:t>Uso</a:t>
            </a:r>
          </a:p>
        </p:txBody>
      </p:sp>
      <p:sp>
        <p:nvSpPr>
          <p:cNvPr id="493" name="TextBox 493"/>
          <p:cNvSpPr txBox="1"/>
          <p:nvPr/>
        </p:nvSpPr>
        <p:spPr>
          <a:xfrm>
            <a:off x="1252344" y="4497456"/>
            <a:ext cx="771311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S&gt;gcpush</a:t>
            </a:r>
          </a:p>
        </p:txBody>
      </p:sp>
      <p:sp>
        <p:nvSpPr>
          <p:cNvPr id="494" name="TextBox 494"/>
          <p:cNvSpPr txBox="1"/>
          <p:nvPr/>
        </p:nvSpPr>
        <p:spPr>
          <a:xfrm>
            <a:off x="2139766" y="4497456"/>
            <a:ext cx="213976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Actualizacion de README"</a:t>
            </a:r>
          </a:p>
        </p:txBody>
      </p:sp>
      <p:sp>
        <p:nvSpPr>
          <p:cNvPr id="495" name="TextBox 495"/>
          <p:cNvSpPr txBox="1"/>
          <p:nvPr/>
        </p:nvSpPr>
        <p:spPr>
          <a:xfrm>
            <a:off x="1260637" y="4737652"/>
            <a:ext cx="49762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S&gt;git</a:t>
            </a:r>
          </a:p>
        </p:txBody>
      </p:sp>
      <p:sp>
        <p:nvSpPr>
          <p:cNvPr id="496" name="TextBox 496"/>
          <p:cNvSpPr txBox="1"/>
          <p:nvPr/>
        </p:nvSpPr>
        <p:spPr>
          <a:xfrm>
            <a:off x="2330521" y="4745934"/>
            <a:ext cx="64690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oneline</a:t>
            </a:r>
          </a:p>
        </p:txBody>
      </p:sp>
      <p:sp>
        <p:nvSpPr>
          <p:cNvPr id="497" name="TextBox 497"/>
          <p:cNvSpPr txBox="1"/>
          <p:nvPr/>
        </p:nvSpPr>
        <p:spPr>
          <a:xfrm>
            <a:off x="1260637" y="4936434"/>
            <a:ext cx="1111351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14538a (HEAD</a:t>
            </a:r>
          </a:p>
        </p:txBody>
      </p:sp>
      <p:sp>
        <p:nvSpPr>
          <p:cNvPr id="498" name="TextBox 498"/>
          <p:cNvSpPr txBox="1"/>
          <p:nvPr/>
        </p:nvSpPr>
        <p:spPr>
          <a:xfrm>
            <a:off x="2678855" y="4994413"/>
            <a:ext cx="44785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Main,</a:t>
            </a:r>
          </a:p>
        </p:txBody>
      </p:sp>
      <p:sp>
        <p:nvSpPr>
          <p:cNvPr id="499" name="TextBox 499"/>
          <p:cNvSpPr txBox="1"/>
          <p:nvPr/>
        </p:nvSpPr>
        <p:spPr>
          <a:xfrm>
            <a:off x="3184769" y="4944717"/>
            <a:ext cx="2214409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origin/main, origin/HEAD)</a:t>
            </a:r>
          </a:p>
        </p:txBody>
      </p:sp>
      <p:sp>
        <p:nvSpPr>
          <p:cNvPr id="500" name="TextBox 500"/>
          <p:cNvSpPr txBox="1"/>
          <p:nvPr/>
        </p:nvSpPr>
        <p:spPr>
          <a:xfrm>
            <a:off x="5440647" y="4953000"/>
            <a:ext cx="20568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Actualizacion de README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879129" y="5499652"/>
            <a:ext cx="1310399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sin mensaje:</a:t>
            </a:r>
          </a:p>
        </p:txBody>
      </p:sp>
      <p:sp>
        <p:nvSpPr>
          <p:cNvPr id="502" name="TextBox 502"/>
          <p:cNvSpPr txBox="1"/>
          <p:nvPr/>
        </p:nvSpPr>
        <p:spPr>
          <a:xfrm>
            <a:off x="1252344" y="6071152"/>
            <a:ext cx="76301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$&gt;gcpush</a:t>
            </a:r>
          </a:p>
        </p:txBody>
      </p:sp>
      <p:sp>
        <p:nvSpPr>
          <p:cNvPr id="503" name="TextBox 503"/>
          <p:cNvSpPr txBox="1"/>
          <p:nvPr/>
        </p:nvSpPr>
        <p:spPr>
          <a:xfrm>
            <a:off x="1252344" y="6286500"/>
            <a:ext cx="854248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S&gt;git log</a:t>
            </a:r>
          </a:p>
        </p:txBody>
      </p:sp>
      <p:sp>
        <p:nvSpPr>
          <p:cNvPr id="504" name="TextBox 504"/>
          <p:cNvSpPr txBox="1"/>
          <p:nvPr/>
        </p:nvSpPr>
        <p:spPr>
          <a:xfrm>
            <a:off x="2330521" y="6319630"/>
            <a:ext cx="64690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oneline</a:t>
            </a:r>
          </a:p>
        </p:txBody>
      </p:sp>
      <p:sp>
        <p:nvSpPr>
          <p:cNvPr id="505" name="TextBox 505"/>
          <p:cNvSpPr txBox="1"/>
          <p:nvPr/>
        </p:nvSpPr>
        <p:spPr>
          <a:xfrm>
            <a:off x="1260637" y="6526695"/>
            <a:ext cx="111135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14538a (HEAD</a:t>
            </a:r>
          </a:p>
        </p:txBody>
      </p:sp>
      <p:sp>
        <p:nvSpPr>
          <p:cNvPr id="506" name="TextBox 506"/>
          <p:cNvSpPr txBox="1"/>
          <p:nvPr/>
        </p:nvSpPr>
        <p:spPr>
          <a:xfrm>
            <a:off x="2430045" y="6568108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~&gt;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2645680" y="6510130"/>
            <a:ext cx="4155128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main, Origin/main, origin/HEAD) 12 MAY 26 13:17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1798779" y="4714581"/>
            <a:ext cx="292172" cy="2532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Log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5" name="Picture 15" descr="slide-22.svg"/>
          <p:cNvPicPr>
            <a:picLocks noChangeAspect="1"/>
          </p:cNvPicPr>
          <p:nvPr/>
        </p:nvPicPr>
        <p:blipFill>
          <a:blip r:embed="rIdImg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09" name="TextBox 509"/>
          <p:cNvSpPr txBox="1"/>
          <p:nvPr/>
        </p:nvSpPr>
        <p:spPr>
          <a:xfrm>
            <a:off x="597144" y="496956"/>
            <a:ext cx="3052070" cy="596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700" dirty="0"/>
              <a:t>pulleverything</a:t>
            </a:r>
          </a:p>
        </p:txBody>
      </p:sp>
      <p:sp>
        <p:nvSpPr>
          <p:cNvPr id="510" name="TextBox 510"/>
          <p:cNvSpPr txBox="1"/>
          <p:nvPr/>
        </p:nvSpPr>
        <p:spPr>
          <a:xfrm>
            <a:off x="1268931" y="1316934"/>
            <a:ext cx="7464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function</a:t>
            </a:r>
          </a:p>
        </p:txBody>
      </p:sp>
      <p:sp>
        <p:nvSpPr>
          <p:cNvPr id="511" name="TextBox 511"/>
          <p:cNvSpPr txBox="1"/>
          <p:nvPr/>
        </p:nvSpPr>
        <p:spPr>
          <a:xfrm>
            <a:off x="2380283" y="1283804"/>
            <a:ext cx="953772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everything</a:t>
            </a:r>
          </a:p>
        </p:txBody>
      </p:sp>
      <p:sp>
        <p:nvSpPr>
          <p:cNvPr id="512" name="TextBox 512"/>
          <p:cNvSpPr txBox="1"/>
          <p:nvPr/>
        </p:nvSpPr>
        <p:spPr>
          <a:xfrm>
            <a:off x="1608971" y="1524000"/>
            <a:ext cx="1542622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for dir in */ git</a:t>
            </a:r>
          </a:p>
        </p:txBody>
      </p:sp>
      <p:sp>
        <p:nvSpPr>
          <p:cNvPr id="513" name="TextBox 513"/>
          <p:cNvSpPr txBox="1"/>
          <p:nvPr/>
        </p:nvSpPr>
        <p:spPr>
          <a:xfrm>
            <a:off x="1965599" y="1764195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514" name="TextBox 514"/>
          <p:cNvSpPr txBox="1"/>
          <p:nvPr/>
        </p:nvSpPr>
        <p:spPr>
          <a:xfrm>
            <a:off x="1965599" y="1996108"/>
            <a:ext cx="82936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set_color</a:t>
            </a:r>
          </a:p>
        </p:txBody>
      </p:sp>
      <p:sp>
        <p:nvSpPr>
          <p:cNvPr id="515" name="TextBox 515"/>
          <p:cNvSpPr txBox="1"/>
          <p:nvPr/>
        </p:nvSpPr>
        <p:spPr>
          <a:xfrm>
            <a:off x="2919371" y="1971260"/>
            <a:ext cx="49762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~bold</a:t>
            </a:r>
          </a:p>
        </p:txBody>
      </p:sp>
      <p:sp>
        <p:nvSpPr>
          <p:cNvPr id="516" name="TextBox 516"/>
          <p:cNvSpPr txBox="1"/>
          <p:nvPr/>
        </p:nvSpPr>
        <p:spPr>
          <a:xfrm>
            <a:off x="3491635" y="1996108"/>
            <a:ext cx="96206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-~underline</a:t>
            </a:r>
          </a:p>
        </p:txBody>
      </p:sp>
      <p:sp>
        <p:nvSpPr>
          <p:cNvPr id="517" name="TextBox 517"/>
          <p:cNvSpPr txBox="1"/>
          <p:nvPr/>
        </p:nvSpPr>
        <p:spPr>
          <a:xfrm>
            <a:off x="4768860" y="2012673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Low</a:t>
            </a:r>
          </a:p>
        </p:txBody>
      </p:sp>
      <p:sp>
        <p:nvSpPr>
          <p:cNvPr id="518" name="TextBox 518"/>
          <p:cNvSpPr txBox="1"/>
          <p:nvPr/>
        </p:nvSpPr>
        <p:spPr>
          <a:xfrm>
            <a:off x="1957306" y="2203173"/>
            <a:ext cx="41468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echo</a:t>
            </a:r>
          </a:p>
        </p:txBody>
      </p:sp>
      <p:sp>
        <p:nvSpPr>
          <p:cNvPr id="519" name="TextBox 519"/>
          <p:cNvSpPr txBox="1"/>
          <p:nvPr/>
        </p:nvSpPr>
        <p:spPr>
          <a:xfrm>
            <a:off x="2488101" y="2203173"/>
            <a:ext cx="117770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dirname Sdir)</a:t>
            </a:r>
          </a:p>
        </p:txBody>
      </p:sp>
      <p:sp>
        <p:nvSpPr>
          <p:cNvPr id="520" name="TextBox 520"/>
          <p:cNvSpPr txBox="1"/>
          <p:nvPr/>
        </p:nvSpPr>
        <p:spPr>
          <a:xfrm>
            <a:off x="1965599" y="2443369"/>
            <a:ext cx="1426511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set_color normal</a:t>
            </a:r>
          </a:p>
        </p:txBody>
      </p:sp>
      <p:sp>
        <p:nvSpPr>
          <p:cNvPr id="521" name="TextBox 521"/>
          <p:cNvSpPr txBox="1"/>
          <p:nvPr/>
        </p:nvSpPr>
        <p:spPr>
          <a:xfrm>
            <a:off x="1957306" y="2650434"/>
            <a:ext cx="33174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git</a:t>
            </a:r>
          </a:p>
        </p:txBody>
      </p:sp>
      <p:sp>
        <p:nvSpPr>
          <p:cNvPr id="522" name="TextBox 522"/>
          <p:cNvSpPr txBox="1"/>
          <p:nvPr/>
        </p:nvSpPr>
        <p:spPr>
          <a:xfrm>
            <a:off x="2347108" y="2675282"/>
            <a:ext cx="18246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~C</a:t>
            </a:r>
          </a:p>
        </p:txBody>
      </p:sp>
      <p:sp>
        <p:nvSpPr>
          <p:cNvPr id="523" name="TextBox 523"/>
          <p:cNvSpPr txBox="1"/>
          <p:nvPr/>
        </p:nvSpPr>
        <p:spPr>
          <a:xfrm>
            <a:off x="2653974" y="2633869"/>
            <a:ext cx="117770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dirname Sdir)</a:t>
            </a:r>
          </a:p>
        </p:txBody>
      </p:sp>
      <p:sp>
        <p:nvSpPr>
          <p:cNvPr id="524" name="TextBox 524"/>
          <p:cNvSpPr txBox="1"/>
          <p:nvPr/>
        </p:nvSpPr>
        <p:spPr>
          <a:xfrm>
            <a:off x="3889731" y="2675282"/>
            <a:ext cx="364921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pull</a:t>
            </a:r>
          </a:p>
        </p:txBody>
      </p:sp>
      <p:sp>
        <p:nvSpPr>
          <p:cNvPr id="525" name="TextBox 525"/>
          <p:cNvSpPr txBox="1"/>
          <p:nvPr/>
        </p:nvSpPr>
        <p:spPr>
          <a:xfrm>
            <a:off x="1617265" y="2890630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526" name="TextBox 526"/>
          <p:cNvSpPr txBox="1"/>
          <p:nvPr/>
        </p:nvSpPr>
        <p:spPr>
          <a:xfrm>
            <a:off x="1285518" y="3139108"/>
            <a:ext cx="29857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527" name="TextBox 527"/>
          <p:cNvSpPr txBox="1"/>
          <p:nvPr/>
        </p:nvSpPr>
        <p:spPr>
          <a:xfrm>
            <a:off x="821073" y="3354456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10</a:t>
            </a:r>
          </a:p>
        </p:txBody>
      </p:sp>
      <p:sp>
        <p:nvSpPr>
          <p:cNvPr id="528" name="TextBox 528"/>
          <p:cNvSpPr txBox="1"/>
          <p:nvPr/>
        </p:nvSpPr>
        <p:spPr>
          <a:xfrm>
            <a:off x="804485" y="3553239"/>
            <a:ext cx="19904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11</a:t>
            </a:r>
          </a:p>
        </p:txBody>
      </p:sp>
      <p:sp>
        <p:nvSpPr>
          <p:cNvPr id="529" name="TextBox 529"/>
          <p:cNvSpPr txBox="1"/>
          <p:nvPr/>
        </p:nvSpPr>
        <p:spPr>
          <a:xfrm>
            <a:off x="1260637" y="3528391"/>
            <a:ext cx="205683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funcsave pulleverything</a:t>
            </a:r>
          </a:p>
        </p:txBody>
      </p:sp>
      <p:sp>
        <p:nvSpPr>
          <p:cNvPr id="530" name="TextBox 530"/>
          <p:cNvSpPr txBox="1"/>
          <p:nvPr/>
        </p:nvSpPr>
        <p:spPr>
          <a:xfrm>
            <a:off x="879129" y="4273826"/>
            <a:ext cx="945478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ft_printf</a:t>
            </a:r>
          </a:p>
        </p:txBody>
      </p:sp>
      <p:sp>
        <p:nvSpPr>
          <p:cNvPr id="531" name="TextBox 531"/>
          <p:cNvSpPr txBox="1"/>
          <p:nvPr/>
        </p:nvSpPr>
        <p:spPr>
          <a:xfrm>
            <a:off x="879129" y="4522304"/>
            <a:ext cx="74643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Already</a:t>
            </a:r>
          </a:p>
        </p:txBody>
      </p:sp>
      <p:sp>
        <p:nvSpPr>
          <p:cNvPr id="532" name="TextBox 532"/>
          <p:cNvSpPr txBox="1"/>
          <p:nvPr/>
        </p:nvSpPr>
        <p:spPr>
          <a:xfrm>
            <a:off x="1675321" y="4522304"/>
            <a:ext cx="106158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up to date</a:t>
            </a:r>
          </a:p>
        </p:txBody>
      </p:sp>
      <p:sp>
        <p:nvSpPr>
          <p:cNvPr id="533" name="TextBox 533"/>
          <p:cNvSpPr txBox="1"/>
          <p:nvPr/>
        </p:nvSpPr>
        <p:spPr>
          <a:xfrm>
            <a:off x="879129" y="5027543"/>
            <a:ext cx="1360161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repo_not_sync</a:t>
            </a:r>
          </a:p>
        </p:txBody>
      </p:sp>
      <p:sp>
        <p:nvSpPr>
          <p:cNvPr id="534" name="TextBox 534"/>
          <p:cNvSpPr txBox="1"/>
          <p:nvPr/>
        </p:nvSpPr>
        <p:spPr>
          <a:xfrm>
            <a:off x="870835" y="5251173"/>
            <a:ext cx="1733377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Updating 42c9b8a .</a:t>
            </a:r>
          </a:p>
        </p:txBody>
      </p:sp>
      <p:sp>
        <p:nvSpPr>
          <p:cNvPr id="535" name="TextBox 535"/>
          <p:cNvSpPr txBox="1"/>
          <p:nvPr/>
        </p:nvSpPr>
        <p:spPr>
          <a:xfrm>
            <a:off x="2670561" y="5267739"/>
            <a:ext cx="7464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dle2f3a</a:t>
            </a:r>
          </a:p>
        </p:txBody>
      </p:sp>
      <p:sp>
        <p:nvSpPr>
          <p:cNvPr id="536" name="TextBox 536"/>
          <p:cNvSpPr txBox="1"/>
          <p:nvPr/>
        </p:nvSpPr>
        <p:spPr>
          <a:xfrm>
            <a:off x="879129" y="5516217"/>
            <a:ext cx="126063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Fast-forward</a:t>
            </a:r>
          </a:p>
        </p:txBody>
      </p:sp>
      <p:sp>
        <p:nvSpPr>
          <p:cNvPr id="537" name="TextBox 537"/>
          <p:cNvSpPr txBox="1"/>
          <p:nvPr/>
        </p:nvSpPr>
        <p:spPr>
          <a:xfrm>
            <a:off x="995240" y="5764695"/>
            <a:ext cx="63031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README</a:t>
            </a:r>
          </a:p>
        </p:txBody>
      </p:sp>
      <p:sp>
        <p:nvSpPr>
          <p:cNvPr id="538" name="TextBox 538"/>
          <p:cNvSpPr txBox="1"/>
          <p:nvPr/>
        </p:nvSpPr>
        <p:spPr>
          <a:xfrm>
            <a:off x="1675321" y="5764695"/>
            <a:ext cx="26539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md</a:t>
            </a:r>
          </a:p>
        </p:txBody>
      </p:sp>
      <p:sp>
        <p:nvSpPr>
          <p:cNvPr id="539" name="TextBox 539"/>
          <p:cNvSpPr txBox="1"/>
          <p:nvPr/>
        </p:nvSpPr>
        <p:spPr>
          <a:xfrm>
            <a:off x="1177701" y="6013173"/>
            <a:ext cx="132698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file changed,</a:t>
            </a:r>
          </a:p>
        </p:txBody>
      </p:sp>
      <p:sp>
        <p:nvSpPr>
          <p:cNvPr id="540" name="TextBox 540"/>
          <p:cNvSpPr txBox="1"/>
          <p:nvPr/>
        </p:nvSpPr>
        <p:spPr>
          <a:xfrm>
            <a:off x="2786673" y="6013173"/>
            <a:ext cx="1310399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insertion(+) ,</a:t>
            </a:r>
          </a:p>
        </p:txBody>
      </p:sp>
      <p:sp>
        <p:nvSpPr>
          <p:cNvPr id="541" name="TextBox 541"/>
          <p:cNvSpPr txBox="1"/>
          <p:nvPr/>
        </p:nvSpPr>
        <p:spPr>
          <a:xfrm>
            <a:off x="4180009" y="6013173"/>
            <a:ext cx="132698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1 deletion(-)</a:t>
            </a:r>
          </a:p>
        </p:txBody>
      </p:sp>
      <p:sp>
        <p:nvSpPr>
          <p:cNvPr id="542" name="TextBox 542"/>
          <p:cNvSpPr txBox="1"/>
          <p:nvPr/>
        </p:nvSpPr>
        <p:spPr>
          <a:xfrm>
            <a:off x="4469380" y="2007173"/>
            <a:ext cx="325267" cy="1518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6" name="Picture 16" descr="slide-23.svg"/>
          <p:cNvPicPr>
            <a:picLocks noChangeAspect="1"/>
          </p:cNvPicPr>
          <p:nvPr/>
        </p:nvPicPr>
        <p:blipFill>
          <a:blip r:embed="rIdImg1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43" name="TextBox 543"/>
          <p:cNvSpPr txBox="1"/>
          <p:nvPr/>
        </p:nvSpPr>
        <p:spPr>
          <a:xfrm>
            <a:off x="655199" y="604630"/>
            <a:ext cx="1293812" cy="364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200" dirty="0"/>
              <a:t>memo</a:t>
            </a:r>
          </a:p>
        </p:txBody>
      </p:sp>
      <p:sp>
        <p:nvSpPr>
          <p:cNvPr id="544" name="TextBox 544"/>
          <p:cNvSpPr txBox="1"/>
          <p:nvPr/>
        </p:nvSpPr>
        <p:spPr>
          <a:xfrm>
            <a:off x="1268931" y="1316934"/>
            <a:ext cx="7464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function</a:t>
            </a:r>
          </a:p>
        </p:txBody>
      </p:sp>
      <p:sp>
        <p:nvSpPr>
          <p:cNvPr id="545" name="TextBox 545"/>
          <p:cNvSpPr txBox="1"/>
          <p:nvPr/>
        </p:nvSpPr>
        <p:spPr>
          <a:xfrm>
            <a:off x="2065123" y="1350065"/>
            <a:ext cx="38150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memo</a:t>
            </a:r>
          </a:p>
        </p:txBody>
      </p:sp>
      <p:sp>
        <p:nvSpPr>
          <p:cNvPr id="546" name="TextBox 546"/>
          <p:cNvSpPr txBox="1"/>
          <p:nvPr/>
        </p:nvSpPr>
        <p:spPr>
          <a:xfrm>
            <a:off x="1617265" y="1548847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</a:t>
            </a:r>
          </a:p>
        </p:txBody>
      </p:sp>
      <p:sp>
        <p:nvSpPr>
          <p:cNvPr id="547" name="TextBox 547"/>
          <p:cNvSpPr txBox="1"/>
          <p:nvPr/>
        </p:nvSpPr>
        <p:spPr>
          <a:xfrm>
            <a:off x="2239290" y="1524000"/>
            <a:ext cx="82936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memo_file</a:t>
            </a:r>
          </a:p>
        </p:txBody>
      </p:sp>
      <p:sp>
        <p:nvSpPr>
          <p:cNvPr id="548" name="TextBox 548"/>
          <p:cNvSpPr txBox="1"/>
          <p:nvPr/>
        </p:nvSpPr>
        <p:spPr>
          <a:xfrm>
            <a:off x="3184769" y="1524000"/>
            <a:ext cx="144309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SFISH_TOOLS_ROOT_</a:t>
            </a:r>
          </a:p>
        </p:txBody>
      </p:sp>
      <p:sp>
        <p:nvSpPr>
          <p:cNvPr id="549" name="TextBox 549"/>
          <p:cNvSpPr txBox="1"/>
          <p:nvPr/>
        </p:nvSpPr>
        <p:spPr>
          <a:xfrm>
            <a:off x="4669336" y="1581978"/>
            <a:ext cx="39809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memo</a:t>
            </a:r>
          </a:p>
        </p:txBody>
      </p:sp>
      <p:sp>
        <p:nvSpPr>
          <p:cNvPr id="550" name="TextBox 550"/>
          <p:cNvSpPr txBox="1"/>
          <p:nvPr/>
        </p:nvSpPr>
        <p:spPr>
          <a:xfrm>
            <a:off x="5117194" y="1565413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md"</a:t>
            </a:r>
          </a:p>
        </p:txBody>
      </p:sp>
      <p:sp>
        <p:nvSpPr>
          <p:cNvPr id="551" name="TextBox 551"/>
          <p:cNvSpPr txBox="1"/>
          <p:nvPr/>
        </p:nvSpPr>
        <p:spPr>
          <a:xfrm>
            <a:off x="1608971" y="1755913"/>
            <a:ext cx="6634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if test</a:t>
            </a:r>
          </a:p>
        </p:txBody>
      </p:sp>
      <p:sp>
        <p:nvSpPr>
          <p:cNvPr id="552" name="TextBox 552"/>
          <p:cNvSpPr txBox="1"/>
          <p:nvPr/>
        </p:nvSpPr>
        <p:spPr>
          <a:xfrm>
            <a:off x="2322227" y="1747630"/>
            <a:ext cx="116940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(count Sargv)</a:t>
            </a:r>
          </a:p>
        </p:txBody>
      </p:sp>
      <p:sp>
        <p:nvSpPr>
          <p:cNvPr id="553" name="TextBox 553"/>
          <p:cNvSpPr txBox="1"/>
          <p:nvPr/>
        </p:nvSpPr>
        <p:spPr>
          <a:xfrm>
            <a:off x="3557984" y="1764195"/>
            <a:ext cx="28198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~lt</a:t>
            </a:r>
          </a:p>
        </p:txBody>
      </p:sp>
      <p:sp>
        <p:nvSpPr>
          <p:cNvPr id="554" name="TextBox 554"/>
          <p:cNvSpPr txBox="1"/>
          <p:nvPr/>
        </p:nvSpPr>
        <p:spPr>
          <a:xfrm>
            <a:off x="1957306" y="1971260"/>
            <a:ext cx="1078177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echo "Usage:</a:t>
            </a:r>
          </a:p>
        </p:txBody>
      </p:sp>
      <p:sp>
        <p:nvSpPr>
          <p:cNvPr id="555" name="TextBox 555"/>
          <p:cNvSpPr txBox="1"/>
          <p:nvPr/>
        </p:nvSpPr>
        <p:spPr>
          <a:xfrm>
            <a:off x="3101832" y="1987826"/>
            <a:ext cx="17084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memo | "Description|"</a:t>
            </a:r>
          </a:p>
        </p:txBody>
      </p:sp>
      <p:sp>
        <p:nvSpPr>
          <p:cNvPr id="556" name="TextBox 556"/>
          <p:cNvSpPr txBox="1"/>
          <p:nvPr/>
        </p:nvSpPr>
        <p:spPr>
          <a:xfrm>
            <a:off x="5001083" y="1971260"/>
            <a:ext cx="82936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"Command|</a:t>
            </a:r>
          </a:p>
        </p:txBody>
      </p:sp>
      <p:sp>
        <p:nvSpPr>
          <p:cNvPr id="557" name="TextBox 557"/>
          <p:cNvSpPr txBox="1"/>
          <p:nvPr/>
        </p:nvSpPr>
        <p:spPr>
          <a:xfrm>
            <a:off x="1982187" y="2244586"/>
            <a:ext cx="54738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return</a:t>
            </a:r>
          </a:p>
        </p:txBody>
      </p:sp>
      <p:sp>
        <p:nvSpPr>
          <p:cNvPr id="558" name="TextBox 558"/>
          <p:cNvSpPr txBox="1"/>
          <p:nvPr/>
        </p:nvSpPr>
        <p:spPr>
          <a:xfrm>
            <a:off x="1633853" y="2443369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559" name="TextBox 559"/>
          <p:cNvSpPr txBox="1"/>
          <p:nvPr/>
        </p:nvSpPr>
        <p:spPr>
          <a:xfrm>
            <a:off x="1633853" y="2675282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set</a:t>
            </a:r>
          </a:p>
        </p:txBody>
      </p:sp>
      <p:sp>
        <p:nvSpPr>
          <p:cNvPr id="560" name="TextBox 560"/>
          <p:cNvSpPr txBox="1"/>
          <p:nvPr/>
        </p:nvSpPr>
        <p:spPr>
          <a:xfrm>
            <a:off x="1990480" y="2650434"/>
            <a:ext cx="202365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~L description Sargv[1]</a:t>
            </a:r>
          </a:p>
        </p:txBody>
      </p:sp>
      <p:sp>
        <p:nvSpPr>
          <p:cNvPr id="561" name="TextBox 561"/>
          <p:cNvSpPr txBox="1"/>
          <p:nvPr/>
        </p:nvSpPr>
        <p:spPr>
          <a:xfrm>
            <a:off x="1633853" y="2890630"/>
            <a:ext cx="28198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</a:t>
            </a:r>
          </a:p>
        </p:txBody>
      </p:sp>
      <p:sp>
        <p:nvSpPr>
          <p:cNvPr id="562" name="TextBox 562"/>
          <p:cNvSpPr txBox="1"/>
          <p:nvPr/>
        </p:nvSpPr>
        <p:spPr>
          <a:xfrm>
            <a:off x="1990480" y="2857500"/>
            <a:ext cx="210659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~L command_text fargv[2]</a:t>
            </a:r>
          </a:p>
        </p:txBody>
      </p:sp>
      <p:sp>
        <p:nvSpPr>
          <p:cNvPr id="563" name="TextBox 563"/>
          <p:cNvSpPr txBox="1"/>
          <p:nvPr/>
        </p:nvSpPr>
        <p:spPr>
          <a:xfrm>
            <a:off x="1617265" y="3105978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if</a:t>
            </a:r>
          </a:p>
        </p:txBody>
      </p:sp>
      <p:sp>
        <p:nvSpPr>
          <p:cNvPr id="564" name="TextBox 564"/>
          <p:cNvSpPr txBox="1"/>
          <p:nvPr/>
        </p:nvSpPr>
        <p:spPr>
          <a:xfrm>
            <a:off x="1882663" y="3122543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not</a:t>
            </a:r>
          </a:p>
        </p:txBody>
      </p:sp>
      <p:sp>
        <p:nvSpPr>
          <p:cNvPr id="565" name="TextBox 565"/>
          <p:cNvSpPr txBox="1"/>
          <p:nvPr/>
        </p:nvSpPr>
        <p:spPr>
          <a:xfrm>
            <a:off x="2230997" y="3122543"/>
            <a:ext cx="38150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test</a:t>
            </a:r>
          </a:p>
        </p:txBody>
      </p:sp>
      <p:sp>
        <p:nvSpPr>
          <p:cNvPr id="566" name="TextBox 566"/>
          <p:cNvSpPr txBox="1"/>
          <p:nvPr/>
        </p:nvSpPr>
        <p:spPr>
          <a:xfrm>
            <a:off x="2695442" y="3122543"/>
            <a:ext cx="18246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~f</a:t>
            </a:r>
          </a:p>
        </p:txBody>
      </p:sp>
      <p:sp>
        <p:nvSpPr>
          <p:cNvPr id="567" name="TextBox 567"/>
          <p:cNvSpPr txBox="1"/>
          <p:nvPr/>
        </p:nvSpPr>
        <p:spPr>
          <a:xfrm>
            <a:off x="3018895" y="3097695"/>
            <a:ext cx="99524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Smemo_file"</a:t>
            </a:r>
          </a:p>
        </p:txBody>
      </p:sp>
      <p:sp>
        <p:nvSpPr>
          <p:cNvPr id="568" name="TextBox 568"/>
          <p:cNvSpPr txBox="1"/>
          <p:nvPr/>
        </p:nvSpPr>
        <p:spPr>
          <a:xfrm>
            <a:off x="812779" y="3313043"/>
            <a:ext cx="21563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10</a:t>
            </a:r>
          </a:p>
        </p:txBody>
      </p:sp>
      <p:sp>
        <p:nvSpPr>
          <p:cNvPr id="569" name="TextBox 569"/>
          <p:cNvSpPr txBox="1"/>
          <p:nvPr/>
        </p:nvSpPr>
        <p:spPr>
          <a:xfrm>
            <a:off x="1965599" y="3337891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570" name="TextBox 570"/>
          <p:cNvSpPr txBox="1"/>
          <p:nvPr/>
        </p:nvSpPr>
        <p:spPr>
          <a:xfrm>
            <a:off x="2496394" y="3337891"/>
            <a:ext cx="88742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# Personal</a:t>
            </a:r>
          </a:p>
        </p:txBody>
      </p:sp>
      <p:sp>
        <p:nvSpPr>
          <p:cNvPr id="571" name="TextBox 571"/>
          <p:cNvSpPr txBox="1"/>
          <p:nvPr/>
        </p:nvSpPr>
        <p:spPr>
          <a:xfrm>
            <a:off x="3458460" y="3337891"/>
            <a:ext cx="107817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Command Memo</a:t>
            </a:r>
          </a:p>
        </p:txBody>
      </p:sp>
      <p:sp>
        <p:nvSpPr>
          <p:cNvPr id="572" name="TextBox 572"/>
          <p:cNvSpPr txBox="1"/>
          <p:nvPr/>
        </p:nvSpPr>
        <p:spPr>
          <a:xfrm>
            <a:off x="4926440" y="3313043"/>
            <a:ext cx="92889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Smemo_file"</a:t>
            </a:r>
          </a:p>
        </p:txBody>
      </p:sp>
      <p:sp>
        <p:nvSpPr>
          <p:cNvPr id="573" name="TextBox 573"/>
          <p:cNvSpPr txBox="1"/>
          <p:nvPr/>
        </p:nvSpPr>
        <p:spPr>
          <a:xfrm>
            <a:off x="796192" y="3528391"/>
            <a:ext cx="21563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11</a:t>
            </a:r>
          </a:p>
        </p:txBody>
      </p:sp>
      <p:sp>
        <p:nvSpPr>
          <p:cNvPr id="574" name="TextBox 574"/>
          <p:cNvSpPr txBox="1"/>
          <p:nvPr/>
        </p:nvSpPr>
        <p:spPr>
          <a:xfrm>
            <a:off x="1633853" y="3553239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575" name="TextBox 575"/>
          <p:cNvSpPr txBox="1"/>
          <p:nvPr/>
        </p:nvSpPr>
        <p:spPr>
          <a:xfrm>
            <a:off x="796192" y="3760304"/>
            <a:ext cx="21563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12</a:t>
            </a:r>
          </a:p>
        </p:txBody>
      </p:sp>
      <p:sp>
        <p:nvSpPr>
          <p:cNvPr id="576" name="TextBox 576"/>
          <p:cNvSpPr txBox="1"/>
          <p:nvPr/>
        </p:nvSpPr>
        <p:spPr>
          <a:xfrm>
            <a:off x="1617265" y="3785152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577" name="TextBox 577"/>
          <p:cNvSpPr txBox="1"/>
          <p:nvPr/>
        </p:nvSpPr>
        <p:spPr>
          <a:xfrm>
            <a:off x="2098298" y="3818282"/>
            <a:ext cx="18246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~e</a:t>
            </a:r>
          </a:p>
        </p:txBody>
      </p:sp>
      <p:sp>
        <p:nvSpPr>
          <p:cNvPr id="578" name="TextBox 578"/>
          <p:cNvSpPr txBox="1"/>
          <p:nvPr/>
        </p:nvSpPr>
        <p:spPr>
          <a:xfrm>
            <a:off x="2405164" y="3752021"/>
            <a:ext cx="179143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In## Sdescriptionini</a:t>
            </a:r>
          </a:p>
        </p:txBody>
      </p:sp>
      <p:sp>
        <p:nvSpPr>
          <p:cNvPr id="579" name="TextBox 579"/>
          <p:cNvSpPr txBox="1"/>
          <p:nvPr/>
        </p:nvSpPr>
        <p:spPr>
          <a:xfrm>
            <a:off x="7124262" y="3801717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7&gt;</a:t>
            </a:r>
          </a:p>
        </p:txBody>
      </p:sp>
      <p:sp>
        <p:nvSpPr>
          <p:cNvPr id="580" name="TextBox 580"/>
          <p:cNvSpPr txBox="1"/>
          <p:nvPr/>
        </p:nvSpPr>
        <p:spPr>
          <a:xfrm>
            <a:off x="7447715" y="3760304"/>
            <a:ext cx="101182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Smemo_file"</a:t>
            </a:r>
          </a:p>
        </p:txBody>
      </p:sp>
      <p:sp>
        <p:nvSpPr>
          <p:cNvPr id="581" name="TextBox 581"/>
          <p:cNvSpPr txBox="1"/>
          <p:nvPr/>
        </p:nvSpPr>
        <p:spPr>
          <a:xfrm>
            <a:off x="796192" y="3992217"/>
            <a:ext cx="21563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13</a:t>
            </a:r>
          </a:p>
        </p:txBody>
      </p:sp>
      <p:sp>
        <p:nvSpPr>
          <p:cNvPr id="582" name="TextBox 582"/>
          <p:cNvSpPr txBox="1"/>
          <p:nvPr/>
        </p:nvSpPr>
        <p:spPr>
          <a:xfrm>
            <a:off x="1617265" y="4000500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583" name="TextBox 583"/>
          <p:cNvSpPr txBox="1"/>
          <p:nvPr/>
        </p:nvSpPr>
        <p:spPr>
          <a:xfrm>
            <a:off x="2413457" y="4000500"/>
            <a:ext cx="48103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Saved</a:t>
            </a:r>
          </a:p>
        </p:txBody>
      </p:sp>
      <p:sp>
        <p:nvSpPr>
          <p:cNvPr id="584" name="TextBox 584"/>
          <p:cNvSpPr txBox="1"/>
          <p:nvPr/>
        </p:nvSpPr>
        <p:spPr>
          <a:xfrm>
            <a:off x="2944252" y="4017065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to:</a:t>
            </a:r>
          </a:p>
        </p:txBody>
      </p:sp>
      <p:sp>
        <p:nvSpPr>
          <p:cNvPr id="585" name="TextBox 585"/>
          <p:cNvSpPr txBox="1"/>
          <p:nvPr/>
        </p:nvSpPr>
        <p:spPr>
          <a:xfrm>
            <a:off x="3284293" y="3992217"/>
            <a:ext cx="99524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Smemo_file"</a:t>
            </a:r>
          </a:p>
        </p:txBody>
      </p:sp>
      <p:sp>
        <p:nvSpPr>
          <p:cNvPr id="586" name="TextBox 586"/>
          <p:cNvSpPr txBox="1"/>
          <p:nvPr/>
        </p:nvSpPr>
        <p:spPr>
          <a:xfrm>
            <a:off x="796192" y="4207565"/>
            <a:ext cx="23222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14</a:t>
            </a:r>
          </a:p>
        </p:txBody>
      </p:sp>
      <p:sp>
        <p:nvSpPr>
          <p:cNvPr id="587" name="TextBox 587"/>
          <p:cNvSpPr txBox="1"/>
          <p:nvPr/>
        </p:nvSpPr>
        <p:spPr>
          <a:xfrm>
            <a:off x="1268931" y="4232413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588" name="TextBox 588"/>
          <p:cNvSpPr txBox="1"/>
          <p:nvPr/>
        </p:nvSpPr>
        <p:spPr>
          <a:xfrm>
            <a:off x="804485" y="4447760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15</a:t>
            </a:r>
          </a:p>
        </p:txBody>
      </p:sp>
      <p:sp>
        <p:nvSpPr>
          <p:cNvPr id="589" name="TextBox 589"/>
          <p:cNvSpPr txBox="1"/>
          <p:nvPr/>
        </p:nvSpPr>
        <p:spPr>
          <a:xfrm>
            <a:off x="804485" y="4679673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16</a:t>
            </a:r>
          </a:p>
        </p:txBody>
      </p:sp>
      <p:sp>
        <p:nvSpPr>
          <p:cNvPr id="590" name="TextBox 590"/>
          <p:cNvSpPr txBox="1"/>
          <p:nvPr/>
        </p:nvSpPr>
        <p:spPr>
          <a:xfrm>
            <a:off x="1252344" y="4646543"/>
            <a:ext cx="76301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funcsave</a:t>
            </a:r>
          </a:p>
        </p:txBody>
      </p:sp>
      <p:sp>
        <p:nvSpPr>
          <p:cNvPr id="591" name="TextBox 591"/>
          <p:cNvSpPr txBox="1"/>
          <p:nvPr/>
        </p:nvSpPr>
        <p:spPr>
          <a:xfrm>
            <a:off x="2065123" y="4712804"/>
            <a:ext cx="38150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memo</a:t>
            </a:r>
          </a:p>
        </p:txBody>
      </p:sp>
      <p:sp>
        <p:nvSpPr>
          <p:cNvPr id="592" name="TextBox 592"/>
          <p:cNvSpPr txBox="1"/>
          <p:nvPr/>
        </p:nvSpPr>
        <p:spPr>
          <a:xfrm>
            <a:off x="655199" y="5077239"/>
            <a:ext cx="696668" cy="364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200" dirty="0"/>
              <a:t>Uso</a:t>
            </a:r>
          </a:p>
        </p:txBody>
      </p:sp>
      <p:sp>
        <p:nvSpPr>
          <p:cNvPr id="593" name="TextBox 593"/>
          <p:cNvSpPr txBox="1"/>
          <p:nvPr/>
        </p:nvSpPr>
        <p:spPr>
          <a:xfrm>
            <a:off x="1285518" y="5640456"/>
            <a:ext cx="228905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memo "Titulo de la entrada</a:t>
            </a:r>
          </a:p>
        </p:txBody>
      </p:sp>
      <p:sp>
        <p:nvSpPr>
          <p:cNvPr id="594" name="TextBox 594"/>
          <p:cNvSpPr txBox="1"/>
          <p:nvPr/>
        </p:nvSpPr>
        <p:spPr>
          <a:xfrm>
            <a:off x="3806794" y="5657021"/>
            <a:ext cx="71325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comando"</a:t>
            </a:r>
          </a:p>
        </p:txBody>
      </p:sp>
      <p:sp>
        <p:nvSpPr>
          <p:cNvPr id="595" name="TextBox 595"/>
          <p:cNvSpPr txBox="1"/>
          <p:nvPr/>
        </p:nvSpPr>
        <p:spPr>
          <a:xfrm>
            <a:off x="4602986" y="5657021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"Ls</a:t>
            </a:r>
          </a:p>
        </p:txBody>
      </p:sp>
      <p:sp>
        <p:nvSpPr>
          <p:cNvPr id="596" name="TextBox 596"/>
          <p:cNvSpPr txBox="1"/>
          <p:nvPr/>
        </p:nvSpPr>
        <p:spPr>
          <a:xfrm>
            <a:off x="4951321" y="5657021"/>
            <a:ext cx="265397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-l"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7" name="Picture 17" descr="slide-24.svg"/>
          <p:cNvPicPr>
            <a:picLocks noChangeAspect="1"/>
          </p:cNvPicPr>
          <p:nvPr/>
        </p:nvPicPr>
        <p:blipFill>
          <a:blip r:embed="rIdImg1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97" name="TextBox 597"/>
          <p:cNvSpPr txBox="1"/>
          <p:nvPr/>
        </p:nvSpPr>
        <p:spPr>
          <a:xfrm>
            <a:off x="630318" y="505239"/>
            <a:ext cx="2380283" cy="530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300" dirty="0"/>
              <a:t>memoshow</a:t>
            </a:r>
          </a:p>
        </p:txBody>
      </p:sp>
      <p:sp>
        <p:nvSpPr>
          <p:cNvPr id="598" name="TextBox 598"/>
          <p:cNvSpPr txBox="1"/>
          <p:nvPr/>
        </p:nvSpPr>
        <p:spPr>
          <a:xfrm>
            <a:off x="1268931" y="1316934"/>
            <a:ext cx="7464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function</a:t>
            </a:r>
          </a:p>
        </p:txBody>
      </p:sp>
      <p:sp>
        <p:nvSpPr>
          <p:cNvPr id="599" name="TextBox 599"/>
          <p:cNvSpPr txBox="1"/>
          <p:nvPr/>
        </p:nvSpPr>
        <p:spPr>
          <a:xfrm>
            <a:off x="2065123" y="1350065"/>
            <a:ext cx="74643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memoshow</a:t>
            </a:r>
          </a:p>
        </p:txBody>
      </p:sp>
      <p:sp>
        <p:nvSpPr>
          <p:cNvPr id="600" name="TextBox 600"/>
          <p:cNvSpPr txBox="1"/>
          <p:nvPr/>
        </p:nvSpPr>
        <p:spPr>
          <a:xfrm>
            <a:off x="1633853" y="1565413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cat</a:t>
            </a:r>
          </a:p>
        </p:txBody>
      </p:sp>
      <p:sp>
        <p:nvSpPr>
          <p:cNvPr id="601" name="TextBox 601"/>
          <p:cNvSpPr txBox="1"/>
          <p:nvPr/>
        </p:nvSpPr>
        <p:spPr>
          <a:xfrm>
            <a:off x="2040242" y="1524000"/>
            <a:ext cx="1890956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'SFISH_TOOLS_ROOT /memo</a:t>
            </a:r>
          </a:p>
        </p:txBody>
      </p:sp>
      <p:sp>
        <p:nvSpPr>
          <p:cNvPr id="602" name="TextBox 602"/>
          <p:cNvSpPr txBox="1"/>
          <p:nvPr/>
        </p:nvSpPr>
        <p:spPr>
          <a:xfrm>
            <a:off x="3972667" y="1565413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md"</a:t>
            </a:r>
          </a:p>
        </p:txBody>
      </p:sp>
      <p:sp>
        <p:nvSpPr>
          <p:cNvPr id="603" name="TextBox 603"/>
          <p:cNvSpPr txBox="1"/>
          <p:nvPr/>
        </p:nvSpPr>
        <p:spPr>
          <a:xfrm>
            <a:off x="1285518" y="1780760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604" name="TextBox 604"/>
          <p:cNvSpPr txBox="1"/>
          <p:nvPr/>
        </p:nvSpPr>
        <p:spPr>
          <a:xfrm>
            <a:off x="1268931" y="2211456"/>
            <a:ext cx="7464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funcsave</a:t>
            </a:r>
          </a:p>
        </p:txBody>
      </p:sp>
      <p:sp>
        <p:nvSpPr>
          <p:cNvPr id="605" name="TextBox 605"/>
          <p:cNvSpPr txBox="1"/>
          <p:nvPr/>
        </p:nvSpPr>
        <p:spPr>
          <a:xfrm>
            <a:off x="2065123" y="2244586"/>
            <a:ext cx="74643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memoshow</a:t>
            </a:r>
          </a:p>
        </p:txBody>
      </p:sp>
      <p:sp>
        <p:nvSpPr>
          <p:cNvPr id="606" name="TextBox 606"/>
          <p:cNvSpPr txBox="1"/>
          <p:nvPr/>
        </p:nvSpPr>
        <p:spPr>
          <a:xfrm>
            <a:off x="655199" y="2609021"/>
            <a:ext cx="696668" cy="3644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200" dirty="0"/>
              <a:t>Uso</a:t>
            </a:r>
          </a:p>
        </p:txBody>
      </p:sp>
      <p:sp>
        <p:nvSpPr>
          <p:cNvPr id="607" name="TextBox 607"/>
          <p:cNvSpPr txBox="1"/>
          <p:nvPr/>
        </p:nvSpPr>
        <p:spPr>
          <a:xfrm>
            <a:off x="1252344" y="3155673"/>
            <a:ext cx="94547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$&gt;memoshow</a:t>
            </a:r>
          </a:p>
        </p:txBody>
      </p:sp>
      <p:sp>
        <p:nvSpPr>
          <p:cNvPr id="608" name="TextBox 608"/>
          <p:cNvSpPr txBox="1"/>
          <p:nvPr/>
        </p:nvSpPr>
        <p:spPr>
          <a:xfrm>
            <a:off x="1268931" y="3404152"/>
            <a:ext cx="195730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# Titulo de la entrada</a:t>
            </a:r>
          </a:p>
        </p:txBody>
      </p:sp>
      <p:sp>
        <p:nvSpPr>
          <p:cNvPr id="609" name="TextBox 609"/>
          <p:cNvSpPr txBox="1"/>
          <p:nvPr/>
        </p:nvSpPr>
        <p:spPr>
          <a:xfrm>
            <a:off x="3475047" y="3437282"/>
            <a:ext cx="63031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comando</a:t>
            </a:r>
          </a:p>
        </p:txBody>
      </p:sp>
      <p:sp>
        <p:nvSpPr>
          <p:cNvPr id="610" name="TextBox 610"/>
          <p:cNvSpPr txBox="1"/>
          <p:nvPr/>
        </p:nvSpPr>
        <p:spPr>
          <a:xfrm>
            <a:off x="1351868" y="3636065"/>
            <a:ext cx="24881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ls</a:t>
            </a:r>
          </a:p>
        </p:txBody>
      </p:sp>
      <p:sp>
        <p:nvSpPr>
          <p:cNvPr id="611" name="TextBox 611"/>
          <p:cNvSpPr txBox="1"/>
          <p:nvPr/>
        </p:nvSpPr>
        <p:spPr>
          <a:xfrm>
            <a:off x="1650440" y="3652630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-1</a:t>
            </a:r>
          </a:p>
        </p:txBody>
      </p:sp>
      <p:sp>
        <p:nvSpPr>
          <p:cNvPr id="612" name="TextBox 612"/>
          <p:cNvSpPr txBox="1"/>
          <p:nvPr/>
        </p:nvSpPr>
        <p:spPr>
          <a:xfrm>
            <a:off x="1285518" y="4083326"/>
            <a:ext cx="158409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# Comando anterior</a:t>
            </a:r>
          </a:p>
        </p:txBody>
      </p:sp>
      <p:sp>
        <p:nvSpPr>
          <p:cNvPr id="613" name="TextBox 613"/>
          <p:cNvSpPr txBox="1"/>
          <p:nvPr/>
        </p:nvSpPr>
        <p:spPr>
          <a:xfrm>
            <a:off x="1368455" y="4315239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cat</a:t>
            </a:r>
          </a:p>
        </p:txBody>
      </p:sp>
      <p:sp>
        <p:nvSpPr>
          <p:cNvPr id="614" name="TextBox 614"/>
          <p:cNvSpPr txBox="1"/>
          <p:nvPr/>
        </p:nvSpPr>
        <p:spPr>
          <a:xfrm>
            <a:off x="1716789" y="4298673"/>
            <a:ext cx="82936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README . md</a:t>
            </a:r>
          </a:p>
        </p:txBody>
      </p:sp>
      <p:sp>
        <p:nvSpPr>
          <p:cNvPr id="615" name="TextBox 615"/>
          <p:cNvSpPr txBox="1"/>
          <p:nvPr/>
        </p:nvSpPr>
        <p:spPr>
          <a:xfrm>
            <a:off x="1451392" y="4745934"/>
            <a:ext cx="134357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Comando de hace</a:t>
            </a:r>
          </a:p>
        </p:txBody>
      </p:sp>
      <p:sp>
        <p:nvSpPr>
          <p:cNvPr id="616" name="TextBox 616"/>
          <p:cNvSpPr txBox="1"/>
          <p:nvPr/>
        </p:nvSpPr>
        <p:spPr>
          <a:xfrm>
            <a:off x="3027189" y="4795630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Mes</a:t>
            </a:r>
          </a:p>
        </p:txBody>
      </p:sp>
      <p:sp>
        <p:nvSpPr>
          <p:cNvPr id="617" name="TextBox 617"/>
          <p:cNvSpPr txBox="1"/>
          <p:nvPr/>
        </p:nvSpPr>
        <p:spPr>
          <a:xfrm>
            <a:off x="1360161" y="4969565"/>
            <a:ext cx="6634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git log</a:t>
            </a:r>
          </a:p>
        </p:txBody>
      </p:sp>
      <p:sp>
        <p:nvSpPr>
          <p:cNvPr id="618" name="TextBox 618"/>
          <p:cNvSpPr txBox="1"/>
          <p:nvPr/>
        </p:nvSpPr>
        <p:spPr>
          <a:xfrm>
            <a:off x="2164647" y="4977847"/>
            <a:ext cx="71325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~oneline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8" name="Picture 18" descr="slide-25.svg"/>
          <p:cNvPicPr>
            <a:picLocks noChangeAspect="1"/>
          </p:cNvPicPr>
          <p:nvPr/>
        </p:nvPicPr>
        <p:blipFill>
          <a:blip r:embed="rIdImg1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19" name="TextBox 619"/>
          <p:cNvSpPr txBox="1"/>
          <p:nvPr/>
        </p:nvSpPr>
        <p:spPr>
          <a:xfrm>
            <a:off x="613731" y="496956"/>
            <a:ext cx="2612506" cy="55493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400" dirty="0"/>
              <a:t>statussearch</a:t>
            </a:r>
          </a:p>
        </p:txBody>
      </p:sp>
      <p:sp>
        <p:nvSpPr>
          <p:cNvPr id="620" name="TextBox 620"/>
          <p:cNvSpPr txBox="1"/>
          <p:nvPr/>
        </p:nvSpPr>
        <p:spPr>
          <a:xfrm>
            <a:off x="655199" y="1085021"/>
            <a:ext cx="3682389" cy="331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000" dirty="0"/>
              <a:t>Estado Git de multiples repositorios:</a:t>
            </a:r>
          </a:p>
        </p:txBody>
      </p:sp>
      <p:sp>
        <p:nvSpPr>
          <p:cNvPr id="621" name="TextBox 621"/>
          <p:cNvSpPr txBox="1"/>
          <p:nvPr/>
        </p:nvSpPr>
        <p:spPr>
          <a:xfrm>
            <a:off x="1285518" y="1962978"/>
            <a:ext cx="53079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function</a:t>
            </a:r>
          </a:p>
        </p:txBody>
      </p:sp>
      <p:sp>
        <p:nvSpPr>
          <p:cNvPr id="622" name="TextBox 622"/>
          <p:cNvSpPr txBox="1"/>
          <p:nvPr/>
        </p:nvSpPr>
        <p:spPr>
          <a:xfrm>
            <a:off x="1849488" y="1962978"/>
            <a:ext cx="76301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statussearch</a:t>
            </a:r>
          </a:p>
        </p:txBody>
      </p:sp>
      <p:sp>
        <p:nvSpPr>
          <p:cNvPr id="623" name="TextBox 623"/>
          <p:cNvSpPr txBox="1"/>
          <p:nvPr/>
        </p:nvSpPr>
        <p:spPr>
          <a:xfrm>
            <a:off x="6825690" y="1962978"/>
            <a:ext cx="56396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$find</a:t>
            </a:r>
          </a:p>
        </p:txBody>
      </p:sp>
      <p:sp>
        <p:nvSpPr>
          <p:cNvPr id="624" name="TextBox 624"/>
          <p:cNvSpPr txBox="1"/>
          <p:nvPr/>
        </p:nvSpPr>
        <p:spPr>
          <a:xfrm>
            <a:off x="7638470" y="1996108"/>
            <a:ext cx="44785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~name</a:t>
            </a:r>
          </a:p>
        </p:txBody>
      </p:sp>
      <p:sp>
        <p:nvSpPr>
          <p:cNvPr id="625" name="TextBox 625"/>
          <p:cNvSpPr txBox="1"/>
          <p:nvPr/>
        </p:nvSpPr>
        <p:spPr>
          <a:xfrm>
            <a:off x="8293670" y="1954695"/>
            <a:ext cx="39809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git"</a:t>
            </a:r>
          </a:p>
        </p:txBody>
      </p:sp>
      <p:sp>
        <p:nvSpPr>
          <p:cNvPr id="626" name="TextBox 626"/>
          <p:cNvSpPr txBox="1"/>
          <p:nvPr/>
        </p:nvSpPr>
        <p:spPr>
          <a:xfrm>
            <a:off x="8766409" y="1996108"/>
            <a:ext cx="44785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~type</a:t>
            </a:r>
          </a:p>
        </p:txBody>
      </p:sp>
      <p:sp>
        <p:nvSpPr>
          <p:cNvPr id="627" name="TextBox 627"/>
          <p:cNvSpPr txBox="1"/>
          <p:nvPr/>
        </p:nvSpPr>
        <p:spPr>
          <a:xfrm>
            <a:off x="1534328" y="2095500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28" name="TextBox 628"/>
          <p:cNvSpPr txBox="1"/>
          <p:nvPr/>
        </p:nvSpPr>
        <p:spPr>
          <a:xfrm>
            <a:off x="1965599" y="2112065"/>
            <a:ext cx="33174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Tepos</a:t>
            </a:r>
          </a:p>
        </p:txBody>
      </p:sp>
      <p:sp>
        <p:nvSpPr>
          <p:cNvPr id="629" name="TextBox 629"/>
          <p:cNvSpPr txBox="1"/>
          <p:nvPr/>
        </p:nvSpPr>
        <p:spPr>
          <a:xfrm>
            <a:off x="2413457" y="2095500"/>
            <a:ext cx="26539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find</a:t>
            </a:r>
          </a:p>
        </p:txBody>
      </p:sp>
      <p:sp>
        <p:nvSpPr>
          <p:cNvPr id="630" name="TextBox 630"/>
          <p:cNvSpPr txBox="1"/>
          <p:nvPr/>
        </p:nvSpPr>
        <p:spPr>
          <a:xfrm>
            <a:off x="2894490" y="2112065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name</a:t>
            </a:r>
          </a:p>
        </p:txBody>
      </p:sp>
      <p:sp>
        <p:nvSpPr>
          <p:cNvPr id="631" name="TextBox 631"/>
          <p:cNvSpPr txBox="1"/>
          <p:nvPr/>
        </p:nvSpPr>
        <p:spPr>
          <a:xfrm>
            <a:off x="3325761" y="2095500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git"</a:t>
            </a:r>
          </a:p>
        </p:txBody>
      </p:sp>
      <p:sp>
        <p:nvSpPr>
          <p:cNvPr id="632" name="TextBox 632"/>
          <p:cNvSpPr txBox="1"/>
          <p:nvPr/>
        </p:nvSpPr>
        <p:spPr>
          <a:xfrm>
            <a:off x="3707270" y="2112065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type</a:t>
            </a:r>
          </a:p>
        </p:txBody>
      </p:sp>
      <p:sp>
        <p:nvSpPr>
          <p:cNvPr id="633" name="TextBox 633"/>
          <p:cNvSpPr txBox="1"/>
          <p:nvPr/>
        </p:nvSpPr>
        <p:spPr>
          <a:xfrm>
            <a:off x="1534328" y="2244586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for</a:t>
            </a:r>
          </a:p>
        </p:txBody>
      </p:sp>
      <p:sp>
        <p:nvSpPr>
          <p:cNvPr id="634" name="TextBox 634"/>
          <p:cNvSpPr txBox="1"/>
          <p:nvPr/>
        </p:nvSpPr>
        <p:spPr>
          <a:xfrm>
            <a:off x="1783139" y="2261152"/>
            <a:ext cx="265397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repo</a:t>
            </a:r>
          </a:p>
        </p:txBody>
      </p:sp>
      <p:sp>
        <p:nvSpPr>
          <p:cNvPr id="635" name="TextBox 635"/>
          <p:cNvSpPr txBox="1"/>
          <p:nvPr/>
        </p:nvSpPr>
        <p:spPr>
          <a:xfrm>
            <a:off x="6900333" y="2186608"/>
            <a:ext cx="101182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Trepol/  git</a:t>
            </a:r>
          </a:p>
        </p:txBody>
      </p:sp>
      <p:sp>
        <p:nvSpPr>
          <p:cNvPr id="636" name="TextBox 636"/>
          <p:cNvSpPr txBox="1"/>
          <p:nvPr/>
        </p:nvSpPr>
        <p:spPr>
          <a:xfrm>
            <a:off x="1783139" y="2393673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37" name="TextBox 637"/>
          <p:cNvSpPr txBox="1"/>
          <p:nvPr/>
        </p:nvSpPr>
        <p:spPr>
          <a:xfrm>
            <a:off x="2214409" y="2393673"/>
            <a:ext cx="39809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parent</a:t>
            </a:r>
          </a:p>
        </p:txBody>
      </p:sp>
      <p:sp>
        <p:nvSpPr>
          <p:cNvPr id="638" name="TextBox 638"/>
          <p:cNvSpPr txBox="1"/>
          <p:nvPr/>
        </p:nvSpPr>
        <p:spPr>
          <a:xfrm>
            <a:off x="2662268" y="2377108"/>
            <a:ext cx="51420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(dirname</a:t>
            </a:r>
          </a:p>
        </p:txBody>
      </p:sp>
      <p:sp>
        <p:nvSpPr>
          <p:cNvPr id="639" name="TextBox 639"/>
          <p:cNvSpPr txBox="1"/>
          <p:nvPr/>
        </p:nvSpPr>
        <p:spPr>
          <a:xfrm>
            <a:off x="3209650" y="2377108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Srepo</a:t>
            </a:r>
          </a:p>
        </p:txBody>
      </p:sp>
      <p:sp>
        <p:nvSpPr>
          <p:cNvPr id="640" name="TextBox 640"/>
          <p:cNvSpPr txBox="1"/>
          <p:nvPr/>
        </p:nvSpPr>
        <p:spPr>
          <a:xfrm>
            <a:off x="1783139" y="2526195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641" name="TextBox 641"/>
          <p:cNvSpPr txBox="1"/>
          <p:nvPr/>
        </p:nvSpPr>
        <p:spPr>
          <a:xfrm>
            <a:off x="2347108" y="2509630"/>
            <a:ext cx="51420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Checking</a:t>
            </a:r>
          </a:p>
        </p:txBody>
      </p:sp>
      <p:sp>
        <p:nvSpPr>
          <p:cNvPr id="642" name="TextBox 642"/>
          <p:cNvSpPr txBox="1"/>
          <p:nvPr/>
        </p:nvSpPr>
        <p:spPr>
          <a:xfrm>
            <a:off x="2911078" y="2509630"/>
            <a:ext cx="44785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Sparent</a:t>
            </a:r>
          </a:p>
        </p:txBody>
      </p:sp>
      <p:sp>
        <p:nvSpPr>
          <p:cNvPr id="643" name="TextBox 643"/>
          <p:cNvSpPr txBox="1"/>
          <p:nvPr/>
        </p:nvSpPr>
        <p:spPr>
          <a:xfrm>
            <a:off x="6916920" y="2401956"/>
            <a:ext cx="99524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Irepo2/ .git</a:t>
            </a:r>
          </a:p>
        </p:txBody>
      </p:sp>
      <p:sp>
        <p:nvSpPr>
          <p:cNvPr id="644" name="TextBox 644"/>
          <p:cNvSpPr txBox="1"/>
          <p:nvPr/>
        </p:nvSpPr>
        <p:spPr>
          <a:xfrm>
            <a:off x="1783139" y="2658717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git</a:t>
            </a:r>
          </a:p>
        </p:txBody>
      </p:sp>
      <p:sp>
        <p:nvSpPr>
          <p:cNvPr id="645" name="TextBox 645"/>
          <p:cNvSpPr txBox="1"/>
          <p:nvPr/>
        </p:nvSpPr>
        <p:spPr>
          <a:xfrm>
            <a:off x="2214409" y="2658717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Sparent</a:t>
            </a:r>
          </a:p>
        </p:txBody>
      </p:sp>
      <p:sp>
        <p:nvSpPr>
          <p:cNvPr id="646" name="TextBox 646"/>
          <p:cNvSpPr txBox="1"/>
          <p:nvPr/>
        </p:nvSpPr>
        <p:spPr>
          <a:xfrm>
            <a:off x="2712030" y="2658717"/>
            <a:ext cx="34833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fetch</a:t>
            </a:r>
          </a:p>
        </p:txBody>
      </p:sp>
      <p:sp>
        <p:nvSpPr>
          <p:cNvPr id="647" name="TextBox 647"/>
          <p:cNvSpPr txBox="1"/>
          <p:nvPr/>
        </p:nvSpPr>
        <p:spPr>
          <a:xfrm>
            <a:off x="3209650" y="2658717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quiet</a:t>
            </a:r>
          </a:p>
        </p:txBody>
      </p:sp>
      <p:sp>
        <p:nvSpPr>
          <p:cNvPr id="648" name="TextBox 648"/>
          <p:cNvSpPr txBox="1"/>
          <p:nvPr/>
        </p:nvSpPr>
        <p:spPr>
          <a:xfrm>
            <a:off x="6892039" y="2609021"/>
            <a:ext cx="1020121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Irepo3/ git</a:t>
            </a:r>
          </a:p>
        </p:txBody>
      </p:sp>
      <p:sp>
        <p:nvSpPr>
          <p:cNvPr id="649" name="TextBox 649"/>
          <p:cNvSpPr txBox="1"/>
          <p:nvPr/>
        </p:nvSpPr>
        <p:spPr>
          <a:xfrm>
            <a:off x="1766551" y="2807804"/>
            <a:ext cx="29857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Mait</a:t>
            </a:r>
          </a:p>
        </p:txBody>
      </p:sp>
      <p:sp>
        <p:nvSpPr>
          <p:cNvPr id="650" name="TextBox 650"/>
          <p:cNvSpPr txBox="1"/>
          <p:nvPr/>
        </p:nvSpPr>
        <p:spPr>
          <a:xfrm>
            <a:off x="1783139" y="2940326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651" name="TextBox 651"/>
          <p:cNvSpPr txBox="1"/>
          <p:nvPr/>
        </p:nvSpPr>
        <p:spPr>
          <a:xfrm>
            <a:off x="1783139" y="3089413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52" name="TextBox 652"/>
          <p:cNvSpPr txBox="1"/>
          <p:nvPr/>
        </p:nvSpPr>
        <p:spPr>
          <a:xfrm>
            <a:off x="2214409" y="3072847"/>
            <a:ext cx="64690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dinfo (git</a:t>
            </a:r>
          </a:p>
        </p:txBody>
      </p:sp>
      <p:sp>
        <p:nvSpPr>
          <p:cNvPr id="653" name="TextBox 653"/>
          <p:cNvSpPr txBox="1"/>
          <p:nvPr/>
        </p:nvSpPr>
        <p:spPr>
          <a:xfrm>
            <a:off x="3093538" y="3072847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Sparent</a:t>
            </a:r>
          </a:p>
        </p:txBody>
      </p:sp>
      <p:sp>
        <p:nvSpPr>
          <p:cNvPr id="654" name="TextBox 654"/>
          <p:cNvSpPr txBox="1"/>
          <p:nvPr/>
        </p:nvSpPr>
        <p:spPr>
          <a:xfrm>
            <a:off x="3591159" y="3089413"/>
            <a:ext cx="39809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status</a:t>
            </a:r>
          </a:p>
        </p:txBody>
      </p:sp>
      <p:sp>
        <p:nvSpPr>
          <p:cNvPr id="655" name="TextBox 655"/>
          <p:cNvSpPr txBox="1"/>
          <p:nvPr/>
        </p:nvSpPr>
        <p:spPr>
          <a:xfrm>
            <a:off x="4138541" y="3072847"/>
            <a:ext cx="64690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porceliin)</a:t>
            </a:r>
          </a:p>
        </p:txBody>
      </p:sp>
      <p:sp>
        <p:nvSpPr>
          <p:cNvPr id="656" name="TextBox 656"/>
          <p:cNvSpPr txBox="1"/>
          <p:nvPr/>
        </p:nvSpPr>
        <p:spPr>
          <a:xfrm>
            <a:off x="6585174" y="3081130"/>
            <a:ext cx="663493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fetch</a:t>
            </a:r>
          </a:p>
        </p:txBody>
      </p:sp>
      <p:sp>
        <p:nvSpPr>
          <p:cNvPr id="657" name="TextBox 657"/>
          <p:cNvSpPr txBox="1"/>
          <p:nvPr/>
        </p:nvSpPr>
        <p:spPr>
          <a:xfrm>
            <a:off x="7555533" y="3064565"/>
            <a:ext cx="671787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quiet</a:t>
            </a:r>
          </a:p>
        </p:txBody>
      </p:sp>
      <p:sp>
        <p:nvSpPr>
          <p:cNvPr id="658" name="TextBox 658"/>
          <p:cNvSpPr txBox="1"/>
          <p:nvPr/>
        </p:nvSpPr>
        <p:spPr>
          <a:xfrm>
            <a:off x="8393194" y="3064565"/>
            <a:ext cx="2421751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para no saturar la salida</a:t>
            </a:r>
          </a:p>
        </p:txBody>
      </p:sp>
      <p:sp>
        <p:nvSpPr>
          <p:cNvPr id="659" name="TextBox 659"/>
          <p:cNvSpPr txBox="1"/>
          <p:nvPr/>
        </p:nvSpPr>
        <p:spPr>
          <a:xfrm>
            <a:off x="1783139" y="3238500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60" name="TextBox 660"/>
          <p:cNvSpPr txBox="1"/>
          <p:nvPr/>
        </p:nvSpPr>
        <p:spPr>
          <a:xfrm>
            <a:off x="2214409" y="3221934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branch</a:t>
            </a:r>
          </a:p>
        </p:txBody>
      </p:sp>
      <p:sp>
        <p:nvSpPr>
          <p:cNvPr id="661" name="TextBox 661"/>
          <p:cNvSpPr txBox="1"/>
          <p:nvPr/>
        </p:nvSpPr>
        <p:spPr>
          <a:xfrm>
            <a:off x="2645680" y="3221934"/>
            <a:ext cx="59714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info (git</a:t>
            </a:r>
          </a:p>
        </p:txBody>
      </p:sp>
      <p:sp>
        <p:nvSpPr>
          <p:cNvPr id="662" name="TextBox 662"/>
          <p:cNvSpPr txBox="1"/>
          <p:nvPr/>
        </p:nvSpPr>
        <p:spPr>
          <a:xfrm>
            <a:off x="3450166" y="3213652"/>
            <a:ext cx="472739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Sparent</a:t>
            </a:r>
          </a:p>
        </p:txBody>
      </p:sp>
      <p:sp>
        <p:nvSpPr>
          <p:cNvPr id="663" name="TextBox 663"/>
          <p:cNvSpPr txBox="1"/>
          <p:nvPr/>
        </p:nvSpPr>
        <p:spPr>
          <a:xfrm>
            <a:off x="3956080" y="3238500"/>
            <a:ext cx="39809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status</a:t>
            </a:r>
          </a:p>
        </p:txBody>
      </p:sp>
      <p:sp>
        <p:nvSpPr>
          <p:cNvPr id="664" name="TextBox 664"/>
          <p:cNvSpPr txBox="1"/>
          <p:nvPr/>
        </p:nvSpPr>
        <p:spPr>
          <a:xfrm>
            <a:off x="4453700" y="3221934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sb)</a:t>
            </a:r>
          </a:p>
        </p:txBody>
      </p:sp>
      <p:sp>
        <p:nvSpPr>
          <p:cNvPr id="665" name="TextBox 665"/>
          <p:cNvSpPr txBox="1"/>
          <p:nvPr/>
        </p:nvSpPr>
        <p:spPr>
          <a:xfrm>
            <a:off x="1965599" y="3371021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test</a:t>
            </a:r>
          </a:p>
        </p:txBody>
      </p:sp>
      <p:sp>
        <p:nvSpPr>
          <p:cNvPr id="666" name="TextBox 666"/>
          <p:cNvSpPr txBox="1"/>
          <p:nvPr/>
        </p:nvSpPr>
        <p:spPr>
          <a:xfrm>
            <a:off x="2595918" y="3354456"/>
            <a:ext cx="381508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dinfo"</a:t>
            </a:r>
          </a:p>
        </p:txBody>
      </p:sp>
      <p:sp>
        <p:nvSpPr>
          <p:cNvPr id="667" name="TextBox 667"/>
          <p:cNvSpPr txBox="1"/>
          <p:nvPr/>
        </p:nvSpPr>
        <p:spPr>
          <a:xfrm>
            <a:off x="2031949" y="3503543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68" name="TextBox 668"/>
          <p:cNvSpPr txBox="1"/>
          <p:nvPr/>
        </p:nvSpPr>
        <p:spPr>
          <a:xfrm>
            <a:off x="2280759" y="3503543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669" name="TextBox 669"/>
          <p:cNvSpPr txBox="1"/>
          <p:nvPr/>
        </p:nvSpPr>
        <p:spPr>
          <a:xfrm>
            <a:off x="2778379" y="3503543"/>
            <a:ext cx="71325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bold yellom</a:t>
            </a:r>
          </a:p>
        </p:txBody>
      </p:sp>
      <p:sp>
        <p:nvSpPr>
          <p:cNvPr id="670" name="TextBox 670"/>
          <p:cNvSpPr txBox="1"/>
          <p:nvPr/>
        </p:nvSpPr>
        <p:spPr>
          <a:xfrm>
            <a:off x="6576880" y="3495260"/>
            <a:ext cx="787898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status</a:t>
            </a:r>
          </a:p>
        </p:txBody>
      </p:sp>
      <p:sp>
        <p:nvSpPr>
          <p:cNvPr id="671" name="TextBox 671"/>
          <p:cNvSpPr txBox="1"/>
          <p:nvPr/>
        </p:nvSpPr>
        <p:spPr>
          <a:xfrm>
            <a:off x="7663351" y="3462130"/>
            <a:ext cx="3524809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porcelain para detectar cambios</a:t>
            </a:r>
          </a:p>
        </p:txBody>
      </p:sp>
      <p:sp>
        <p:nvSpPr>
          <p:cNvPr id="672" name="TextBox 672"/>
          <p:cNvSpPr txBox="1"/>
          <p:nvPr/>
        </p:nvSpPr>
        <p:spPr>
          <a:xfrm>
            <a:off x="2031949" y="3636065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673" name="TextBox 673"/>
          <p:cNvSpPr txBox="1"/>
          <p:nvPr/>
        </p:nvSpPr>
        <p:spPr>
          <a:xfrm>
            <a:off x="2579331" y="3636065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#parent</a:t>
            </a:r>
          </a:p>
        </p:txBody>
      </p:sp>
      <p:sp>
        <p:nvSpPr>
          <p:cNvPr id="674" name="TextBox 674"/>
          <p:cNvSpPr txBox="1"/>
          <p:nvPr/>
        </p:nvSpPr>
        <p:spPr>
          <a:xfrm>
            <a:off x="3076951" y="3636065"/>
            <a:ext cx="51420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(Canbios</a:t>
            </a:r>
          </a:p>
        </p:txBody>
      </p:sp>
      <p:sp>
        <p:nvSpPr>
          <p:cNvPr id="675" name="TextBox 675"/>
          <p:cNvSpPr txBox="1"/>
          <p:nvPr/>
        </p:nvSpPr>
        <p:spPr>
          <a:xfrm>
            <a:off x="3640921" y="3636065"/>
            <a:ext cx="58055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Locales)"</a:t>
            </a:r>
          </a:p>
        </p:txBody>
      </p:sp>
      <p:sp>
        <p:nvSpPr>
          <p:cNvPr id="676" name="TextBox 676"/>
          <p:cNvSpPr txBox="1"/>
          <p:nvPr/>
        </p:nvSpPr>
        <p:spPr>
          <a:xfrm>
            <a:off x="2031949" y="3801717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77" name="TextBox 677"/>
          <p:cNvSpPr txBox="1"/>
          <p:nvPr/>
        </p:nvSpPr>
        <p:spPr>
          <a:xfrm>
            <a:off x="2280759" y="3785152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678" name="TextBox 678"/>
          <p:cNvSpPr txBox="1"/>
          <p:nvPr/>
        </p:nvSpPr>
        <p:spPr>
          <a:xfrm>
            <a:off x="2645680" y="3785152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normal</a:t>
            </a:r>
          </a:p>
        </p:txBody>
      </p:sp>
      <p:sp>
        <p:nvSpPr>
          <p:cNvPr id="679" name="TextBox 679"/>
          <p:cNvSpPr txBox="1"/>
          <p:nvPr/>
        </p:nvSpPr>
        <p:spPr>
          <a:xfrm>
            <a:off x="2031949" y="3917673"/>
            <a:ext cx="215635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git</a:t>
            </a:r>
          </a:p>
        </p:txBody>
      </p:sp>
      <p:sp>
        <p:nvSpPr>
          <p:cNvPr id="680" name="TextBox 680"/>
          <p:cNvSpPr txBox="1"/>
          <p:nvPr/>
        </p:nvSpPr>
        <p:spPr>
          <a:xfrm>
            <a:off x="2454926" y="3909391"/>
            <a:ext cx="472739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Sparent</a:t>
            </a:r>
          </a:p>
        </p:txBody>
      </p:sp>
      <p:sp>
        <p:nvSpPr>
          <p:cNvPr id="681" name="TextBox 681"/>
          <p:cNvSpPr txBox="1"/>
          <p:nvPr/>
        </p:nvSpPr>
        <p:spPr>
          <a:xfrm>
            <a:off x="2960840" y="3934239"/>
            <a:ext cx="39809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status</a:t>
            </a:r>
          </a:p>
        </p:txBody>
      </p:sp>
      <p:sp>
        <p:nvSpPr>
          <p:cNvPr id="682" name="TextBox 682"/>
          <p:cNvSpPr txBox="1"/>
          <p:nvPr/>
        </p:nvSpPr>
        <p:spPr>
          <a:xfrm>
            <a:off x="6502237" y="3892826"/>
            <a:ext cx="729842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locales</a:t>
            </a:r>
          </a:p>
        </p:txBody>
      </p:sp>
      <p:sp>
        <p:nvSpPr>
          <p:cNvPr id="683" name="TextBox 683"/>
          <p:cNvSpPr txBox="1"/>
          <p:nvPr/>
        </p:nvSpPr>
        <p:spPr>
          <a:xfrm>
            <a:off x="2031949" y="4066760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684" name="TextBox 684"/>
          <p:cNvSpPr txBox="1"/>
          <p:nvPr/>
        </p:nvSpPr>
        <p:spPr>
          <a:xfrm>
            <a:off x="1783139" y="4215847"/>
            <a:ext cx="265397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else</a:t>
            </a:r>
          </a:p>
        </p:txBody>
      </p:sp>
      <p:sp>
        <p:nvSpPr>
          <p:cNvPr id="685" name="TextBox 685"/>
          <p:cNvSpPr txBox="1"/>
          <p:nvPr/>
        </p:nvSpPr>
        <p:spPr>
          <a:xfrm>
            <a:off x="2280759" y="4215847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string</a:t>
            </a:r>
          </a:p>
        </p:txBody>
      </p:sp>
      <p:sp>
        <p:nvSpPr>
          <p:cNvPr id="686" name="TextBox 686"/>
          <p:cNvSpPr txBox="1"/>
          <p:nvPr/>
        </p:nvSpPr>
        <p:spPr>
          <a:xfrm>
            <a:off x="2712030" y="4215847"/>
            <a:ext cx="34833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match</a:t>
            </a:r>
          </a:p>
        </p:txBody>
      </p:sp>
      <p:sp>
        <p:nvSpPr>
          <p:cNvPr id="687" name="TextBox 687"/>
          <p:cNvSpPr txBox="1"/>
          <p:nvPr/>
        </p:nvSpPr>
        <p:spPr>
          <a:xfrm>
            <a:off x="3342349" y="4199282"/>
            <a:ext cx="58055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~behind""</a:t>
            </a:r>
          </a:p>
        </p:txBody>
      </p:sp>
      <p:sp>
        <p:nvSpPr>
          <p:cNvPr id="688" name="TextBox 688"/>
          <p:cNvSpPr txBox="1"/>
          <p:nvPr/>
        </p:nvSpPr>
        <p:spPr>
          <a:xfrm>
            <a:off x="4022429" y="4199282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Sbranch</a:t>
            </a:r>
          </a:p>
        </p:txBody>
      </p:sp>
      <p:sp>
        <p:nvSpPr>
          <p:cNvPr id="689" name="TextBox 689"/>
          <p:cNvSpPr txBox="1"/>
          <p:nvPr/>
        </p:nvSpPr>
        <p:spPr>
          <a:xfrm>
            <a:off x="4520050" y="4199282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info</a:t>
            </a:r>
          </a:p>
        </p:txBody>
      </p:sp>
      <p:sp>
        <p:nvSpPr>
          <p:cNvPr id="690" name="TextBox 690"/>
          <p:cNvSpPr txBox="1"/>
          <p:nvPr/>
        </p:nvSpPr>
        <p:spPr>
          <a:xfrm>
            <a:off x="2031949" y="4348369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691" name="TextBox 691"/>
          <p:cNvSpPr txBox="1"/>
          <p:nvPr/>
        </p:nvSpPr>
        <p:spPr>
          <a:xfrm>
            <a:off x="2280759" y="4348369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692" name="TextBox 692"/>
          <p:cNvSpPr txBox="1"/>
          <p:nvPr/>
        </p:nvSpPr>
        <p:spPr>
          <a:xfrm>
            <a:off x="2778379" y="4348369"/>
            <a:ext cx="76301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bold magenta</a:t>
            </a:r>
          </a:p>
        </p:txBody>
      </p:sp>
      <p:sp>
        <p:nvSpPr>
          <p:cNvPr id="693" name="TextBox 693"/>
          <p:cNvSpPr txBox="1"/>
          <p:nvPr/>
        </p:nvSpPr>
        <p:spPr>
          <a:xfrm>
            <a:off x="6585174" y="4323521"/>
            <a:ext cx="77960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status</a:t>
            </a:r>
          </a:p>
        </p:txBody>
      </p:sp>
      <p:sp>
        <p:nvSpPr>
          <p:cNvPr id="694" name="TextBox 694"/>
          <p:cNvSpPr txBox="1"/>
          <p:nvPr/>
        </p:nvSpPr>
        <p:spPr>
          <a:xfrm>
            <a:off x="7580414" y="4323521"/>
            <a:ext cx="28198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sb</a:t>
            </a:r>
          </a:p>
        </p:txBody>
      </p:sp>
      <p:sp>
        <p:nvSpPr>
          <p:cNvPr id="695" name="TextBox 695"/>
          <p:cNvSpPr txBox="1"/>
          <p:nvPr/>
        </p:nvSpPr>
        <p:spPr>
          <a:xfrm>
            <a:off x="7945335" y="4282108"/>
            <a:ext cx="3358936" cy="2733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700" dirty="0"/>
              <a:t>para ver si estamos behind/ahead</a:t>
            </a:r>
          </a:p>
        </p:txBody>
      </p:sp>
      <p:sp>
        <p:nvSpPr>
          <p:cNvPr id="696" name="TextBox 696"/>
          <p:cNvSpPr txBox="1"/>
          <p:nvPr/>
        </p:nvSpPr>
        <p:spPr>
          <a:xfrm>
            <a:off x="2031949" y="4480891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697" name="TextBox 697"/>
          <p:cNvSpPr txBox="1"/>
          <p:nvPr/>
        </p:nvSpPr>
        <p:spPr>
          <a:xfrm>
            <a:off x="2629093" y="4480891"/>
            <a:ext cx="414683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Patent</a:t>
            </a:r>
          </a:p>
        </p:txBody>
      </p:sp>
      <p:sp>
        <p:nvSpPr>
          <p:cNvPr id="698" name="TextBox 698"/>
          <p:cNvSpPr txBox="1"/>
          <p:nvPr/>
        </p:nvSpPr>
        <p:spPr>
          <a:xfrm>
            <a:off x="3076951" y="4480891"/>
            <a:ext cx="64690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(Pendiente</a:t>
            </a:r>
          </a:p>
        </p:txBody>
      </p:sp>
      <p:sp>
        <p:nvSpPr>
          <p:cNvPr id="699" name="TextBox 699"/>
          <p:cNvSpPr txBox="1"/>
          <p:nvPr/>
        </p:nvSpPr>
        <p:spPr>
          <a:xfrm>
            <a:off x="3939493" y="4480891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PULL</a:t>
            </a:r>
          </a:p>
        </p:txBody>
      </p:sp>
      <p:sp>
        <p:nvSpPr>
          <p:cNvPr id="700" name="TextBox 700"/>
          <p:cNvSpPr txBox="1"/>
          <p:nvPr/>
        </p:nvSpPr>
        <p:spPr>
          <a:xfrm>
            <a:off x="4370764" y="4480891"/>
            <a:ext cx="232222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Hay</a:t>
            </a:r>
          </a:p>
        </p:txBody>
      </p:sp>
      <p:sp>
        <p:nvSpPr>
          <p:cNvPr id="701" name="TextBox 701"/>
          <p:cNvSpPr txBox="1"/>
          <p:nvPr/>
        </p:nvSpPr>
        <p:spPr>
          <a:xfrm>
            <a:off x="4636161" y="4480891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canbios</a:t>
            </a:r>
          </a:p>
        </p:txBody>
      </p:sp>
      <p:sp>
        <p:nvSpPr>
          <p:cNvPr id="702" name="TextBox 702"/>
          <p:cNvSpPr txBox="1"/>
          <p:nvPr/>
        </p:nvSpPr>
        <p:spPr>
          <a:xfrm>
            <a:off x="5316242" y="4480891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GitHub)</a:t>
            </a:r>
          </a:p>
        </p:txBody>
      </p:sp>
      <p:sp>
        <p:nvSpPr>
          <p:cNvPr id="703" name="TextBox 703"/>
          <p:cNvSpPr txBox="1"/>
          <p:nvPr/>
        </p:nvSpPr>
        <p:spPr>
          <a:xfrm>
            <a:off x="2031949" y="4629978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704" name="TextBox 704"/>
          <p:cNvSpPr txBox="1"/>
          <p:nvPr/>
        </p:nvSpPr>
        <p:spPr>
          <a:xfrm>
            <a:off x="2280759" y="4613413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705" name="TextBox 705"/>
          <p:cNvSpPr txBox="1"/>
          <p:nvPr/>
        </p:nvSpPr>
        <p:spPr>
          <a:xfrm>
            <a:off x="2645680" y="4613413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normal</a:t>
            </a:r>
          </a:p>
        </p:txBody>
      </p:sp>
      <p:sp>
        <p:nvSpPr>
          <p:cNvPr id="706" name="TextBox 706"/>
          <p:cNvSpPr txBox="1"/>
          <p:nvPr/>
        </p:nvSpPr>
        <p:spPr>
          <a:xfrm>
            <a:off x="2031949" y="4762500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707" name="TextBox 707"/>
          <p:cNvSpPr txBox="1"/>
          <p:nvPr/>
        </p:nvSpPr>
        <p:spPr>
          <a:xfrm>
            <a:off x="6502237" y="4704521"/>
            <a:ext cx="1144526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del remoto_</a:t>
            </a:r>
          </a:p>
        </p:txBody>
      </p:sp>
      <p:sp>
        <p:nvSpPr>
          <p:cNvPr id="708" name="TextBox 708"/>
          <p:cNvSpPr txBox="1"/>
          <p:nvPr/>
        </p:nvSpPr>
        <p:spPr>
          <a:xfrm>
            <a:off x="2280759" y="4911586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string</a:t>
            </a:r>
          </a:p>
        </p:txBody>
      </p:sp>
      <p:sp>
        <p:nvSpPr>
          <p:cNvPr id="709" name="TextBox 709"/>
          <p:cNvSpPr txBox="1"/>
          <p:nvPr/>
        </p:nvSpPr>
        <p:spPr>
          <a:xfrm>
            <a:off x="2712030" y="4911586"/>
            <a:ext cx="34833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match</a:t>
            </a:r>
          </a:p>
        </p:txBody>
      </p:sp>
      <p:sp>
        <p:nvSpPr>
          <p:cNvPr id="710" name="TextBox 710"/>
          <p:cNvSpPr txBox="1"/>
          <p:nvPr/>
        </p:nvSpPr>
        <p:spPr>
          <a:xfrm>
            <a:off x="3956080" y="4895021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Sbranch</a:t>
            </a:r>
          </a:p>
        </p:txBody>
      </p:sp>
      <p:sp>
        <p:nvSpPr>
          <p:cNvPr id="711" name="TextBox 711"/>
          <p:cNvSpPr txBox="1"/>
          <p:nvPr/>
        </p:nvSpPr>
        <p:spPr>
          <a:xfrm>
            <a:off x="4453700" y="4895021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info"</a:t>
            </a:r>
          </a:p>
        </p:txBody>
      </p:sp>
      <p:sp>
        <p:nvSpPr>
          <p:cNvPr id="712" name="TextBox 712"/>
          <p:cNvSpPr txBox="1"/>
          <p:nvPr/>
        </p:nvSpPr>
        <p:spPr>
          <a:xfrm>
            <a:off x="2031949" y="5044108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713" name="TextBox 713"/>
          <p:cNvSpPr txBox="1"/>
          <p:nvPr/>
        </p:nvSpPr>
        <p:spPr>
          <a:xfrm>
            <a:off x="2280759" y="5044108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714" name="TextBox 714"/>
          <p:cNvSpPr txBox="1"/>
          <p:nvPr/>
        </p:nvSpPr>
        <p:spPr>
          <a:xfrm>
            <a:off x="2778379" y="5044108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bold</a:t>
            </a:r>
          </a:p>
        </p:txBody>
      </p:sp>
      <p:sp>
        <p:nvSpPr>
          <p:cNvPr id="715" name="TextBox 715"/>
          <p:cNvSpPr txBox="1"/>
          <p:nvPr/>
        </p:nvSpPr>
        <p:spPr>
          <a:xfrm>
            <a:off x="3093538" y="5044108"/>
            <a:ext cx="26539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cyan</a:t>
            </a:r>
          </a:p>
        </p:txBody>
      </p:sp>
      <p:sp>
        <p:nvSpPr>
          <p:cNvPr id="716" name="TextBox 716"/>
          <p:cNvSpPr txBox="1"/>
          <p:nvPr/>
        </p:nvSpPr>
        <p:spPr>
          <a:xfrm>
            <a:off x="2031949" y="5176630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717" name="TextBox 717"/>
          <p:cNvSpPr txBox="1"/>
          <p:nvPr/>
        </p:nvSpPr>
        <p:spPr>
          <a:xfrm>
            <a:off x="2629093" y="5176630"/>
            <a:ext cx="414683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Patent</a:t>
            </a:r>
          </a:p>
        </p:txBody>
      </p:sp>
      <p:sp>
        <p:nvSpPr>
          <p:cNvPr id="718" name="TextBox 718"/>
          <p:cNvSpPr txBox="1"/>
          <p:nvPr/>
        </p:nvSpPr>
        <p:spPr>
          <a:xfrm>
            <a:off x="3076951" y="5176630"/>
            <a:ext cx="64690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(Pendiente</a:t>
            </a:r>
          </a:p>
        </p:txBody>
      </p:sp>
      <p:sp>
        <p:nvSpPr>
          <p:cNvPr id="719" name="TextBox 719"/>
          <p:cNvSpPr txBox="1"/>
          <p:nvPr/>
        </p:nvSpPr>
        <p:spPr>
          <a:xfrm>
            <a:off x="3939493" y="5176630"/>
            <a:ext cx="34833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PUSH)</a:t>
            </a:r>
          </a:p>
        </p:txBody>
      </p:sp>
      <p:sp>
        <p:nvSpPr>
          <p:cNvPr id="720" name="TextBox 720"/>
          <p:cNvSpPr txBox="1"/>
          <p:nvPr/>
        </p:nvSpPr>
        <p:spPr>
          <a:xfrm>
            <a:off x="2031949" y="5342282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721" name="TextBox 721"/>
          <p:cNvSpPr txBox="1"/>
          <p:nvPr/>
        </p:nvSpPr>
        <p:spPr>
          <a:xfrm>
            <a:off x="2280759" y="5325717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722" name="TextBox 722"/>
          <p:cNvSpPr txBox="1"/>
          <p:nvPr/>
        </p:nvSpPr>
        <p:spPr>
          <a:xfrm>
            <a:off x="2645680" y="5325717"/>
            <a:ext cx="39809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normal</a:t>
            </a:r>
          </a:p>
        </p:txBody>
      </p:sp>
      <p:sp>
        <p:nvSpPr>
          <p:cNvPr id="723" name="TextBox 723"/>
          <p:cNvSpPr txBox="1"/>
          <p:nvPr/>
        </p:nvSpPr>
        <p:spPr>
          <a:xfrm>
            <a:off x="2031949" y="5474804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724" name="TextBox 724"/>
          <p:cNvSpPr txBox="1"/>
          <p:nvPr/>
        </p:nvSpPr>
        <p:spPr>
          <a:xfrm>
            <a:off x="2031949" y="5756413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725" name="TextBox 725"/>
          <p:cNvSpPr txBox="1"/>
          <p:nvPr/>
        </p:nvSpPr>
        <p:spPr>
          <a:xfrm>
            <a:off x="2280759" y="5756413"/>
            <a:ext cx="331746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</a:t>
            </a:r>
          </a:p>
        </p:txBody>
      </p:sp>
      <p:sp>
        <p:nvSpPr>
          <p:cNvPr id="726" name="TextBox 726"/>
          <p:cNvSpPr txBox="1"/>
          <p:nvPr/>
        </p:nvSpPr>
        <p:spPr>
          <a:xfrm>
            <a:off x="2645680" y="5756413"/>
            <a:ext cx="281984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grey</a:t>
            </a:r>
          </a:p>
        </p:txBody>
      </p:sp>
      <p:sp>
        <p:nvSpPr>
          <p:cNvPr id="727" name="TextBox 727"/>
          <p:cNvSpPr txBox="1"/>
          <p:nvPr/>
        </p:nvSpPr>
        <p:spPr>
          <a:xfrm>
            <a:off x="2031949" y="5888934"/>
            <a:ext cx="281984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echo</a:t>
            </a:r>
          </a:p>
        </p:txBody>
      </p:sp>
      <p:sp>
        <p:nvSpPr>
          <p:cNvPr id="728" name="TextBox 728"/>
          <p:cNvSpPr txBox="1"/>
          <p:nvPr/>
        </p:nvSpPr>
        <p:spPr>
          <a:xfrm>
            <a:off x="2529569" y="5888934"/>
            <a:ext cx="46444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pparent</a:t>
            </a:r>
          </a:p>
        </p:txBody>
      </p:sp>
      <p:sp>
        <p:nvSpPr>
          <p:cNvPr id="729" name="TextBox 729"/>
          <p:cNvSpPr txBox="1"/>
          <p:nvPr/>
        </p:nvSpPr>
        <p:spPr>
          <a:xfrm>
            <a:off x="2031949" y="6021456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set</a:t>
            </a:r>
          </a:p>
        </p:txBody>
      </p:sp>
      <p:sp>
        <p:nvSpPr>
          <p:cNvPr id="730" name="TextBox 730"/>
          <p:cNvSpPr txBox="1"/>
          <p:nvPr/>
        </p:nvSpPr>
        <p:spPr>
          <a:xfrm>
            <a:off x="2280759" y="6013173"/>
            <a:ext cx="746430" cy="1242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color normal</a:t>
            </a:r>
          </a:p>
        </p:txBody>
      </p:sp>
      <p:sp>
        <p:nvSpPr>
          <p:cNvPr id="731" name="TextBox 731"/>
          <p:cNvSpPr txBox="1"/>
          <p:nvPr/>
        </p:nvSpPr>
        <p:spPr>
          <a:xfrm>
            <a:off x="1783139" y="6153978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732" name="TextBox 732"/>
          <p:cNvSpPr txBox="1"/>
          <p:nvPr/>
        </p:nvSpPr>
        <p:spPr>
          <a:xfrm>
            <a:off x="1534328" y="6303065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733" name="TextBox 733"/>
          <p:cNvSpPr txBox="1"/>
          <p:nvPr/>
        </p:nvSpPr>
        <p:spPr>
          <a:xfrm>
            <a:off x="1285518" y="6452152"/>
            <a:ext cx="215635" cy="9939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9" name="Picture 19" descr="slide-26.svg"/>
          <p:cNvPicPr>
            <a:picLocks noChangeAspect="1"/>
          </p:cNvPicPr>
          <p:nvPr/>
        </p:nvPicPr>
        <p:blipFill>
          <a:blip r:embed="rIdImg1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34" name="TextBox 734"/>
          <p:cNvSpPr txBox="1"/>
          <p:nvPr/>
        </p:nvSpPr>
        <p:spPr>
          <a:xfrm>
            <a:off x="613731" y="496956"/>
            <a:ext cx="6386125" cy="612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800" dirty="0"/>
              <a:t>statussearch: Salida de ejemplo</a:t>
            </a:r>
          </a:p>
        </p:txBody>
      </p:sp>
      <p:sp>
        <p:nvSpPr>
          <p:cNvPr id="735" name="TextBox 735"/>
          <p:cNvSpPr txBox="1"/>
          <p:nvPr/>
        </p:nvSpPr>
        <p:spPr>
          <a:xfrm>
            <a:off x="1210875" y="1408043"/>
            <a:ext cx="1227463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/000_42Repos</a:t>
            </a:r>
          </a:p>
        </p:txBody>
      </p:sp>
      <p:sp>
        <p:nvSpPr>
          <p:cNvPr id="736" name="TextBox 736"/>
          <p:cNvSpPr txBox="1"/>
          <p:nvPr/>
        </p:nvSpPr>
        <p:spPr>
          <a:xfrm>
            <a:off x="2488101" y="1408043"/>
            <a:ext cx="213976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Current /Minishell-dev</a:t>
            </a:r>
          </a:p>
        </p:txBody>
      </p:sp>
      <p:sp>
        <p:nvSpPr>
          <p:cNvPr id="737" name="TextBox 737"/>
          <p:cNvSpPr txBox="1"/>
          <p:nvPr/>
        </p:nvSpPr>
        <p:spPr>
          <a:xfrm>
            <a:off x="1310399" y="1888434"/>
            <a:ext cx="4710804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/000_42Repos/Current/42Malaga (Cambios locales)</a:t>
            </a:r>
          </a:p>
        </p:txBody>
      </p:sp>
      <p:sp>
        <p:nvSpPr>
          <p:cNvPr id="738" name="TextBox 738"/>
          <p:cNvSpPr txBox="1"/>
          <p:nvPr/>
        </p:nvSpPr>
        <p:spPr>
          <a:xfrm>
            <a:off x="978653" y="2153478"/>
            <a:ext cx="454493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M Presentacion_Bash_Fish/Shells_42M/slides.md</a:t>
            </a:r>
          </a:p>
        </p:txBody>
      </p:sp>
      <p:sp>
        <p:nvSpPr>
          <p:cNvPr id="739" name="TextBox 739"/>
          <p:cNvSpPr txBox="1"/>
          <p:nvPr/>
        </p:nvSpPr>
        <p:spPr>
          <a:xfrm>
            <a:off x="1302106" y="2642152"/>
            <a:ext cx="3110126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Irepo_inventado/README_tutorial</a:t>
            </a:r>
          </a:p>
        </p:txBody>
      </p:sp>
      <p:sp>
        <p:nvSpPr>
          <p:cNvPr id="740" name="TextBox 740"/>
          <p:cNvSpPr txBox="1"/>
          <p:nvPr/>
        </p:nvSpPr>
        <p:spPr>
          <a:xfrm>
            <a:off x="4478581" y="2650434"/>
            <a:ext cx="104500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(Pendiente</a:t>
            </a:r>
          </a:p>
        </p:txBody>
      </p:sp>
      <p:sp>
        <p:nvSpPr>
          <p:cNvPr id="741" name="TextBox 741"/>
          <p:cNvSpPr txBox="1"/>
          <p:nvPr/>
        </p:nvSpPr>
        <p:spPr>
          <a:xfrm>
            <a:off x="5573346" y="2633869"/>
            <a:ext cx="845954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de PULL)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0" name="Picture 20" descr="slide-27.svg"/>
          <p:cNvPicPr>
            <a:picLocks noChangeAspect="1"/>
          </p:cNvPicPr>
          <p:nvPr/>
        </p:nvPicPr>
        <p:blipFill>
          <a:blip r:embed="rIdImg2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42" name="TextBox 742"/>
          <p:cNvSpPr txBox="1"/>
          <p:nvPr/>
        </p:nvSpPr>
        <p:spPr>
          <a:xfrm>
            <a:off x="605437" y="505239"/>
            <a:ext cx="3400404" cy="513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200" dirty="0"/>
              <a:t>list_declarations</a:t>
            </a:r>
          </a:p>
        </p:txBody>
      </p:sp>
      <p:sp>
        <p:nvSpPr>
          <p:cNvPr id="743" name="TextBox 743"/>
          <p:cNvSpPr txBox="1"/>
          <p:nvPr/>
        </p:nvSpPr>
        <p:spPr>
          <a:xfrm>
            <a:off x="655199" y="1101586"/>
            <a:ext cx="5175250" cy="323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000" dirty="0"/>
              <a:t>Escanea archivos C extrayendo firmas de funciones:</a:t>
            </a:r>
          </a:p>
        </p:txBody>
      </p:sp>
      <p:sp>
        <p:nvSpPr>
          <p:cNvPr id="744" name="TextBox 744"/>
          <p:cNvSpPr txBox="1"/>
          <p:nvPr/>
        </p:nvSpPr>
        <p:spPr>
          <a:xfrm>
            <a:off x="1260637" y="1706217"/>
            <a:ext cx="231393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function list_declarations</a:t>
            </a:r>
          </a:p>
        </p:txBody>
      </p:sp>
      <p:sp>
        <p:nvSpPr>
          <p:cNvPr id="745" name="TextBox 745"/>
          <p:cNvSpPr txBox="1"/>
          <p:nvPr/>
        </p:nvSpPr>
        <p:spPr>
          <a:xfrm>
            <a:off x="1608971" y="1921565"/>
            <a:ext cx="6634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if test</a:t>
            </a:r>
          </a:p>
        </p:txBody>
      </p:sp>
      <p:sp>
        <p:nvSpPr>
          <p:cNvPr id="746" name="TextBox 746"/>
          <p:cNvSpPr txBox="1"/>
          <p:nvPr/>
        </p:nvSpPr>
        <p:spPr>
          <a:xfrm>
            <a:off x="2405164" y="1913282"/>
            <a:ext cx="1086470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count  Sargv)</a:t>
            </a:r>
          </a:p>
        </p:txBody>
      </p:sp>
      <p:sp>
        <p:nvSpPr>
          <p:cNvPr id="747" name="TextBox 747"/>
          <p:cNvSpPr txBox="1"/>
          <p:nvPr/>
        </p:nvSpPr>
        <p:spPr>
          <a:xfrm>
            <a:off x="3574571" y="1979543"/>
            <a:ext cx="265397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~eq</a:t>
            </a:r>
          </a:p>
        </p:txBody>
      </p:sp>
      <p:sp>
        <p:nvSpPr>
          <p:cNvPr id="748" name="TextBox 748"/>
          <p:cNvSpPr txBox="1"/>
          <p:nvPr/>
        </p:nvSpPr>
        <p:spPr>
          <a:xfrm>
            <a:off x="1965599" y="2178326"/>
            <a:ext cx="398096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echo</a:t>
            </a:r>
          </a:p>
        </p:txBody>
      </p:sp>
      <p:sp>
        <p:nvSpPr>
          <p:cNvPr id="749" name="TextBox 749"/>
          <p:cNvSpPr txBox="1"/>
          <p:nvPr/>
        </p:nvSpPr>
        <p:spPr>
          <a:xfrm>
            <a:off x="2463220" y="2145195"/>
            <a:ext cx="57226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'Usage:</a:t>
            </a:r>
          </a:p>
        </p:txBody>
      </p:sp>
      <p:sp>
        <p:nvSpPr>
          <p:cNvPr id="750" name="TextBox 750"/>
          <p:cNvSpPr txBox="1"/>
          <p:nvPr/>
        </p:nvSpPr>
        <p:spPr>
          <a:xfrm>
            <a:off x="3093538" y="2161760"/>
            <a:ext cx="29359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list declarations filel € file2 €</a:t>
            </a:r>
          </a:p>
        </p:txBody>
      </p:sp>
      <p:sp>
        <p:nvSpPr>
          <p:cNvPr id="751" name="TextBox 751"/>
          <p:cNvSpPr txBox="1"/>
          <p:nvPr/>
        </p:nvSpPr>
        <p:spPr>
          <a:xfrm>
            <a:off x="6593467" y="2194891"/>
            <a:ext cx="54738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return</a:t>
            </a:r>
          </a:p>
        </p:txBody>
      </p:sp>
      <p:sp>
        <p:nvSpPr>
          <p:cNvPr id="752" name="TextBox 752"/>
          <p:cNvSpPr txBox="1"/>
          <p:nvPr/>
        </p:nvSpPr>
        <p:spPr>
          <a:xfrm>
            <a:off x="1633853" y="2410239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753" name="TextBox 753"/>
          <p:cNvSpPr txBox="1"/>
          <p:nvPr/>
        </p:nvSpPr>
        <p:spPr>
          <a:xfrm>
            <a:off x="1625559" y="2816086"/>
            <a:ext cx="7464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for file</a:t>
            </a:r>
          </a:p>
        </p:txBody>
      </p:sp>
      <p:sp>
        <p:nvSpPr>
          <p:cNvPr id="754" name="TextBox 754"/>
          <p:cNvSpPr txBox="1"/>
          <p:nvPr/>
        </p:nvSpPr>
        <p:spPr>
          <a:xfrm>
            <a:off x="2413457" y="2857500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in</a:t>
            </a:r>
          </a:p>
        </p:txBody>
      </p:sp>
      <p:sp>
        <p:nvSpPr>
          <p:cNvPr id="755" name="TextBox 755"/>
          <p:cNvSpPr txBox="1"/>
          <p:nvPr/>
        </p:nvSpPr>
        <p:spPr>
          <a:xfrm>
            <a:off x="2645680" y="2807804"/>
            <a:ext cx="50591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Sargv</a:t>
            </a:r>
          </a:p>
        </p:txBody>
      </p:sp>
      <p:sp>
        <p:nvSpPr>
          <p:cNvPr id="756" name="TextBox 756"/>
          <p:cNvSpPr txBox="1"/>
          <p:nvPr/>
        </p:nvSpPr>
        <p:spPr>
          <a:xfrm>
            <a:off x="1965599" y="3072847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set</a:t>
            </a:r>
          </a:p>
        </p:txBody>
      </p:sp>
      <p:sp>
        <p:nvSpPr>
          <p:cNvPr id="757" name="TextBox 757"/>
          <p:cNvSpPr txBox="1"/>
          <p:nvPr/>
        </p:nvSpPr>
        <p:spPr>
          <a:xfrm>
            <a:off x="2571037" y="3064565"/>
            <a:ext cx="49762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regex</a:t>
            </a:r>
          </a:p>
        </p:txBody>
      </p:sp>
      <p:sp>
        <p:nvSpPr>
          <p:cNvPr id="758" name="TextBox 758"/>
          <p:cNvSpPr txBox="1"/>
          <p:nvPr/>
        </p:nvSpPr>
        <p:spPr>
          <a:xfrm>
            <a:off x="5871918" y="3048000"/>
            <a:ext cx="137674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Inicio de linea</a:t>
            </a:r>
          </a:p>
        </p:txBody>
      </p:sp>
      <p:sp>
        <p:nvSpPr>
          <p:cNvPr id="759" name="TextBox 759"/>
          <p:cNvSpPr txBox="1"/>
          <p:nvPr/>
        </p:nvSpPr>
        <p:spPr>
          <a:xfrm>
            <a:off x="1957306" y="3279913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 regex</a:t>
            </a:r>
          </a:p>
        </p:txBody>
      </p:sp>
      <p:sp>
        <p:nvSpPr>
          <p:cNvPr id="760" name="TextBox 760"/>
          <p:cNvSpPr txBox="1"/>
          <p:nvPr/>
        </p:nvSpPr>
        <p:spPr>
          <a:xfrm>
            <a:off x="2902784" y="3255065"/>
            <a:ext cx="597144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'Sregex</a:t>
            </a:r>
          </a:p>
        </p:txBody>
      </p:sp>
      <p:sp>
        <p:nvSpPr>
          <p:cNvPr id="761" name="TextBox 761"/>
          <p:cNvSpPr txBox="1"/>
          <p:nvPr/>
        </p:nvSpPr>
        <p:spPr>
          <a:xfrm>
            <a:off x="3632627" y="3263347"/>
            <a:ext cx="194071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[ It]*(staticl It]+)?"</a:t>
            </a:r>
          </a:p>
        </p:txBody>
      </p:sp>
      <p:sp>
        <p:nvSpPr>
          <p:cNvPr id="762" name="TextBox 762"/>
          <p:cNvSpPr txBox="1"/>
          <p:nvPr/>
        </p:nvSpPr>
        <p:spPr>
          <a:xfrm>
            <a:off x="5722632" y="3279913"/>
            <a:ext cx="88742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# Opcional</a:t>
            </a:r>
          </a:p>
        </p:txBody>
      </p:sp>
      <p:sp>
        <p:nvSpPr>
          <p:cNvPr id="763" name="TextBox 763"/>
          <p:cNvSpPr txBox="1"/>
          <p:nvPr/>
        </p:nvSpPr>
        <p:spPr>
          <a:xfrm>
            <a:off x="6668110" y="3263347"/>
            <a:ext cx="99524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"static" al</a:t>
            </a:r>
          </a:p>
        </p:txBody>
      </p:sp>
      <p:sp>
        <p:nvSpPr>
          <p:cNvPr id="764" name="TextBox 764"/>
          <p:cNvSpPr txBox="1"/>
          <p:nvPr/>
        </p:nvSpPr>
        <p:spPr>
          <a:xfrm>
            <a:off x="7713113" y="3263347"/>
            <a:ext cx="58055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inicio</a:t>
            </a:r>
          </a:p>
        </p:txBody>
      </p:sp>
      <p:sp>
        <p:nvSpPr>
          <p:cNvPr id="765" name="TextBox 765"/>
          <p:cNvSpPr txBox="1"/>
          <p:nvPr/>
        </p:nvSpPr>
        <p:spPr>
          <a:xfrm>
            <a:off x="1957306" y="3511826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 regex</a:t>
            </a:r>
          </a:p>
        </p:txBody>
      </p:sp>
      <p:sp>
        <p:nvSpPr>
          <p:cNvPr id="766" name="TextBox 766"/>
          <p:cNvSpPr txBox="1"/>
          <p:nvPr/>
        </p:nvSpPr>
        <p:spPr>
          <a:xfrm>
            <a:off x="2911078" y="3486978"/>
            <a:ext cx="58885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'Sregex</a:t>
            </a:r>
          </a:p>
        </p:txBody>
      </p:sp>
      <p:sp>
        <p:nvSpPr>
          <p:cNvPr id="767" name="TextBox 767"/>
          <p:cNvSpPr txBox="1"/>
          <p:nvPr/>
        </p:nvSpPr>
        <p:spPr>
          <a:xfrm>
            <a:off x="3616040" y="3495260"/>
            <a:ext cx="205683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[a-ZA-Z_J[a-zA-Z0-9_]*"</a:t>
            </a:r>
          </a:p>
        </p:txBody>
      </p:sp>
      <p:sp>
        <p:nvSpPr>
          <p:cNvPr id="768" name="TextBox 768"/>
          <p:cNvSpPr txBox="1"/>
          <p:nvPr/>
        </p:nvSpPr>
        <p:spPr>
          <a:xfrm>
            <a:off x="5871918" y="3495260"/>
            <a:ext cx="187436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Tipo de retorno (int ,</a:t>
            </a:r>
          </a:p>
        </p:txBody>
      </p:sp>
      <p:sp>
        <p:nvSpPr>
          <p:cNvPr id="769" name="TextBox 769"/>
          <p:cNvSpPr txBox="1"/>
          <p:nvPr/>
        </p:nvSpPr>
        <p:spPr>
          <a:xfrm>
            <a:off x="7796049" y="3495260"/>
            <a:ext cx="4810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void,</a:t>
            </a:r>
          </a:p>
        </p:txBody>
      </p:sp>
      <p:sp>
        <p:nvSpPr>
          <p:cNvPr id="770" name="TextBox 770"/>
          <p:cNvSpPr txBox="1"/>
          <p:nvPr/>
        </p:nvSpPr>
        <p:spPr>
          <a:xfrm>
            <a:off x="8335138" y="3503543"/>
            <a:ext cx="48103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char*</a:t>
            </a:r>
          </a:p>
        </p:txBody>
      </p:sp>
      <p:sp>
        <p:nvSpPr>
          <p:cNvPr id="771" name="TextBox 771"/>
          <p:cNvSpPr txBox="1"/>
          <p:nvPr/>
        </p:nvSpPr>
        <p:spPr>
          <a:xfrm>
            <a:off x="8948870" y="3536673"/>
            <a:ext cx="46444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etc. )</a:t>
            </a:r>
          </a:p>
        </p:txBody>
      </p:sp>
      <p:sp>
        <p:nvSpPr>
          <p:cNvPr id="772" name="TextBox 772"/>
          <p:cNvSpPr txBox="1"/>
          <p:nvPr/>
        </p:nvSpPr>
        <p:spPr>
          <a:xfrm>
            <a:off x="812779" y="3710608"/>
            <a:ext cx="19904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10</a:t>
            </a:r>
          </a:p>
        </p:txBody>
      </p:sp>
      <p:sp>
        <p:nvSpPr>
          <p:cNvPr id="773" name="TextBox 773"/>
          <p:cNvSpPr txBox="1"/>
          <p:nvPr/>
        </p:nvSpPr>
        <p:spPr>
          <a:xfrm>
            <a:off x="1957306" y="3727173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 regex</a:t>
            </a:r>
          </a:p>
        </p:txBody>
      </p:sp>
      <p:sp>
        <p:nvSpPr>
          <p:cNvPr id="774" name="TextBox 774"/>
          <p:cNvSpPr txBox="1"/>
          <p:nvPr/>
        </p:nvSpPr>
        <p:spPr>
          <a:xfrm>
            <a:off x="2911078" y="3702326"/>
            <a:ext cx="655199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'Sregex"</a:t>
            </a:r>
          </a:p>
        </p:txBody>
      </p:sp>
      <p:sp>
        <p:nvSpPr>
          <p:cNvPr id="775" name="TextBox 775"/>
          <p:cNvSpPr txBox="1"/>
          <p:nvPr/>
        </p:nvSpPr>
        <p:spPr>
          <a:xfrm>
            <a:off x="3616040" y="3710608"/>
            <a:ext cx="109476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(L It]l*)+"</a:t>
            </a:r>
          </a:p>
        </p:txBody>
      </p:sp>
      <p:sp>
        <p:nvSpPr>
          <p:cNvPr id="776" name="TextBox 776"/>
          <p:cNvSpPr txBox="1"/>
          <p:nvPr/>
        </p:nvSpPr>
        <p:spPr>
          <a:xfrm>
            <a:off x="5722632" y="3727173"/>
            <a:ext cx="91230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# Espacios</a:t>
            </a:r>
          </a:p>
        </p:txBody>
      </p:sp>
      <p:sp>
        <p:nvSpPr>
          <p:cNvPr id="777" name="TextBox 777"/>
          <p:cNvSpPr txBox="1"/>
          <p:nvPr/>
        </p:nvSpPr>
        <p:spPr>
          <a:xfrm>
            <a:off x="6833984" y="3727173"/>
            <a:ext cx="189095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asteriscos entre tipo</a:t>
            </a:r>
          </a:p>
        </p:txBody>
      </p:sp>
      <p:sp>
        <p:nvSpPr>
          <p:cNvPr id="778" name="TextBox 778"/>
          <p:cNvSpPr txBox="1"/>
          <p:nvPr/>
        </p:nvSpPr>
        <p:spPr>
          <a:xfrm>
            <a:off x="8774702" y="3727173"/>
            <a:ext cx="72984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y nombre</a:t>
            </a:r>
          </a:p>
        </p:txBody>
      </p:sp>
      <p:sp>
        <p:nvSpPr>
          <p:cNvPr id="779" name="TextBox 779"/>
          <p:cNvSpPr txBox="1"/>
          <p:nvPr/>
        </p:nvSpPr>
        <p:spPr>
          <a:xfrm>
            <a:off x="796192" y="3925956"/>
            <a:ext cx="21563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11</a:t>
            </a:r>
          </a:p>
        </p:txBody>
      </p:sp>
      <p:sp>
        <p:nvSpPr>
          <p:cNvPr id="780" name="TextBox 780"/>
          <p:cNvSpPr txBox="1"/>
          <p:nvPr/>
        </p:nvSpPr>
        <p:spPr>
          <a:xfrm>
            <a:off x="1957306" y="3959086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 regex</a:t>
            </a:r>
          </a:p>
        </p:txBody>
      </p:sp>
      <p:sp>
        <p:nvSpPr>
          <p:cNvPr id="781" name="TextBox 781"/>
          <p:cNvSpPr txBox="1"/>
          <p:nvPr/>
        </p:nvSpPr>
        <p:spPr>
          <a:xfrm>
            <a:off x="2911078" y="3934239"/>
            <a:ext cx="58885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'Sregex</a:t>
            </a:r>
          </a:p>
        </p:txBody>
      </p:sp>
      <p:sp>
        <p:nvSpPr>
          <p:cNvPr id="782" name="TextBox 782"/>
          <p:cNvSpPr txBox="1"/>
          <p:nvPr/>
        </p:nvSpPr>
        <p:spPr>
          <a:xfrm>
            <a:off x="3616040" y="3942521"/>
            <a:ext cx="205683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[a-ZA-Z_J[a-zA-Z0-9_]*"</a:t>
            </a:r>
          </a:p>
        </p:txBody>
      </p:sp>
      <p:sp>
        <p:nvSpPr>
          <p:cNvPr id="783" name="TextBox 783"/>
          <p:cNvSpPr txBox="1"/>
          <p:nvPr/>
        </p:nvSpPr>
        <p:spPr>
          <a:xfrm>
            <a:off x="5880212" y="3950804"/>
            <a:ext cx="179143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Nombre de la funcion</a:t>
            </a:r>
          </a:p>
        </p:txBody>
      </p:sp>
      <p:sp>
        <p:nvSpPr>
          <p:cNvPr id="784" name="TextBox 784"/>
          <p:cNvSpPr txBox="1"/>
          <p:nvPr/>
        </p:nvSpPr>
        <p:spPr>
          <a:xfrm>
            <a:off x="1957306" y="4174434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 regex</a:t>
            </a:r>
          </a:p>
        </p:txBody>
      </p:sp>
      <p:sp>
        <p:nvSpPr>
          <p:cNvPr id="785" name="TextBox 785"/>
          <p:cNvSpPr txBox="1"/>
          <p:nvPr/>
        </p:nvSpPr>
        <p:spPr>
          <a:xfrm>
            <a:off x="2911078" y="4149586"/>
            <a:ext cx="67178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'Sregex"</a:t>
            </a:r>
          </a:p>
        </p:txBody>
      </p:sp>
      <p:sp>
        <p:nvSpPr>
          <p:cNvPr id="786" name="TextBox 786"/>
          <p:cNvSpPr txBox="1"/>
          <p:nvPr/>
        </p:nvSpPr>
        <p:spPr>
          <a:xfrm>
            <a:off x="3632627" y="4174434"/>
            <a:ext cx="81277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[ Itj*i("</a:t>
            </a:r>
          </a:p>
        </p:txBody>
      </p:sp>
      <p:sp>
        <p:nvSpPr>
          <p:cNvPr id="787" name="TextBox 787"/>
          <p:cNvSpPr txBox="1"/>
          <p:nvPr/>
        </p:nvSpPr>
        <p:spPr>
          <a:xfrm>
            <a:off x="5863624" y="4149586"/>
            <a:ext cx="4602986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Espacios opcionales antes del parentesis de apertura</a:t>
            </a:r>
          </a:p>
        </p:txBody>
      </p:sp>
      <p:sp>
        <p:nvSpPr>
          <p:cNvPr id="788" name="TextBox 788"/>
          <p:cNvSpPr txBox="1"/>
          <p:nvPr/>
        </p:nvSpPr>
        <p:spPr>
          <a:xfrm>
            <a:off x="1973893" y="4613413"/>
            <a:ext cx="3168181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# Ejecutamos pasando la regex limpia</a:t>
            </a:r>
          </a:p>
        </p:txBody>
      </p:sp>
      <p:sp>
        <p:nvSpPr>
          <p:cNvPr id="789" name="TextBox 789"/>
          <p:cNvSpPr txBox="1"/>
          <p:nvPr/>
        </p:nvSpPr>
        <p:spPr>
          <a:xfrm>
            <a:off x="796192" y="4820478"/>
            <a:ext cx="23222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15</a:t>
            </a:r>
          </a:p>
        </p:txBody>
      </p:sp>
      <p:sp>
        <p:nvSpPr>
          <p:cNvPr id="790" name="TextBox 790"/>
          <p:cNvSpPr txBox="1"/>
          <p:nvPr/>
        </p:nvSpPr>
        <p:spPr>
          <a:xfrm>
            <a:off x="1965599" y="4861891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set</a:t>
            </a:r>
          </a:p>
        </p:txBody>
      </p:sp>
      <p:sp>
        <p:nvSpPr>
          <p:cNvPr id="791" name="TextBox 791"/>
          <p:cNvSpPr txBox="1"/>
          <p:nvPr/>
        </p:nvSpPr>
        <p:spPr>
          <a:xfrm>
            <a:off x="2579331" y="4861891"/>
            <a:ext cx="56396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output</a:t>
            </a:r>
          </a:p>
        </p:txBody>
      </p:sp>
      <p:sp>
        <p:nvSpPr>
          <p:cNvPr id="792" name="TextBox 792"/>
          <p:cNvSpPr txBox="1"/>
          <p:nvPr/>
        </p:nvSpPr>
        <p:spPr>
          <a:xfrm>
            <a:off x="3275999" y="4845326"/>
            <a:ext cx="66349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command</a:t>
            </a:r>
          </a:p>
        </p:txBody>
      </p:sp>
      <p:sp>
        <p:nvSpPr>
          <p:cNvPr id="793" name="TextBox 793"/>
          <p:cNvSpPr txBox="1"/>
          <p:nvPr/>
        </p:nvSpPr>
        <p:spPr>
          <a:xfrm>
            <a:off x="3989255" y="4878456"/>
            <a:ext cx="29857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awk</a:t>
            </a:r>
          </a:p>
        </p:txBody>
      </p:sp>
      <p:sp>
        <p:nvSpPr>
          <p:cNvPr id="794" name="TextBox 794"/>
          <p:cNvSpPr txBox="1"/>
          <p:nvPr/>
        </p:nvSpPr>
        <p:spPr>
          <a:xfrm>
            <a:off x="4470288" y="4828760"/>
            <a:ext cx="67178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'Sregex/</a:t>
            </a:r>
          </a:p>
        </p:txBody>
      </p:sp>
      <p:sp>
        <p:nvSpPr>
          <p:cNvPr id="795" name="TextBox 795"/>
          <p:cNvSpPr txBox="1"/>
          <p:nvPr/>
        </p:nvSpPr>
        <p:spPr>
          <a:xfrm>
            <a:off x="5349417" y="4820478"/>
            <a:ext cx="1617265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print |$0 |"; |" }"</a:t>
            </a:r>
          </a:p>
        </p:txBody>
      </p:sp>
      <p:sp>
        <p:nvSpPr>
          <p:cNvPr id="796" name="TextBox 796"/>
          <p:cNvSpPr txBox="1"/>
          <p:nvPr/>
        </p:nvSpPr>
        <p:spPr>
          <a:xfrm>
            <a:off x="7016444" y="4820478"/>
            <a:ext cx="49762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sfile</a:t>
            </a:r>
          </a:p>
        </p:txBody>
      </p:sp>
      <p:sp>
        <p:nvSpPr>
          <p:cNvPr id="797" name="TextBox 797"/>
          <p:cNvSpPr txBox="1"/>
          <p:nvPr/>
        </p:nvSpPr>
        <p:spPr>
          <a:xfrm>
            <a:off x="7704819" y="4861891"/>
            <a:ext cx="23222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tr</a:t>
            </a:r>
          </a:p>
        </p:txBody>
      </p:sp>
      <p:sp>
        <p:nvSpPr>
          <p:cNvPr id="798" name="TextBox 798"/>
          <p:cNvSpPr txBox="1"/>
          <p:nvPr/>
        </p:nvSpPr>
        <p:spPr>
          <a:xfrm>
            <a:off x="8003391" y="4861891"/>
            <a:ext cx="19904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~d</a:t>
            </a:r>
          </a:p>
        </p:txBody>
      </p:sp>
      <p:sp>
        <p:nvSpPr>
          <p:cNvPr id="799" name="TextBox 799"/>
          <p:cNvSpPr txBox="1"/>
          <p:nvPr/>
        </p:nvSpPr>
        <p:spPr>
          <a:xfrm>
            <a:off x="8326844" y="4853608"/>
            <a:ext cx="3980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Ir' )</a:t>
            </a:r>
          </a:p>
        </p:txBody>
      </p:sp>
      <p:sp>
        <p:nvSpPr>
          <p:cNvPr id="800" name="TextBox 800"/>
          <p:cNvSpPr txBox="1"/>
          <p:nvPr/>
        </p:nvSpPr>
        <p:spPr>
          <a:xfrm>
            <a:off x="796192" y="5052391"/>
            <a:ext cx="23222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16</a:t>
            </a:r>
          </a:p>
        </p:txBody>
      </p:sp>
      <p:sp>
        <p:nvSpPr>
          <p:cNvPr id="801" name="TextBox 801"/>
          <p:cNvSpPr txBox="1"/>
          <p:nvPr/>
        </p:nvSpPr>
        <p:spPr>
          <a:xfrm>
            <a:off x="804485" y="5292586"/>
            <a:ext cx="19904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17</a:t>
            </a:r>
          </a:p>
        </p:txBody>
      </p:sp>
      <p:sp>
        <p:nvSpPr>
          <p:cNvPr id="802" name="TextBox 802"/>
          <p:cNvSpPr txBox="1"/>
          <p:nvPr/>
        </p:nvSpPr>
        <p:spPr>
          <a:xfrm>
            <a:off x="1965599" y="5292586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803" name="TextBox 803"/>
          <p:cNvSpPr txBox="1"/>
          <p:nvPr/>
        </p:nvSpPr>
        <p:spPr>
          <a:xfrm>
            <a:off x="2753498" y="5284304"/>
            <a:ext cx="72984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Sfile N:</a:t>
            </a:r>
          </a:p>
        </p:txBody>
      </p:sp>
      <p:sp>
        <p:nvSpPr>
          <p:cNvPr id="804" name="TextBox 804"/>
          <p:cNvSpPr txBox="1"/>
          <p:nvPr/>
        </p:nvSpPr>
        <p:spPr>
          <a:xfrm>
            <a:off x="3616040" y="5276021"/>
            <a:ext cx="119428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count Soutput</a:t>
            </a:r>
          </a:p>
        </p:txBody>
      </p:sp>
      <p:sp>
        <p:nvSpPr>
          <p:cNvPr id="805" name="TextBox 805"/>
          <p:cNvSpPr txBox="1"/>
          <p:nvPr/>
        </p:nvSpPr>
        <p:spPr>
          <a:xfrm>
            <a:off x="796192" y="5499652"/>
            <a:ext cx="21563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18</a:t>
            </a:r>
          </a:p>
        </p:txBody>
      </p:sp>
      <p:sp>
        <p:nvSpPr>
          <p:cNvPr id="806" name="TextBox 806"/>
          <p:cNvSpPr txBox="1"/>
          <p:nvPr/>
        </p:nvSpPr>
        <p:spPr>
          <a:xfrm>
            <a:off x="1957306" y="5491369"/>
            <a:ext cx="197389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string join In Soutput</a:t>
            </a:r>
          </a:p>
        </p:txBody>
      </p:sp>
      <p:sp>
        <p:nvSpPr>
          <p:cNvPr id="807" name="TextBox 807"/>
          <p:cNvSpPr txBox="1"/>
          <p:nvPr/>
        </p:nvSpPr>
        <p:spPr>
          <a:xfrm>
            <a:off x="804485" y="5739847"/>
            <a:ext cx="19904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19</a:t>
            </a:r>
          </a:p>
        </p:txBody>
      </p:sp>
      <p:sp>
        <p:nvSpPr>
          <p:cNvPr id="808" name="TextBox 808"/>
          <p:cNvSpPr txBox="1"/>
          <p:nvPr/>
        </p:nvSpPr>
        <p:spPr>
          <a:xfrm>
            <a:off x="1633853" y="5756413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809" name="TextBox 809"/>
          <p:cNvSpPr txBox="1"/>
          <p:nvPr/>
        </p:nvSpPr>
        <p:spPr>
          <a:xfrm>
            <a:off x="796192" y="5946913"/>
            <a:ext cx="23222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20</a:t>
            </a:r>
          </a:p>
        </p:txBody>
      </p:sp>
      <p:sp>
        <p:nvSpPr>
          <p:cNvPr id="810" name="TextBox 810"/>
          <p:cNvSpPr txBox="1"/>
          <p:nvPr/>
        </p:nvSpPr>
        <p:spPr>
          <a:xfrm>
            <a:off x="1285518" y="5988326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1" name="Picture 21" descr="slide-28.svg"/>
          <p:cNvPicPr>
            <a:picLocks noChangeAspect="1"/>
          </p:cNvPicPr>
          <p:nvPr/>
        </p:nvPicPr>
        <p:blipFill>
          <a:blip r:embed="rIdImg2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11" name="TextBox 811"/>
          <p:cNvSpPr txBox="1"/>
          <p:nvPr/>
        </p:nvSpPr>
        <p:spPr>
          <a:xfrm>
            <a:off x="671787" y="505239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USO</a:t>
            </a:r>
          </a:p>
        </p:txBody>
      </p:sp>
      <p:sp>
        <p:nvSpPr>
          <p:cNvPr id="812" name="TextBox 812"/>
          <p:cNvSpPr txBox="1"/>
          <p:nvPr/>
        </p:nvSpPr>
        <p:spPr>
          <a:xfrm>
            <a:off x="1260637" y="1010478"/>
            <a:ext cx="233881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Sxlist_declarations parser-</a:t>
            </a:r>
          </a:p>
        </p:txBody>
      </p:sp>
      <p:sp>
        <p:nvSpPr>
          <p:cNvPr id="813" name="TextBox 813"/>
          <p:cNvSpPr txBox="1"/>
          <p:nvPr/>
        </p:nvSpPr>
        <p:spPr>
          <a:xfrm>
            <a:off x="1277225" y="1242391"/>
            <a:ext cx="82936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11 parser</a:t>
            </a:r>
          </a:p>
        </p:txBody>
      </p:sp>
      <p:sp>
        <p:nvSpPr>
          <p:cNvPr id="814" name="TextBox 814"/>
          <p:cNvSpPr txBox="1"/>
          <p:nvPr/>
        </p:nvSpPr>
        <p:spPr>
          <a:xfrm>
            <a:off x="2313933" y="1250673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N:5</a:t>
            </a:r>
          </a:p>
        </p:txBody>
      </p:sp>
      <p:sp>
        <p:nvSpPr>
          <p:cNvPr id="815" name="TextBox 815"/>
          <p:cNvSpPr txBox="1"/>
          <p:nvPr/>
        </p:nvSpPr>
        <p:spPr>
          <a:xfrm>
            <a:off x="1268931" y="1482586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int</a:t>
            </a:r>
          </a:p>
        </p:txBody>
      </p:sp>
      <p:sp>
        <p:nvSpPr>
          <p:cNvPr id="816" name="TextBox 816"/>
          <p:cNvSpPr txBox="1"/>
          <p:nvPr/>
        </p:nvSpPr>
        <p:spPr>
          <a:xfrm>
            <a:off x="1642146" y="1474304"/>
            <a:ext cx="160897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ft_isdigit(int c);</a:t>
            </a:r>
          </a:p>
        </p:txBody>
      </p:sp>
      <p:sp>
        <p:nvSpPr>
          <p:cNvPr id="817" name="TextBox 817"/>
          <p:cNvSpPr txBox="1"/>
          <p:nvPr/>
        </p:nvSpPr>
        <p:spPr>
          <a:xfrm>
            <a:off x="1260637" y="1689652"/>
            <a:ext cx="41468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void</a:t>
            </a:r>
          </a:p>
        </p:txBody>
      </p:sp>
      <p:sp>
        <p:nvSpPr>
          <p:cNvPr id="818" name="TextBox 818"/>
          <p:cNvSpPr txBox="1"/>
          <p:nvPr/>
        </p:nvSpPr>
        <p:spPr>
          <a:xfrm>
            <a:off x="1799726" y="1673086"/>
            <a:ext cx="2529569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skip_spaces(const char *nptr_</a:t>
            </a:r>
          </a:p>
        </p:txBody>
      </p:sp>
      <p:sp>
        <p:nvSpPr>
          <p:cNvPr id="819" name="TextBox 819"/>
          <p:cNvSpPr txBox="1"/>
          <p:nvPr/>
        </p:nvSpPr>
        <p:spPr>
          <a:xfrm>
            <a:off x="4428819" y="1673086"/>
            <a:ext cx="738136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int *1);</a:t>
            </a:r>
          </a:p>
        </p:txBody>
      </p:sp>
      <p:sp>
        <p:nvSpPr>
          <p:cNvPr id="820" name="TextBox 820"/>
          <p:cNvSpPr txBox="1"/>
          <p:nvPr/>
        </p:nvSpPr>
        <p:spPr>
          <a:xfrm>
            <a:off x="1268931" y="1929847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void</a:t>
            </a:r>
          </a:p>
        </p:txBody>
      </p:sp>
      <p:sp>
        <p:nvSpPr>
          <p:cNvPr id="821" name="TextBox 821"/>
          <p:cNvSpPr txBox="1"/>
          <p:nvPr/>
        </p:nvSpPr>
        <p:spPr>
          <a:xfrm>
            <a:off x="1808020" y="1921565"/>
            <a:ext cx="144309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parse_sign(const</a:t>
            </a:r>
          </a:p>
        </p:txBody>
      </p:sp>
      <p:sp>
        <p:nvSpPr>
          <p:cNvPr id="822" name="TextBox 822"/>
          <p:cNvSpPr txBox="1"/>
          <p:nvPr/>
        </p:nvSpPr>
        <p:spPr>
          <a:xfrm>
            <a:off x="3300880" y="1896717"/>
            <a:ext cx="904010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char *str,</a:t>
            </a:r>
          </a:p>
        </p:txBody>
      </p:sp>
      <p:sp>
        <p:nvSpPr>
          <p:cNvPr id="823" name="TextBox 823"/>
          <p:cNvSpPr txBox="1"/>
          <p:nvPr/>
        </p:nvSpPr>
        <p:spPr>
          <a:xfrm>
            <a:off x="4254652" y="1929847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int</a:t>
            </a:r>
          </a:p>
        </p:txBody>
      </p:sp>
      <p:sp>
        <p:nvSpPr>
          <p:cNvPr id="824" name="TextBox 824"/>
          <p:cNvSpPr txBox="1"/>
          <p:nvPr/>
        </p:nvSpPr>
        <p:spPr>
          <a:xfrm>
            <a:off x="4943027" y="1896717"/>
            <a:ext cx="99524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int *sign);</a:t>
            </a:r>
          </a:p>
        </p:txBody>
      </p:sp>
      <p:sp>
        <p:nvSpPr>
          <p:cNvPr id="825" name="TextBox 825"/>
          <p:cNvSpPr txBox="1"/>
          <p:nvPr/>
        </p:nvSpPr>
        <p:spPr>
          <a:xfrm>
            <a:off x="1285518" y="2161760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int</a:t>
            </a:r>
          </a:p>
        </p:txBody>
      </p:sp>
      <p:sp>
        <p:nvSpPr>
          <p:cNvPr id="826" name="TextBox 826"/>
          <p:cNvSpPr txBox="1"/>
          <p:nvPr/>
        </p:nvSpPr>
        <p:spPr>
          <a:xfrm>
            <a:off x="1642146" y="2136913"/>
            <a:ext cx="267056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ft_atoi_strict(const char *str</a:t>
            </a:r>
          </a:p>
        </p:txBody>
      </p:sp>
      <p:sp>
        <p:nvSpPr>
          <p:cNvPr id="827" name="TextBox 827"/>
          <p:cNvSpPr txBox="1"/>
          <p:nvPr/>
        </p:nvSpPr>
        <p:spPr>
          <a:xfrm>
            <a:off x="4428819" y="2136913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int *out )</a:t>
            </a:r>
          </a:p>
        </p:txBody>
      </p:sp>
      <p:sp>
        <p:nvSpPr>
          <p:cNvPr id="828" name="TextBox 828"/>
          <p:cNvSpPr txBox="1"/>
          <p:nvPr/>
        </p:nvSpPr>
        <p:spPr>
          <a:xfrm>
            <a:off x="1268931" y="2377108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int</a:t>
            </a:r>
          </a:p>
        </p:txBody>
      </p:sp>
      <p:sp>
        <p:nvSpPr>
          <p:cNvPr id="829" name="TextBox 829"/>
          <p:cNvSpPr txBox="1"/>
          <p:nvPr/>
        </p:nvSpPr>
        <p:spPr>
          <a:xfrm>
            <a:off x="1642146" y="2368826"/>
            <a:ext cx="177484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check_args(int argc ,</a:t>
            </a:r>
          </a:p>
        </p:txBody>
      </p:sp>
      <p:sp>
        <p:nvSpPr>
          <p:cNvPr id="830" name="TextBox 830"/>
          <p:cNvSpPr txBox="1"/>
          <p:nvPr/>
        </p:nvSpPr>
        <p:spPr>
          <a:xfrm>
            <a:off x="3475047" y="2377108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char</a:t>
            </a:r>
          </a:p>
        </p:txBody>
      </p:sp>
      <p:sp>
        <p:nvSpPr>
          <p:cNvPr id="831" name="TextBox 831"/>
          <p:cNvSpPr txBox="1"/>
          <p:nvPr/>
        </p:nvSpPr>
        <p:spPr>
          <a:xfrm>
            <a:off x="3881437" y="2335695"/>
            <a:ext cx="704961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#*argv)=</a:t>
            </a:r>
          </a:p>
        </p:txBody>
      </p:sp>
      <p:sp>
        <p:nvSpPr>
          <p:cNvPr id="832" name="TextBox 832"/>
          <p:cNvSpPr txBox="1"/>
          <p:nvPr/>
        </p:nvSpPr>
        <p:spPr>
          <a:xfrm>
            <a:off x="680080" y="2948608"/>
            <a:ext cx="287790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PREGUNTA: €PODEMOS GENERALIZAR</a:t>
            </a:r>
          </a:p>
        </p:txBody>
      </p:sp>
      <p:sp>
        <p:nvSpPr>
          <p:cNvPr id="833" name="TextBox 833"/>
          <p:cNvSpPr txBox="1"/>
          <p:nvPr/>
        </p:nvSpPr>
        <p:spPr>
          <a:xfrm>
            <a:off x="3599452" y="2965173"/>
            <a:ext cx="89571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PARA TODO</a:t>
            </a:r>
          </a:p>
        </p:txBody>
      </p:sp>
      <p:sp>
        <p:nvSpPr>
          <p:cNvPr id="834" name="TextBox 834"/>
          <p:cNvSpPr txBox="1"/>
          <p:nvPr/>
        </p:nvSpPr>
        <p:spPr>
          <a:xfrm>
            <a:off x="4544931" y="2965173"/>
            <a:ext cx="117770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UN PROYECTO?</a:t>
            </a:r>
          </a:p>
        </p:txBody>
      </p:sp>
      <p:sp>
        <p:nvSpPr>
          <p:cNvPr id="835" name="TextBox 835"/>
          <p:cNvSpPr txBox="1"/>
          <p:nvPr/>
        </p:nvSpPr>
        <p:spPr>
          <a:xfrm>
            <a:off x="1285518" y="3536673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</a:t>
            </a:r>
          </a:p>
        </p:txBody>
      </p:sp>
      <p:sp>
        <p:nvSpPr>
          <p:cNvPr id="836" name="TextBox 836"/>
          <p:cNvSpPr txBox="1"/>
          <p:nvPr/>
        </p:nvSpPr>
        <p:spPr>
          <a:xfrm>
            <a:off x="1633853" y="3752021"/>
            <a:ext cx="563969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main.€</a:t>
            </a:r>
          </a:p>
        </p:txBody>
      </p:sp>
      <p:sp>
        <p:nvSpPr>
          <p:cNvPr id="837" name="TextBox 837"/>
          <p:cNvSpPr txBox="1"/>
          <p:nvPr/>
        </p:nvSpPr>
        <p:spPr>
          <a:xfrm>
            <a:off x="1617265" y="3967369"/>
            <a:ext cx="58055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parser</a:t>
            </a:r>
          </a:p>
        </p:txBody>
      </p:sp>
      <p:sp>
        <p:nvSpPr>
          <p:cNvPr id="838" name="TextBox 838"/>
          <p:cNvSpPr txBox="1"/>
          <p:nvPr/>
        </p:nvSpPr>
        <p:spPr>
          <a:xfrm>
            <a:off x="1617265" y="4182717"/>
            <a:ext cx="49762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utils</a:t>
            </a:r>
          </a:p>
        </p:txBody>
      </p:sp>
      <p:sp>
        <p:nvSpPr>
          <p:cNvPr id="839" name="TextBox 839"/>
          <p:cNvSpPr txBox="1"/>
          <p:nvPr/>
        </p:nvSpPr>
        <p:spPr>
          <a:xfrm>
            <a:off x="1268931" y="4646543"/>
            <a:ext cx="20568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function list decl bulk</a:t>
            </a:r>
          </a:p>
        </p:txBody>
      </p:sp>
      <p:sp>
        <p:nvSpPr>
          <p:cNvPr id="840" name="TextBox 840"/>
          <p:cNvSpPr txBox="1"/>
          <p:nvPr/>
        </p:nvSpPr>
        <p:spPr>
          <a:xfrm>
            <a:off x="1617265" y="4878456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for</a:t>
            </a:r>
          </a:p>
        </p:txBody>
      </p:sp>
      <p:sp>
        <p:nvSpPr>
          <p:cNvPr id="841" name="TextBox 841"/>
          <p:cNvSpPr txBox="1"/>
          <p:nvPr/>
        </p:nvSpPr>
        <p:spPr>
          <a:xfrm>
            <a:off x="1982187" y="4878456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 in</a:t>
            </a:r>
          </a:p>
        </p:txBody>
      </p:sp>
      <p:sp>
        <p:nvSpPr>
          <p:cNvPr id="842" name="TextBox 842"/>
          <p:cNvSpPr txBox="1"/>
          <p:nvPr/>
        </p:nvSpPr>
        <p:spPr>
          <a:xfrm>
            <a:off x="1957306" y="5077239"/>
            <a:ext cx="1791432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list_declarations $i</a:t>
            </a:r>
          </a:p>
        </p:txBody>
      </p:sp>
      <p:sp>
        <p:nvSpPr>
          <p:cNvPr id="843" name="TextBox 843"/>
          <p:cNvSpPr txBox="1"/>
          <p:nvPr/>
        </p:nvSpPr>
        <p:spPr>
          <a:xfrm>
            <a:off x="1633853" y="5342282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844" name="TextBox 844"/>
          <p:cNvSpPr txBox="1"/>
          <p:nvPr/>
        </p:nvSpPr>
        <p:spPr>
          <a:xfrm>
            <a:off x="1285518" y="5557630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845" name="TextBox 845"/>
          <p:cNvSpPr txBox="1"/>
          <p:nvPr/>
        </p:nvSpPr>
        <p:spPr>
          <a:xfrm>
            <a:off x="4621004" y="1906484"/>
            <a:ext cx="254244" cy="2123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#1,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2" name="Picture 22" descr="slide-29.svg"/>
          <p:cNvPicPr>
            <a:picLocks noChangeAspect="1"/>
          </p:cNvPicPr>
          <p:nvPr/>
        </p:nvPicPr>
        <p:blipFill>
          <a:blip r:embed="rIdImg2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46" name="TextBox 846"/>
          <p:cNvSpPr txBox="1"/>
          <p:nvPr/>
        </p:nvSpPr>
        <p:spPr>
          <a:xfrm>
            <a:off x="671787" y="505239"/>
            <a:ext cx="81277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PREGUNTA</a:t>
            </a:r>
          </a:p>
        </p:txBody>
      </p:sp>
      <p:sp>
        <p:nvSpPr>
          <p:cNvPr id="847" name="TextBox 847"/>
          <p:cNvSpPr txBox="1"/>
          <p:nvPr/>
        </p:nvSpPr>
        <p:spPr>
          <a:xfrm>
            <a:off x="1625559" y="496956"/>
            <a:ext cx="796192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{PODEMOS</a:t>
            </a:r>
          </a:p>
        </p:txBody>
      </p:sp>
      <p:sp>
        <p:nvSpPr>
          <p:cNvPr id="848" name="TextBox 848"/>
          <p:cNvSpPr txBox="1"/>
          <p:nvPr/>
        </p:nvSpPr>
        <p:spPr>
          <a:xfrm>
            <a:off x="2471513" y="505239"/>
            <a:ext cx="106158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GENERALIZAR</a:t>
            </a:r>
          </a:p>
        </p:txBody>
      </p:sp>
      <p:sp>
        <p:nvSpPr>
          <p:cNvPr id="849" name="TextBox 849"/>
          <p:cNvSpPr txBox="1"/>
          <p:nvPr/>
        </p:nvSpPr>
        <p:spPr>
          <a:xfrm>
            <a:off x="3607746" y="505239"/>
            <a:ext cx="87912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PARA TODO</a:t>
            </a:r>
          </a:p>
        </p:txBody>
      </p:sp>
      <p:sp>
        <p:nvSpPr>
          <p:cNvPr id="850" name="TextBox 850"/>
          <p:cNvSpPr txBox="1"/>
          <p:nvPr/>
        </p:nvSpPr>
        <p:spPr>
          <a:xfrm>
            <a:off x="4553224" y="505239"/>
            <a:ext cx="116111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UN PROYECTO?</a:t>
            </a:r>
          </a:p>
        </p:txBody>
      </p:sp>
      <p:sp>
        <p:nvSpPr>
          <p:cNvPr id="851" name="TextBox 851"/>
          <p:cNvSpPr txBox="1"/>
          <p:nvPr/>
        </p:nvSpPr>
        <p:spPr>
          <a:xfrm>
            <a:off x="1285518" y="1068456"/>
            <a:ext cx="364921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src/</a:t>
            </a:r>
          </a:p>
        </p:txBody>
      </p:sp>
      <p:sp>
        <p:nvSpPr>
          <p:cNvPr id="852" name="TextBox 852"/>
          <p:cNvSpPr txBox="1"/>
          <p:nvPr/>
        </p:nvSpPr>
        <p:spPr>
          <a:xfrm>
            <a:off x="1633853" y="1267239"/>
            <a:ext cx="414683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main_</a:t>
            </a:r>
          </a:p>
        </p:txBody>
      </p:sp>
      <p:sp>
        <p:nvSpPr>
          <p:cNvPr id="853" name="TextBox 853"/>
          <p:cNvSpPr txBox="1"/>
          <p:nvPr/>
        </p:nvSpPr>
        <p:spPr>
          <a:xfrm>
            <a:off x="1633853" y="1499152"/>
            <a:ext cx="63031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parser/</a:t>
            </a:r>
          </a:p>
        </p:txBody>
      </p:sp>
      <p:sp>
        <p:nvSpPr>
          <p:cNvPr id="854" name="TextBox 854"/>
          <p:cNvSpPr txBox="1"/>
          <p:nvPr/>
        </p:nvSpPr>
        <p:spPr>
          <a:xfrm>
            <a:off x="1949012" y="1689652"/>
            <a:ext cx="60543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parser</a:t>
            </a:r>
          </a:p>
        </p:txBody>
      </p:sp>
      <p:sp>
        <p:nvSpPr>
          <p:cNvPr id="855" name="TextBox 855"/>
          <p:cNvSpPr txBox="1"/>
          <p:nvPr/>
        </p:nvSpPr>
        <p:spPr>
          <a:xfrm>
            <a:off x="1957306" y="1921565"/>
            <a:ext cx="129381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parser_utils.c</a:t>
            </a:r>
          </a:p>
        </p:txBody>
      </p:sp>
      <p:sp>
        <p:nvSpPr>
          <p:cNvPr id="856" name="TextBox 856"/>
          <p:cNvSpPr txBox="1"/>
          <p:nvPr/>
        </p:nvSpPr>
        <p:spPr>
          <a:xfrm>
            <a:off x="1973893" y="2136913"/>
            <a:ext cx="102841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lvalidation_</a:t>
            </a:r>
          </a:p>
        </p:txBody>
      </p:sp>
      <p:sp>
        <p:nvSpPr>
          <p:cNvPr id="857" name="TextBox 857"/>
          <p:cNvSpPr txBox="1"/>
          <p:nvPr/>
        </p:nvSpPr>
        <p:spPr>
          <a:xfrm>
            <a:off x="1600678" y="2352260"/>
            <a:ext cx="93718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rendering/</a:t>
            </a:r>
          </a:p>
        </p:txBody>
      </p:sp>
      <p:sp>
        <p:nvSpPr>
          <p:cNvPr id="858" name="TextBox 858"/>
          <p:cNvSpPr txBox="1"/>
          <p:nvPr/>
        </p:nvSpPr>
        <p:spPr>
          <a:xfrm>
            <a:off x="1260637" y="2816086"/>
            <a:ext cx="207341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function list_decl_bulk</a:t>
            </a:r>
          </a:p>
        </p:txBody>
      </p:sp>
      <p:sp>
        <p:nvSpPr>
          <p:cNvPr id="859" name="TextBox 859"/>
          <p:cNvSpPr txBox="1"/>
          <p:nvPr/>
        </p:nvSpPr>
        <p:spPr>
          <a:xfrm>
            <a:off x="904010" y="3072847"/>
            <a:ext cx="116111" cy="182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100" dirty="0"/>
              <a:t>2</a:t>
            </a:r>
          </a:p>
        </p:txBody>
      </p:sp>
      <p:sp>
        <p:nvSpPr>
          <p:cNvPr id="860" name="TextBox 860"/>
          <p:cNvSpPr txBox="1"/>
          <p:nvPr/>
        </p:nvSpPr>
        <p:spPr>
          <a:xfrm>
            <a:off x="1467979" y="3072847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for</a:t>
            </a:r>
          </a:p>
        </p:txBody>
      </p:sp>
      <p:sp>
        <p:nvSpPr>
          <p:cNvPr id="861" name="TextBox 861"/>
          <p:cNvSpPr txBox="1"/>
          <p:nvPr/>
        </p:nvSpPr>
        <p:spPr>
          <a:xfrm>
            <a:off x="1832901" y="3072847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 in</a:t>
            </a:r>
          </a:p>
        </p:txBody>
      </p:sp>
      <p:sp>
        <p:nvSpPr>
          <p:cNvPr id="862" name="TextBox 862"/>
          <p:cNvSpPr txBox="1"/>
          <p:nvPr/>
        </p:nvSpPr>
        <p:spPr>
          <a:xfrm>
            <a:off x="2264171" y="3072847"/>
            <a:ext cx="56396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#*/*.c</a:t>
            </a:r>
          </a:p>
        </p:txBody>
      </p:sp>
      <p:sp>
        <p:nvSpPr>
          <p:cNvPr id="863" name="TextBox 863"/>
          <p:cNvSpPr txBox="1"/>
          <p:nvPr/>
        </p:nvSpPr>
        <p:spPr>
          <a:xfrm>
            <a:off x="1642146" y="3279913"/>
            <a:ext cx="17914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list_declarations $i</a:t>
            </a:r>
          </a:p>
        </p:txBody>
      </p:sp>
      <p:sp>
        <p:nvSpPr>
          <p:cNvPr id="864" name="TextBox 864"/>
          <p:cNvSpPr txBox="1"/>
          <p:nvPr/>
        </p:nvSpPr>
        <p:spPr>
          <a:xfrm>
            <a:off x="1467979" y="3520108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865" name="TextBox 865"/>
          <p:cNvSpPr txBox="1"/>
          <p:nvPr/>
        </p:nvSpPr>
        <p:spPr>
          <a:xfrm>
            <a:off x="1268931" y="4215847"/>
            <a:ext cx="205683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function list decl bulk</a:t>
            </a:r>
          </a:p>
        </p:txBody>
      </p:sp>
      <p:sp>
        <p:nvSpPr>
          <p:cNvPr id="866" name="TextBox 866"/>
          <p:cNvSpPr txBox="1"/>
          <p:nvPr/>
        </p:nvSpPr>
        <p:spPr>
          <a:xfrm>
            <a:off x="1459685" y="4422913"/>
            <a:ext cx="33174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for</a:t>
            </a:r>
          </a:p>
        </p:txBody>
      </p:sp>
      <p:sp>
        <p:nvSpPr>
          <p:cNvPr id="867" name="TextBox 867"/>
          <p:cNvSpPr txBox="1"/>
          <p:nvPr/>
        </p:nvSpPr>
        <p:spPr>
          <a:xfrm>
            <a:off x="1832901" y="4431195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 in</a:t>
            </a:r>
          </a:p>
        </p:txBody>
      </p:sp>
      <p:sp>
        <p:nvSpPr>
          <p:cNvPr id="868" name="TextBox 868"/>
          <p:cNvSpPr txBox="1"/>
          <p:nvPr/>
        </p:nvSpPr>
        <p:spPr>
          <a:xfrm>
            <a:off x="2338814" y="4422913"/>
            <a:ext cx="41468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find</a:t>
            </a:r>
          </a:p>
        </p:txBody>
      </p:sp>
      <p:sp>
        <p:nvSpPr>
          <p:cNvPr id="869" name="TextBox 869"/>
          <p:cNvSpPr txBox="1"/>
          <p:nvPr/>
        </p:nvSpPr>
        <p:spPr>
          <a:xfrm>
            <a:off x="2994014" y="4480891"/>
            <a:ext cx="43127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~name</a:t>
            </a:r>
          </a:p>
        </p:txBody>
      </p:sp>
      <p:sp>
        <p:nvSpPr>
          <p:cNvPr id="870" name="TextBox 870"/>
          <p:cNvSpPr txBox="1"/>
          <p:nvPr/>
        </p:nvSpPr>
        <p:spPr>
          <a:xfrm>
            <a:off x="3491635" y="4447760"/>
            <a:ext cx="215635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*</a:t>
            </a:r>
          </a:p>
        </p:txBody>
      </p:sp>
      <p:sp>
        <p:nvSpPr>
          <p:cNvPr id="871" name="TextBox 871"/>
          <p:cNvSpPr txBox="1"/>
          <p:nvPr/>
        </p:nvSpPr>
        <p:spPr>
          <a:xfrm>
            <a:off x="3757032" y="4464326"/>
            <a:ext cx="265397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C" )</a:t>
            </a:r>
          </a:p>
        </p:txBody>
      </p:sp>
      <p:sp>
        <p:nvSpPr>
          <p:cNvPr id="872" name="TextBox 872"/>
          <p:cNvSpPr txBox="1"/>
          <p:nvPr/>
        </p:nvSpPr>
        <p:spPr>
          <a:xfrm>
            <a:off x="1642146" y="4638260"/>
            <a:ext cx="17914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list_declarations $i</a:t>
            </a:r>
          </a:p>
        </p:txBody>
      </p:sp>
      <p:sp>
        <p:nvSpPr>
          <p:cNvPr id="873" name="TextBox 873"/>
          <p:cNvSpPr txBox="1"/>
          <p:nvPr/>
        </p:nvSpPr>
        <p:spPr>
          <a:xfrm>
            <a:off x="1484566" y="4895021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874" name="TextBox 874"/>
          <p:cNvSpPr txBox="1"/>
          <p:nvPr/>
        </p:nvSpPr>
        <p:spPr>
          <a:xfrm>
            <a:off x="1285518" y="5126934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875" name="TextBox 875"/>
          <p:cNvSpPr txBox="1"/>
          <p:nvPr/>
        </p:nvSpPr>
        <p:spPr>
          <a:xfrm>
            <a:off x="1260637" y="5565913"/>
            <a:ext cx="160897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function list_decl</a:t>
            </a:r>
          </a:p>
        </p:txBody>
      </p:sp>
      <p:sp>
        <p:nvSpPr>
          <p:cNvPr id="876" name="TextBox 876"/>
          <p:cNvSpPr txBox="1"/>
          <p:nvPr/>
        </p:nvSpPr>
        <p:spPr>
          <a:xfrm>
            <a:off x="2927665" y="5574195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bulk</a:t>
            </a:r>
          </a:p>
        </p:txBody>
      </p:sp>
      <p:sp>
        <p:nvSpPr>
          <p:cNvPr id="877" name="TextBox 877"/>
          <p:cNvSpPr txBox="1"/>
          <p:nvPr/>
        </p:nvSpPr>
        <p:spPr>
          <a:xfrm>
            <a:off x="1467979" y="5806108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find</a:t>
            </a:r>
          </a:p>
        </p:txBody>
      </p:sp>
      <p:sp>
        <p:nvSpPr>
          <p:cNvPr id="878" name="TextBox 878"/>
          <p:cNvSpPr txBox="1"/>
          <p:nvPr/>
        </p:nvSpPr>
        <p:spPr>
          <a:xfrm>
            <a:off x="2114885" y="5839239"/>
            <a:ext cx="44785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~name</a:t>
            </a:r>
          </a:p>
        </p:txBody>
      </p:sp>
      <p:sp>
        <p:nvSpPr>
          <p:cNvPr id="879" name="TextBox 879"/>
          <p:cNvSpPr txBox="1"/>
          <p:nvPr/>
        </p:nvSpPr>
        <p:spPr>
          <a:xfrm>
            <a:off x="2877903" y="5822673"/>
            <a:ext cx="19904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c"</a:t>
            </a:r>
          </a:p>
        </p:txBody>
      </p:sp>
      <p:sp>
        <p:nvSpPr>
          <p:cNvPr id="880" name="TextBox 880"/>
          <p:cNvSpPr txBox="1"/>
          <p:nvPr/>
        </p:nvSpPr>
        <p:spPr>
          <a:xfrm>
            <a:off x="3217943" y="5789543"/>
            <a:ext cx="2222703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exec list_declarations {}</a:t>
            </a:r>
          </a:p>
        </p:txBody>
      </p:sp>
      <p:sp>
        <p:nvSpPr>
          <p:cNvPr id="881" name="TextBox 881"/>
          <p:cNvSpPr txBox="1"/>
          <p:nvPr/>
        </p:nvSpPr>
        <p:spPr>
          <a:xfrm>
            <a:off x="5482115" y="5822673"/>
            <a:ext cx="19904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;</a:t>
            </a:r>
          </a:p>
        </p:txBody>
      </p:sp>
      <p:sp>
        <p:nvSpPr>
          <p:cNvPr id="882" name="TextBox 882"/>
          <p:cNvSpPr txBox="1"/>
          <p:nvPr/>
        </p:nvSpPr>
        <p:spPr>
          <a:xfrm>
            <a:off x="1274361" y="3781177"/>
            <a:ext cx="312594" cy="1156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883" name="TextBox 883"/>
          <p:cNvSpPr txBox="1"/>
          <p:nvPr/>
        </p:nvSpPr>
        <p:spPr>
          <a:xfrm>
            <a:off x="1274361" y="6067177"/>
            <a:ext cx="312594" cy="1156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3" name="Picture 23" descr="slide-3.svg"/>
          <p:cNvPicPr>
            <a:picLocks noChangeAspect="1"/>
          </p:cNvPicPr>
          <p:nvPr/>
        </p:nvPicPr>
        <p:blipFill>
          <a:blip r:embed="rIdImg2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84" name="TextBox 884"/>
          <p:cNvSpPr txBox="1"/>
          <p:nvPr/>
        </p:nvSpPr>
        <p:spPr>
          <a:xfrm>
            <a:off x="622025" y="505239"/>
            <a:ext cx="4246359" cy="496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100" dirty="0"/>
              <a:t>Ecosistema de Shells</a:t>
            </a:r>
          </a:p>
        </p:txBody>
      </p:sp>
      <p:sp>
        <p:nvSpPr>
          <p:cNvPr id="885" name="TextBox 885"/>
          <p:cNvSpPr txBox="1"/>
          <p:nvPr/>
        </p:nvSpPr>
        <p:spPr>
          <a:xfrm>
            <a:off x="671787" y="1101586"/>
            <a:ext cx="3881437" cy="3147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900" dirty="0"/>
              <a:t>Analisis comparativo de caracteristicas</a:t>
            </a:r>
          </a:p>
        </p:txBody>
      </p:sp>
      <p:sp>
        <p:nvSpPr>
          <p:cNvPr id="886" name="TextBox 886"/>
          <p:cNvSpPr txBox="1"/>
          <p:nvPr/>
        </p:nvSpPr>
        <p:spPr>
          <a:xfrm>
            <a:off x="1310399" y="2103782"/>
            <a:ext cx="597144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Bash</a:t>
            </a:r>
          </a:p>
        </p:txBody>
      </p:sp>
      <p:sp>
        <p:nvSpPr>
          <p:cNvPr id="887" name="TextBox 887"/>
          <p:cNvSpPr txBox="1"/>
          <p:nvPr/>
        </p:nvSpPr>
        <p:spPr>
          <a:xfrm>
            <a:off x="5009376" y="2103782"/>
            <a:ext cx="464445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Zsh</a:t>
            </a:r>
          </a:p>
        </p:txBody>
      </p:sp>
      <p:sp>
        <p:nvSpPr>
          <p:cNvPr id="888" name="TextBox 888"/>
          <p:cNvSpPr txBox="1"/>
          <p:nvPr/>
        </p:nvSpPr>
        <p:spPr>
          <a:xfrm>
            <a:off x="8708353" y="2103782"/>
            <a:ext cx="597144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Fish</a:t>
            </a:r>
          </a:p>
        </p:txBody>
      </p:sp>
      <p:sp>
        <p:nvSpPr>
          <p:cNvPr id="889" name="TextBox 889"/>
          <p:cNvSpPr txBox="1"/>
          <p:nvPr/>
        </p:nvSpPr>
        <p:spPr>
          <a:xfrm>
            <a:off x="9388434" y="2103782"/>
            <a:ext cx="713255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Shell</a:t>
            </a:r>
          </a:p>
        </p:txBody>
      </p:sp>
      <p:sp>
        <p:nvSpPr>
          <p:cNvPr id="890" name="TextBox 890"/>
          <p:cNvSpPr txBox="1"/>
          <p:nvPr/>
        </p:nvSpPr>
        <p:spPr>
          <a:xfrm>
            <a:off x="1161113" y="2766391"/>
            <a:ext cx="162555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ANO DE LANZAMIENTO</a:t>
            </a:r>
          </a:p>
        </p:txBody>
      </p:sp>
      <p:sp>
        <p:nvSpPr>
          <p:cNvPr id="891" name="TextBox 891"/>
          <p:cNvSpPr txBox="1"/>
          <p:nvPr/>
        </p:nvSpPr>
        <p:spPr>
          <a:xfrm>
            <a:off x="4868384" y="2791239"/>
            <a:ext cx="1608971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ANO DE LANZAMIENTO</a:t>
            </a:r>
          </a:p>
        </p:txBody>
      </p:sp>
      <p:sp>
        <p:nvSpPr>
          <p:cNvPr id="892" name="TextBox 892"/>
          <p:cNvSpPr txBox="1"/>
          <p:nvPr/>
        </p:nvSpPr>
        <p:spPr>
          <a:xfrm>
            <a:off x="8559067" y="2766391"/>
            <a:ext cx="162555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ANO DE LANZAMIENTO</a:t>
            </a:r>
          </a:p>
        </p:txBody>
      </p:sp>
      <p:sp>
        <p:nvSpPr>
          <p:cNvPr id="893" name="TextBox 893"/>
          <p:cNvSpPr txBox="1"/>
          <p:nvPr/>
        </p:nvSpPr>
        <p:spPr>
          <a:xfrm>
            <a:off x="1161113" y="3048000"/>
            <a:ext cx="3980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1989</a:t>
            </a:r>
          </a:p>
        </p:txBody>
      </p:sp>
      <p:sp>
        <p:nvSpPr>
          <p:cNvPr id="894" name="TextBox 894"/>
          <p:cNvSpPr txBox="1"/>
          <p:nvPr/>
        </p:nvSpPr>
        <p:spPr>
          <a:xfrm>
            <a:off x="4860090" y="3048000"/>
            <a:ext cx="3980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1990</a:t>
            </a:r>
          </a:p>
        </p:txBody>
      </p:sp>
      <p:sp>
        <p:nvSpPr>
          <p:cNvPr id="895" name="TextBox 895"/>
          <p:cNvSpPr txBox="1"/>
          <p:nvPr/>
        </p:nvSpPr>
        <p:spPr>
          <a:xfrm>
            <a:off x="8559067" y="3031434"/>
            <a:ext cx="39809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2005</a:t>
            </a:r>
          </a:p>
        </p:txBody>
      </p:sp>
      <p:sp>
        <p:nvSpPr>
          <p:cNvPr id="896" name="TextBox 896"/>
          <p:cNvSpPr txBox="1"/>
          <p:nvPr/>
        </p:nvSpPr>
        <p:spPr>
          <a:xfrm>
            <a:off x="1161113" y="3561521"/>
            <a:ext cx="17914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COMPATIBILIDAD POSIX</a:t>
            </a:r>
          </a:p>
        </p:txBody>
      </p:sp>
      <p:sp>
        <p:nvSpPr>
          <p:cNvPr id="897" name="TextBox 897"/>
          <p:cNvSpPr txBox="1"/>
          <p:nvPr/>
        </p:nvSpPr>
        <p:spPr>
          <a:xfrm>
            <a:off x="4860090" y="3561521"/>
            <a:ext cx="17914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COMPATIBILIDAD POSIX</a:t>
            </a:r>
          </a:p>
        </p:txBody>
      </p:sp>
      <p:sp>
        <p:nvSpPr>
          <p:cNvPr id="898" name="TextBox 898"/>
          <p:cNvSpPr txBox="1"/>
          <p:nvPr/>
        </p:nvSpPr>
        <p:spPr>
          <a:xfrm>
            <a:off x="8559067" y="3561521"/>
            <a:ext cx="180802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COMPATIBILIDAD POSIX</a:t>
            </a:r>
          </a:p>
        </p:txBody>
      </p:sp>
      <p:sp>
        <p:nvSpPr>
          <p:cNvPr id="899" name="TextBox 899"/>
          <p:cNvSpPr txBox="1"/>
          <p:nvPr/>
        </p:nvSpPr>
        <p:spPr>
          <a:xfrm>
            <a:off x="1161113" y="3810000"/>
            <a:ext cx="117770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100% Estandar</a:t>
            </a:r>
          </a:p>
        </p:txBody>
      </p:sp>
      <p:sp>
        <p:nvSpPr>
          <p:cNvPr id="900" name="TextBox 900"/>
          <p:cNvSpPr txBox="1"/>
          <p:nvPr/>
        </p:nvSpPr>
        <p:spPr>
          <a:xfrm>
            <a:off x="4860090" y="3826565"/>
            <a:ext cx="1658734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99% (Superconjunto)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8559067" y="3826565"/>
            <a:ext cx="150944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0% (Diseno propio)</a:t>
            </a:r>
          </a:p>
        </p:txBody>
      </p:sp>
      <p:sp>
        <p:nvSpPr>
          <p:cNvPr id="902" name="TextBox 902"/>
          <p:cNvSpPr txBox="1"/>
          <p:nvPr/>
        </p:nvSpPr>
        <p:spPr>
          <a:xfrm>
            <a:off x="1161113" y="4323521"/>
            <a:ext cx="186607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FILOSOFIA DE SINTAXIS</a:t>
            </a:r>
          </a:p>
        </p:txBody>
      </p:sp>
      <p:sp>
        <p:nvSpPr>
          <p:cNvPr id="903" name="TextBox 903"/>
          <p:cNvSpPr txBox="1"/>
          <p:nvPr/>
        </p:nvSpPr>
        <p:spPr>
          <a:xfrm>
            <a:off x="4860090" y="4323521"/>
            <a:ext cx="187436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FILOSOFIA DE SINTAXIS</a:t>
            </a:r>
          </a:p>
        </p:txBody>
      </p:sp>
      <p:sp>
        <p:nvSpPr>
          <p:cNvPr id="904" name="TextBox 904"/>
          <p:cNvSpPr txBox="1"/>
          <p:nvPr/>
        </p:nvSpPr>
        <p:spPr>
          <a:xfrm>
            <a:off x="8559067" y="4323521"/>
            <a:ext cx="186607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FILOSOFIA DE SINTAXIS</a:t>
            </a:r>
          </a:p>
        </p:txBody>
      </p:sp>
      <p:sp>
        <p:nvSpPr>
          <p:cNvPr id="905" name="TextBox 905"/>
          <p:cNvSpPr txBox="1"/>
          <p:nvPr/>
        </p:nvSpPr>
        <p:spPr>
          <a:xfrm>
            <a:off x="1152820" y="4572000"/>
            <a:ext cx="1335280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Clasica y estricta</a:t>
            </a:r>
          </a:p>
        </p:txBody>
      </p:sp>
      <p:sp>
        <p:nvSpPr>
          <p:cNvPr id="906" name="TextBox 906"/>
          <p:cNvSpPr txBox="1"/>
          <p:nvPr/>
        </p:nvSpPr>
        <p:spPr>
          <a:xfrm>
            <a:off x="4860090" y="4605130"/>
            <a:ext cx="1360161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Clasica mejorada</a:t>
            </a:r>
          </a:p>
        </p:txBody>
      </p:sp>
      <p:sp>
        <p:nvSpPr>
          <p:cNvPr id="907" name="TextBox 907"/>
          <p:cNvSpPr txBox="1"/>
          <p:nvPr/>
        </p:nvSpPr>
        <p:spPr>
          <a:xfrm>
            <a:off x="8550773" y="4596847"/>
            <a:ext cx="1550916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Moderna (Humana)</a:t>
            </a:r>
          </a:p>
        </p:txBody>
      </p:sp>
      <p:sp>
        <p:nvSpPr>
          <p:cNvPr id="908" name="TextBox 908"/>
          <p:cNvSpPr txBox="1"/>
          <p:nvPr/>
        </p:nvSpPr>
        <p:spPr>
          <a:xfrm>
            <a:off x="1161113" y="5135217"/>
            <a:ext cx="17084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EXPERIENCIA INICIAL</a:t>
            </a:r>
          </a:p>
        </p:txBody>
      </p:sp>
      <p:sp>
        <p:nvSpPr>
          <p:cNvPr id="909" name="TextBox 909"/>
          <p:cNvSpPr txBox="1"/>
          <p:nvPr/>
        </p:nvSpPr>
        <p:spPr>
          <a:xfrm>
            <a:off x="4860090" y="5135217"/>
            <a:ext cx="17084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EXPERIENCIA INICIAL</a:t>
            </a:r>
          </a:p>
        </p:txBody>
      </p:sp>
      <p:sp>
        <p:nvSpPr>
          <p:cNvPr id="910" name="TextBox 910"/>
          <p:cNvSpPr txBox="1"/>
          <p:nvPr/>
        </p:nvSpPr>
        <p:spPr>
          <a:xfrm>
            <a:off x="8559067" y="5135217"/>
            <a:ext cx="17084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EXPERIENCIA INICIAL</a:t>
            </a:r>
          </a:p>
        </p:txBody>
      </p:sp>
      <p:sp>
        <p:nvSpPr>
          <p:cNvPr id="911" name="TextBox 911"/>
          <p:cNvSpPr txBox="1"/>
          <p:nvPr/>
        </p:nvSpPr>
        <p:spPr>
          <a:xfrm>
            <a:off x="1161113" y="5400260"/>
            <a:ext cx="81277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Espartana</a:t>
            </a:r>
          </a:p>
        </p:txBody>
      </p:sp>
      <p:sp>
        <p:nvSpPr>
          <p:cNvPr id="912" name="TextBox 912"/>
          <p:cNvSpPr txBox="1"/>
          <p:nvPr/>
        </p:nvSpPr>
        <p:spPr>
          <a:xfrm>
            <a:off x="4835209" y="5391978"/>
            <a:ext cx="837660" cy="256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Espartana</a:t>
            </a:r>
          </a:p>
        </p:txBody>
      </p:sp>
      <p:sp>
        <p:nvSpPr>
          <p:cNvPr id="913" name="TextBox 913"/>
          <p:cNvSpPr txBox="1"/>
          <p:nvPr/>
        </p:nvSpPr>
        <p:spPr>
          <a:xfrm>
            <a:off x="8559067" y="5400260"/>
            <a:ext cx="179143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Completa e Inteligente</a:t>
            </a:r>
          </a:p>
        </p:txBody>
      </p:sp>
      <p:sp>
        <p:nvSpPr>
          <p:cNvPr id="914" name="TextBox 914"/>
          <p:cNvSpPr txBox="1"/>
          <p:nvPr/>
        </p:nvSpPr>
        <p:spPr>
          <a:xfrm>
            <a:off x="928891" y="5963478"/>
            <a:ext cx="663493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Plugins</a:t>
            </a:r>
          </a:p>
        </p:txBody>
      </p:sp>
      <p:sp>
        <p:nvSpPr>
          <p:cNvPr id="915" name="TextBox 915"/>
          <p:cNvSpPr txBox="1"/>
          <p:nvPr/>
        </p:nvSpPr>
        <p:spPr>
          <a:xfrm>
            <a:off x="1716789" y="5963478"/>
            <a:ext cx="82936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Limitados</a:t>
            </a:r>
          </a:p>
        </p:txBody>
      </p:sp>
      <p:sp>
        <p:nvSpPr>
          <p:cNvPr id="916" name="TextBox 916"/>
          <p:cNvSpPr txBox="1"/>
          <p:nvPr/>
        </p:nvSpPr>
        <p:spPr>
          <a:xfrm>
            <a:off x="4619574" y="5955195"/>
            <a:ext cx="738136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Plugins:</a:t>
            </a:r>
          </a:p>
        </p:txBody>
      </p:sp>
      <p:sp>
        <p:nvSpPr>
          <p:cNvPr id="917" name="TextBox 917"/>
          <p:cNvSpPr txBox="1"/>
          <p:nvPr/>
        </p:nvSpPr>
        <p:spPr>
          <a:xfrm>
            <a:off x="5407472" y="5963478"/>
            <a:ext cx="170020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Oh My Zsh (Extenso)</a:t>
            </a:r>
          </a:p>
        </p:txBody>
      </p:sp>
      <p:sp>
        <p:nvSpPr>
          <p:cNvPr id="918" name="TextBox 918"/>
          <p:cNvSpPr txBox="1"/>
          <p:nvPr/>
        </p:nvSpPr>
        <p:spPr>
          <a:xfrm>
            <a:off x="8318551" y="5955195"/>
            <a:ext cx="671787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Plugins</a:t>
            </a:r>
          </a:p>
        </p:txBody>
      </p:sp>
      <p:sp>
        <p:nvSpPr>
          <p:cNvPr id="919" name="TextBox 919"/>
          <p:cNvSpPr txBox="1"/>
          <p:nvPr/>
        </p:nvSpPr>
        <p:spPr>
          <a:xfrm>
            <a:off x="9106449" y="5946913"/>
            <a:ext cx="197389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Fisher (Ligero/Nativo)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4" name="Picture 24" descr="slide-30.svg"/>
          <p:cNvPicPr>
            <a:picLocks noChangeAspect="1"/>
          </p:cNvPicPr>
          <p:nvPr/>
        </p:nvPicPr>
        <p:blipFill>
          <a:blip r:embed="rIdImg2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20" name="TextBox 920"/>
          <p:cNvSpPr txBox="1"/>
          <p:nvPr/>
        </p:nvSpPr>
        <p:spPr>
          <a:xfrm>
            <a:off x="2546156" y="2956891"/>
            <a:ext cx="7115968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4800" dirty="0"/>
              <a:t>08. Fish Tools Loader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5" name="Picture 25" descr="slide-31.svg"/>
          <p:cNvPicPr>
            <a:picLocks noChangeAspect="1"/>
          </p:cNvPicPr>
          <p:nvPr/>
        </p:nvPicPr>
        <p:blipFill>
          <a:blip r:embed="rIdImg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21" name="TextBox 921"/>
          <p:cNvSpPr txBox="1"/>
          <p:nvPr/>
        </p:nvSpPr>
        <p:spPr>
          <a:xfrm>
            <a:off x="622025" y="463826"/>
            <a:ext cx="4602986" cy="646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4000" dirty="0"/>
              <a:t>Organizacion modular</a:t>
            </a:r>
          </a:p>
        </p:txBody>
      </p:sp>
      <p:sp>
        <p:nvSpPr>
          <p:cNvPr id="922" name="TextBox 922"/>
          <p:cNvSpPr txBox="1"/>
          <p:nvPr/>
        </p:nvSpPr>
        <p:spPr>
          <a:xfrm>
            <a:off x="655199" y="1085021"/>
            <a:ext cx="7331604" cy="339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100" dirty="0"/>
              <a:t>Todas las funciones anteriores se agrupan en un repositorio estructurado:</a:t>
            </a:r>
          </a:p>
        </p:txBody>
      </p:sp>
      <p:sp>
        <p:nvSpPr>
          <p:cNvPr id="923" name="TextBox 923"/>
          <p:cNvSpPr txBox="1"/>
          <p:nvPr/>
        </p:nvSpPr>
        <p:spPr>
          <a:xfrm>
            <a:off x="1260637" y="1689652"/>
            <a:ext cx="101182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fish_tools/</a:t>
            </a:r>
          </a:p>
        </p:txBody>
      </p:sp>
      <p:sp>
        <p:nvSpPr>
          <p:cNvPr id="924" name="TextBox 924"/>
          <p:cNvSpPr txBox="1"/>
          <p:nvPr/>
        </p:nvSpPr>
        <p:spPr>
          <a:xfrm>
            <a:off x="1625559" y="1921565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init.fish</a:t>
            </a:r>
          </a:p>
        </p:txBody>
      </p:sp>
      <p:sp>
        <p:nvSpPr>
          <p:cNvPr id="925" name="TextBox 925"/>
          <p:cNvSpPr txBox="1"/>
          <p:nvPr/>
        </p:nvSpPr>
        <p:spPr>
          <a:xfrm>
            <a:off x="3458460" y="1946413"/>
            <a:ext cx="48103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Motor</a:t>
            </a:r>
          </a:p>
        </p:txBody>
      </p:sp>
      <p:sp>
        <p:nvSpPr>
          <p:cNvPr id="926" name="TextBox 926"/>
          <p:cNvSpPr txBox="1"/>
          <p:nvPr/>
        </p:nvSpPr>
        <p:spPr>
          <a:xfrm>
            <a:off x="3989255" y="1962978"/>
            <a:ext cx="72984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de carga</a:t>
            </a:r>
          </a:p>
        </p:txBody>
      </p:sp>
      <p:sp>
        <p:nvSpPr>
          <p:cNvPr id="927" name="TextBox 927"/>
          <p:cNvSpPr txBox="1"/>
          <p:nvPr/>
        </p:nvSpPr>
        <p:spPr>
          <a:xfrm>
            <a:off x="1617265" y="2153478"/>
            <a:ext cx="65519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groups/</a:t>
            </a:r>
          </a:p>
        </p:txBody>
      </p:sp>
      <p:sp>
        <p:nvSpPr>
          <p:cNvPr id="928" name="TextBox 928"/>
          <p:cNvSpPr txBox="1"/>
          <p:nvPr/>
        </p:nvSpPr>
        <p:spPr>
          <a:xfrm>
            <a:off x="1642146" y="2385391"/>
            <a:ext cx="28198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</a:t>
            </a:r>
          </a:p>
        </p:txBody>
      </p:sp>
      <p:sp>
        <p:nvSpPr>
          <p:cNvPr id="929" name="TextBox 929"/>
          <p:cNvSpPr txBox="1"/>
          <p:nvPr/>
        </p:nvSpPr>
        <p:spPr>
          <a:xfrm>
            <a:off x="1973893" y="2368826"/>
            <a:ext cx="7464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42tools/</a:t>
            </a:r>
          </a:p>
        </p:txBody>
      </p:sp>
      <p:sp>
        <p:nvSpPr>
          <p:cNvPr id="930" name="TextBox 930"/>
          <p:cNvSpPr txBox="1"/>
          <p:nvPr/>
        </p:nvSpPr>
        <p:spPr>
          <a:xfrm>
            <a:off x="3466754" y="2368826"/>
            <a:ext cx="213976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# list_declarations.fish</a:t>
            </a:r>
          </a:p>
        </p:txBody>
      </p:sp>
      <p:sp>
        <p:nvSpPr>
          <p:cNvPr id="931" name="TextBox 931"/>
          <p:cNvSpPr txBox="1"/>
          <p:nvPr/>
        </p:nvSpPr>
        <p:spPr>
          <a:xfrm>
            <a:off x="1982187" y="2625586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gt/</a:t>
            </a:r>
          </a:p>
        </p:txBody>
      </p:sp>
      <p:sp>
        <p:nvSpPr>
          <p:cNvPr id="932" name="TextBox 932"/>
          <p:cNvSpPr txBox="1"/>
          <p:nvPr/>
        </p:nvSpPr>
        <p:spPr>
          <a:xfrm>
            <a:off x="3450166" y="2617304"/>
            <a:ext cx="64690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gcpush,</a:t>
            </a:r>
          </a:p>
        </p:txBody>
      </p:sp>
      <p:sp>
        <p:nvSpPr>
          <p:cNvPr id="933" name="TextBox 933"/>
          <p:cNvSpPr txBox="1"/>
          <p:nvPr/>
        </p:nvSpPr>
        <p:spPr>
          <a:xfrm>
            <a:off x="4146835" y="2592456"/>
            <a:ext cx="250468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pulleverything, statussearch</a:t>
            </a:r>
          </a:p>
        </p:txBody>
      </p:sp>
      <p:sp>
        <p:nvSpPr>
          <p:cNvPr id="934" name="TextBox 934"/>
          <p:cNvSpPr txBox="1"/>
          <p:nvPr/>
        </p:nvSpPr>
        <p:spPr>
          <a:xfrm>
            <a:off x="1633853" y="2575891"/>
            <a:ext cx="315159" cy="46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900" dirty="0"/>
              <a:t>F</a:t>
            </a:r>
          </a:p>
        </p:txBody>
      </p:sp>
      <p:sp>
        <p:nvSpPr>
          <p:cNvPr id="935" name="TextBox 935"/>
          <p:cNvSpPr txBox="1"/>
          <p:nvPr/>
        </p:nvSpPr>
        <p:spPr>
          <a:xfrm>
            <a:off x="1965599" y="2840934"/>
            <a:ext cx="56396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utils/</a:t>
            </a:r>
          </a:p>
        </p:txBody>
      </p:sp>
      <p:sp>
        <p:nvSpPr>
          <p:cNvPr id="936" name="TextBox 936"/>
          <p:cNvSpPr txBox="1"/>
          <p:nvPr/>
        </p:nvSpPr>
        <p:spPr>
          <a:xfrm>
            <a:off x="3475047" y="2874065"/>
            <a:ext cx="39809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memo</a:t>
            </a:r>
          </a:p>
        </p:txBody>
      </p:sp>
      <p:sp>
        <p:nvSpPr>
          <p:cNvPr id="937" name="TextBox 937"/>
          <p:cNvSpPr txBox="1"/>
          <p:nvPr/>
        </p:nvSpPr>
        <p:spPr>
          <a:xfrm>
            <a:off x="3989255" y="2857500"/>
            <a:ext cx="74643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memoshow</a:t>
            </a:r>
          </a:p>
        </p:txBody>
      </p:sp>
      <p:sp>
        <p:nvSpPr>
          <p:cNvPr id="938" name="TextBox 938"/>
          <p:cNvSpPr txBox="1"/>
          <p:nvPr/>
        </p:nvSpPr>
        <p:spPr>
          <a:xfrm>
            <a:off x="1285518" y="3304760"/>
            <a:ext cx="99524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# init fish</a:t>
            </a:r>
          </a:p>
        </p:txBody>
      </p:sp>
      <p:sp>
        <p:nvSpPr>
          <p:cNvPr id="939" name="TextBox 939"/>
          <p:cNvSpPr txBox="1"/>
          <p:nvPr/>
        </p:nvSpPr>
        <p:spPr>
          <a:xfrm>
            <a:off x="2471513" y="3296478"/>
            <a:ext cx="2239290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Motor de carga automatica</a:t>
            </a:r>
          </a:p>
        </p:txBody>
      </p:sp>
      <p:sp>
        <p:nvSpPr>
          <p:cNvPr id="940" name="TextBox 940"/>
          <p:cNvSpPr txBox="1"/>
          <p:nvPr/>
        </p:nvSpPr>
        <p:spPr>
          <a:xfrm>
            <a:off x="1268931" y="3536673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</a:t>
            </a:r>
          </a:p>
        </p:txBody>
      </p:sp>
      <p:sp>
        <p:nvSpPr>
          <p:cNvPr id="941" name="TextBox 941"/>
          <p:cNvSpPr txBox="1"/>
          <p:nvPr/>
        </p:nvSpPr>
        <p:spPr>
          <a:xfrm>
            <a:off x="1691908" y="3511826"/>
            <a:ext cx="164214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gx FISH_TOOLS_ROOT</a:t>
            </a:r>
          </a:p>
        </p:txBody>
      </p:sp>
      <p:sp>
        <p:nvSpPr>
          <p:cNvPr id="942" name="TextBox 942"/>
          <p:cNvSpPr txBox="1"/>
          <p:nvPr/>
        </p:nvSpPr>
        <p:spPr>
          <a:xfrm>
            <a:off x="3433579" y="3511826"/>
            <a:ext cx="2322227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dirname (status filename))</a:t>
            </a:r>
          </a:p>
        </p:txBody>
      </p:sp>
      <p:sp>
        <p:nvSpPr>
          <p:cNvPr id="943" name="TextBox 943"/>
          <p:cNvSpPr txBox="1"/>
          <p:nvPr/>
        </p:nvSpPr>
        <p:spPr>
          <a:xfrm>
            <a:off x="1260637" y="3959086"/>
            <a:ext cx="379850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for group_dir in SFISH_TOOLS_ROOT/groups/* /</a:t>
            </a:r>
          </a:p>
        </p:txBody>
      </p:sp>
      <p:sp>
        <p:nvSpPr>
          <p:cNvPr id="944" name="TextBox 944"/>
          <p:cNvSpPr txBox="1"/>
          <p:nvPr/>
        </p:nvSpPr>
        <p:spPr>
          <a:xfrm>
            <a:off x="1608971" y="4182717"/>
            <a:ext cx="2935959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for func_file in Sgroup_dir* fish</a:t>
            </a:r>
          </a:p>
        </p:txBody>
      </p:sp>
      <p:sp>
        <p:nvSpPr>
          <p:cNvPr id="945" name="TextBox 945"/>
          <p:cNvSpPr txBox="1"/>
          <p:nvPr/>
        </p:nvSpPr>
        <p:spPr>
          <a:xfrm>
            <a:off x="1998774" y="4464326"/>
            <a:ext cx="53079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source</a:t>
            </a:r>
          </a:p>
        </p:txBody>
      </p:sp>
      <p:sp>
        <p:nvSpPr>
          <p:cNvPr id="946" name="TextBox 946"/>
          <p:cNvSpPr txBox="1"/>
          <p:nvPr/>
        </p:nvSpPr>
        <p:spPr>
          <a:xfrm>
            <a:off x="2587625" y="4406347"/>
            <a:ext cx="91230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Sfunc_file</a:t>
            </a:r>
          </a:p>
        </p:txBody>
      </p:sp>
      <p:sp>
        <p:nvSpPr>
          <p:cNvPr id="947" name="TextBox 947"/>
          <p:cNvSpPr txBox="1"/>
          <p:nvPr/>
        </p:nvSpPr>
        <p:spPr>
          <a:xfrm>
            <a:off x="1633853" y="4646543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948" name="TextBox 948"/>
          <p:cNvSpPr txBox="1"/>
          <p:nvPr/>
        </p:nvSpPr>
        <p:spPr>
          <a:xfrm>
            <a:off x="1285518" y="4895021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949" name="TextBox 949"/>
          <p:cNvSpPr txBox="1"/>
          <p:nvPr/>
        </p:nvSpPr>
        <p:spPr>
          <a:xfrm>
            <a:off x="804485" y="5325717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10</a:t>
            </a:r>
          </a:p>
        </p:txBody>
      </p:sp>
      <p:sp>
        <p:nvSpPr>
          <p:cNvPr id="950" name="TextBox 950"/>
          <p:cNvSpPr txBox="1"/>
          <p:nvPr/>
        </p:nvSpPr>
        <p:spPr>
          <a:xfrm>
            <a:off x="1268931" y="5325717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951" name="TextBox 951"/>
          <p:cNvSpPr txBox="1"/>
          <p:nvPr/>
        </p:nvSpPr>
        <p:spPr>
          <a:xfrm>
            <a:off x="1791432" y="5300869"/>
            <a:ext cx="99524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fish_tools:</a:t>
            </a:r>
          </a:p>
        </p:txBody>
      </p:sp>
      <p:sp>
        <p:nvSpPr>
          <p:cNvPr id="952" name="TextBox 952"/>
          <p:cNvSpPr txBox="1"/>
          <p:nvPr/>
        </p:nvSpPr>
        <p:spPr>
          <a:xfrm>
            <a:off x="3101832" y="5300869"/>
            <a:ext cx="273691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count SFISH_TOOLS_ROOT/groups/*</a:t>
            </a:r>
          </a:p>
        </p:txBody>
      </p:sp>
      <p:sp>
        <p:nvSpPr>
          <p:cNvPr id="953" name="TextBox 953"/>
          <p:cNvSpPr txBox="1"/>
          <p:nvPr/>
        </p:nvSpPr>
        <p:spPr>
          <a:xfrm>
            <a:off x="6054379" y="5317434"/>
            <a:ext cx="4810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fish)</a:t>
            </a:r>
          </a:p>
        </p:txBody>
      </p:sp>
      <p:sp>
        <p:nvSpPr>
          <p:cNvPr id="954" name="TextBox 954"/>
          <p:cNvSpPr txBox="1"/>
          <p:nvPr/>
        </p:nvSpPr>
        <p:spPr>
          <a:xfrm>
            <a:off x="6668110" y="5300869"/>
            <a:ext cx="1691908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funciones cargadas"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6" name="Picture 26" descr="slide-32.svg"/>
          <p:cNvPicPr>
            <a:picLocks noChangeAspect="1"/>
          </p:cNvPicPr>
          <p:nvPr/>
        </p:nvPicPr>
        <p:blipFill>
          <a:blip r:embed="rIdImg2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55" name="TextBox 955"/>
          <p:cNvSpPr txBox="1"/>
          <p:nvPr/>
        </p:nvSpPr>
        <p:spPr>
          <a:xfrm>
            <a:off x="638612" y="505239"/>
            <a:ext cx="4511756" cy="513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200" dirty="0"/>
              <a:t>Sincronizacion via Git</a:t>
            </a:r>
          </a:p>
        </p:txBody>
      </p:sp>
      <p:sp>
        <p:nvSpPr>
          <p:cNvPr id="956" name="TextBox 956"/>
          <p:cNvSpPr txBox="1"/>
          <p:nvPr/>
        </p:nvSpPr>
        <p:spPr>
          <a:xfrm>
            <a:off x="1260637" y="1308652"/>
            <a:ext cx="275349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# En ~/ .config/fish/config.fish</a:t>
            </a:r>
          </a:p>
        </p:txBody>
      </p:sp>
      <p:sp>
        <p:nvSpPr>
          <p:cNvPr id="957" name="TextBox 957"/>
          <p:cNvSpPr txBox="1"/>
          <p:nvPr/>
        </p:nvSpPr>
        <p:spPr>
          <a:xfrm>
            <a:off x="1268931" y="1548847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</a:t>
            </a:r>
          </a:p>
        </p:txBody>
      </p:sp>
      <p:sp>
        <p:nvSpPr>
          <p:cNvPr id="958" name="TextBox 958"/>
          <p:cNvSpPr txBox="1"/>
          <p:nvPr/>
        </p:nvSpPr>
        <p:spPr>
          <a:xfrm>
            <a:off x="1625559" y="1524000"/>
            <a:ext cx="170849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~gx FISH_TOOLS_ROOT</a:t>
            </a:r>
          </a:p>
        </p:txBody>
      </p:sp>
      <p:sp>
        <p:nvSpPr>
          <p:cNvPr id="959" name="TextBox 959"/>
          <p:cNvSpPr txBox="1"/>
          <p:nvPr/>
        </p:nvSpPr>
        <p:spPr>
          <a:xfrm>
            <a:off x="3441873" y="1515717"/>
            <a:ext cx="1716789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/path/to/fish_tools</a:t>
            </a:r>
          </a:p>
        </p:txBody>
      </p:sp>
      <p:sp>
        <p:nvSpPr>
          <p:cNvPr id="960" name="TextBox 960"/>
          <p:cNvSpPr txBox="1"/>
          <p:nvPr/>
        </p:nvSpPr>
        <p:spPr>
          <a:xfrm>
            <a:off x="1277225" y="1755913"/>
            <a:ext cx="291937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source SFISH_TOOLS_ROOT/init.fish</a:t>
            </a:r>
          </a:p>
        </p:txBody>
      </p:sp>
      <p:sp>
        <p:nvSpPr>
          <p:cNvPr id="961" name="TextBox 961"/>
          <p:cNvSpPr txBox="1"/>
          <p:nvPr/>
        </p:nvSpPr>
        <p:spPr>
          <a:xfrm>
            <a:off x="671787" y="2277717"/>
            <a:ext cx="1078177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Ventajas:</a:t>
            </a:r>
          </a:p>
        </p:txBody>
      </p:sp>
      <p:sp>
        <p:nvSpPr>
          <p:cNvPr id="962" name="TextBox 962"/>
          <p:cNvSpPr txBox="1"/>
          <p:nvPr/>
        </p:nvSpPr>
        <p:spPr>
          <a:xfrm>
            <a:off x="937184" y="2824369"/>
            <a:ext cx="6369538" cy="3230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000" dirty="0"/>
              <a:t>Las funciones se cargan automaticamente por grupos tematicos</a:t>
            </a:r>
          </a:p>
        </p:txBody>
      </p:sp>
      <p:sp>
        <p:nvSpPr>
          <p:cNvPr id="963" name="TextBox 963"/>
          <p:cNvSpPr txBox="1"/>
          <p:nvPr/>
        </p:nvSpPr>
        <p:spPr>
          <a:xfrm>
            <a:off x="953772" y="3205369"/>
            <a:ext cx="6560293" cy="3147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900" dirty="0"/>
              <a:t>El autocompletado con TAB funciona para todos los subcomandos</a:t>
            </a:r>
          </a:p>
        </p:txBody>
      </p:sp>
      <p:sp>
        <p:nvSpPr>
          <p:cNvPr id="964" name="TextBox 964"/>
          <p:cNvSpPr txBox="1"/>
          <p:nvPr/>
        </p:nvSpPr>
        <p:spPr>
          <a:xfrm>
            <a:off x="953772" y="3602934"/>
            <a:ext cx="3383817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Se sincroniza entre maquinas con</a:t>
            </a:r>
          </a:p>
        </p:txBody>
      </p:sp>
      <p:sp>
        <p:nvSpPr>
          <p:cNvPr id="965" name="TextBox 965"/>
          <p:cNvSpPr txBox="1"/>
          <p:nvPr/>
        </p:nvSpPr>
        <p:spPr>
          <a:xfrm>
            <a:off x="4412232" y="3619500"/>
            <a:ext cx="1036708" cy="2733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700" dirty="0"/>
              <a:t>git pull</a:t>
            </a:r>
          </a:p>
        </p:txBody>
      </p:sp>
      <p:sp>
        <p:nvSpPr>
          <p:cNvPr id="966" name="TextBox 966"/>
          <p:cNvSpPr txBox="1"/>
          <p:nvPr/>
        </p:nvSpPr>
        <p:spPr>
          <a:xfrm>
            <a:off x="5515290" y="3586369"/>
            <a:ext cx="2985721" cy="339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100" dirty="0"/>
              <a:t>si se guarda en un repositorio</a:t>
            </a:r>
          </a:p>
        </p:txBody>
      </p:sp>
      <p:sp>
        <p:nvSpPr>
          <p:cNvPr id="967" name="TextBox 967"/>
          <p:cNvSpPr txBox="1"/>
          <p:nvPr/>
        </p:nvSpPr>
        <p:spPr>
          <a:xfrm>
            <a:off x="953772" y="4017065"/>
            <a:ext cx="4229771" cy="3147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900" dirty="0"/>
              <a:t>Cada funcion es un archivo independiente</a:t>
            </a:r>
          </a:p>
        </p:txBody>
      </p:sp>
      <p:sp>
        <p:nvSpPr>
          <p:cNvPr id="968" name="TextBox 968"/>
          <p:cNvSpPr txBox="1"/>
          <p:nvPr/>
        </p:nvSpPr>
        <p:spPr>
          <a:xfrm>
            <a:off x="5424060" y="4025347"/>
            <a:ext cx="1791432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facil de mantener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7" name="Picture 27" descr="slide-33.svg"/>
          <p:cNvPicPr>
            <a:picLocks noChangeAspect="1"/>
          </p:cNvPicPr>
          <p:nvPr/>
        </p:nvPicPr>
        <p:blipFill>
          <a:blip r:embed="rIdImg2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69" name="TextBox 969"/>
          <p:cNvSpPr txBox="1"/>
          <p:nvPr/>
        </p:nvSpPr>
        <p:spPr>
          <a:xfrm>
            <a:off x="3541397" y="2932043"/>
            <a:ext cx="5050845" cy="8034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5000" dirty="0"/>
              <a:t>09. Conclusion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8" name="Picture 28" descr="slide-34.svg"/>
          <p:cNvPicPr>
            <a:picLocks noChangeAspect="1"/>
          </p:cNvPicPr>
          <p:nvPr/>
        </p:nvPicPr>
        <p:blipFill>
          <a:blip r:embed="rIdImg2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70" name="TextBox 970"/>
          <p:cNvSpPr txBox="1"/>
          <p:nvPr/>
        </p:nvSpPr>
        <p:spPr>
          <a:xfrm>
            <a:off x="605437" y="455543"/>
            <a:ext cx="2712030" cy="629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900" dirty="0"/>
              <a:t>€Cual elegir?</a:t>
            </a:r>
          </a:p>
        </p:txBody>
      </p:sp>
      <p:sp>
        <p:nvSpPr>
          <p:cNvPr id="971" name="TextBox 971"/>
          <p:cNvSpPr txBox="1"/>
          <p:nvPr/>
        </p:nvSpPr>
        <p:spPr>
          <a:xfrm>
            <a:off x="771311" y="1333500"/>
            <a:ext cx="80448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CONTEXTO</a:t>
            </a:r>
          </a:p>
        </p:txBody>
      </p:sp>
      <p:sp>
        <p:nvSpPr>
          <p:cNvPr id="972" name="TextBox 972"/>
          <p:cNvSpPr txBox="1"/>
          <p:nvPr/>
        </p:nvSpPr>
        <p:spPr>
          <a:xfrm>
            <a:off x="7638470" y="1333500"/>
            <a:ext cx="126893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RECOMENDACION</a:t>
            </a:r>
          </a:p>
        </p:txBody>
      </p:sp>
      <p:sp>
        <p:nvSpPr>
          <p:cNvPr id="973" name="TextBox 973"/>
          <p:cNvSpPr txBox="1"/>
          <p:nvPr/>
        </p:nvSpPr>
        <p:spPr>
          <a:xfrm>
            <a:off x="787898" y="1880152"/>
            <a:ext cx="76301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Servidores</a:t>
            </a:r>
          </a:p>
        </p:txBody>
      </p:sp>
      <p:sp>
        <p:nvSpPr>
          <p:cNvPr id="974" name="TextBox 974"/>
          <p:cNvSpPr txBox="1"/>
          <p:nvPr/>
        </p:nvSpPr>
        <p:spPr>
          <a:xfrm>
            <a:off x="1617265" y="1880152"/>
            <a:ext cx="44785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CICD</a:t>
            </a:r>
          </a:p>
        </p:txBody>
      </p:sp>
      <p:sp>
        <p:nvSpPr>
          <p:cNvPr id="975" name="TextBox 975"/>
          <p:cNvSpPr txBox="1"/>
          <p:nvPr/>
        </p:nvSpPr>
        <p:spPr>
          <a:xfrm>
            <a:off x="2164647" y="1880152"/>
            <a:ext cx="51420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Docker</a:t>
            </a:r>
          </a:p>
        </p:txBody>
      </p:sp>
      <p:sp>
        <p:nvSpPr>
          <p:cNvPr id="976" name="TextBox 976"/>
          <p:cNvSpPr txBox="1"/>
          <p:nvPr/>
        </p:nvSpPr>
        <p:spPr>
          <a:xfrm>
            <a:off x="7655057" y="1880152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Bash</a:t>
            </a:r>
          </a:p>
        </p:txBody>
      </p:sp>
      <p:sp>
        <p:nvSpPr>
          <p:cNvPr id="977" name="TextBox 977"/>
          <p:cNvSpPr txBox="1"/>
          <p:nvPr/>
        </p:nvSpPr>
        <p:spPr>
          <a:xfrm>
            <a:off x="779604" y="2368826"/>
            <a:ext cx="238857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Compartir herramientas en equipo</a:t>
            </a:r>
          </a:p>
        </p:txBody>
      </p:sp>
      <p:sp>
        <p:nvSpPr>
          <p:cNvPr id="978" name="TextBox 978"/>
          <p:cNvSpPr txBox="1"/>
          <p:nvPr/>
        </p:nvSpPr>
        <p:spPr>
          <a:xfrm>
            <a:off x="7655057" y="2393673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Bash</a:t>
            </a:r>
          </a:p>
        </p:txBody>
      </p:sp>
      <p:sp>
        <p:nvSpPr>
          <p:cNvPr id="979" name="TextBox 979"/>
          <p:cNvSpPr txBox="1"/>
          <p:nvPr/>
        </p:nvSpPr>
        <p:spPr>
          <a:xfrm>
            <a:off x="771311" y="2865782"/>
            <a:ext cx="194901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macOS (sin configurar nada)</a:t>
            </a:r>
          </a:p>
        </p:txBody>
      </p:sp>
      <p:sp>
        <p:nvSpPr>
          <p:cNvPr id="980" name="TextBox 980"/>
          <p:cNvSpPr txBox="1"/>
          <p:nvPr/>
        </p:nvSpPr>
        <p:spPr>
          <a:xfrm>
            <a:off x="7655057" y="2890630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Zsh</a:t>
            </a:r>
          </a:p>
        </p:txBody>
      </p:sp>
      <p:sp>
        <p:nvSpPr>
          <p:cNvPr id="981" name="TextBox 981"/>
          <p:cNvSpPr txBox="1"/>
          <p:nvPr/>
        </p:nvSpPr>
        <p:spPr>
          <a:xfrm>
            <a:off x="787898" y="3404152"/>
            <a:ext cx="147627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Personalizacion total</a:t>
            </a:r>
          </a:p>
        </p:txBody>
      </p:sp>
      <p:sp>
        <p:nvSpPr>
          <p:cNvPr id="982" name="TextBox 982"/>
          <p:cNvSpPr txBox="1"/>
          <p:nvPr/>
        </p:nvSpPr>
        <p:spPr>
          <a:xfrm>
            <a:off x="7638470" y="3404152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Zsh</a:t>
            </a:r>
          </a:p>
        </p:txBody>
      </p:sp>
      <p:sp>
        <p:nvSpPr>
          <p:cNvPr id="983" name="TextBox 983"/>
          <p:cNvSpPr txBox="1"/>
          <p:nvPr/>
        </p:nvSpPr>
        <p:spPr>
          <a:xfrm>
            <a:off x="8160971" y="3395869"/>
            <a:ext cx="8459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Oh My Zsh</a:t>
            </a:r>
          </a:p>
        </p:txBody>
      </p:sp>
      <p:sp>
        <p:nvSpPr>
          <p:cNvPr id="984" name="TextBox 984"/>
          <p:cNvSpPr txBox="1"/>
          <p:nvPr/>
        </p:nvSpPr>
        <p:spPr>
          <a:xfrm>
            <a:off x="779604" y="3892826"/>
            <a:ext cx="182460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Productividad local diaria</a:t>
            </a:r>
          </a:p>
        </p:txBody>
      </p:sp>
      <p:sp>
        <p:nvSpPr>
          <p:cNvPr id="985" name="TextBox 985"/>
          <p:cNvSpPr txBox="1"/>
          <p:nvPr/>
        </p:nvSpPr>
        <p:spPr>
          <a:xfrm>
            <a:off x="7638470" y="3917673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Fish</a:t>
            </a:r>
          </a:p>
        </p:txBody>
      </p:sp>
      <p:sp>
        <p:nvSpPr>
          <p:cNvPr id="986" name="TextBox 986"/>
          <p:cNvSpPr txBox="1"/>
          <p:nvPr/>
        </p:nvSpPr>
        <p:spPr>
          <a:xfrm>
            <a:off x="845954" y="4406347"/>
            <a:ext cx="237198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Que funcione desde el minuto uno</a:t>
            </a:r>
          </a:p>
        </p:txBody>
      </p:sp>
      <p:sp>
        <p:nvSpPr>
          <p:cNvPr id="987" name="TextBox 987"/>
          <p:cNvSpPr txBox="1"/>
          <p:nvPr/>
        </p:nvSpPr>
        <p:spPr>
          <a:xfrm>
            <a:off x="7630176" y="4406347"/>
            <a:ext cx="41468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Fish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29" name="Picture 29" descr="slide-35.svg"/>
          <p:cNvPicPr>
            <a:picLocks noChangeAspect="1"/>
          </p:cNvPicPr>
          <p:nvPr/>
        </p:nvPicPr>
        <p:blipFill>
          <a:blip r:embed="rIdImg2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88" name="TextBox 988"/>
          <p:cNvSpPr txBox="1"/>
          <p:nvPr/>
        </p:nvSpPr>
        <p:spPr>
          <a:xfrm>
            <a:off x="4030723" y="2658717"/>
            <a:ext cx="4553224" cy="9442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5900" dirty="0"/>
              <a:t>Gracias!</a:t>
            </a:r>
          </a:p>
        </p:txBody>
      </p:sp>
      <p:sp>
        <p:nvSpPr>
          <p:cNvPr id="989" name="TextBox 989"/>
          <p:cNvSpPr txBox="1"/>
          <p:nvPr/>
        </p:nvSpPr>
        <p:spPr>
          <a:xfrm>
            <a:off x="5084019" y="3594652"/>
            <a:ext cx="1998774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600" dirty="0"/>
              <a:t>mlermo-j</a:t>
            </a:r>
          </a:p>
        </p:txBody>
      </p:sp>
      <p:sp>
        <p:nvSpPr>
          <p:cNvPr id="990" name="TextBox 990"/>
          <p:cNvSpPr txBox="1"/>
          <p:nvPr/>
        </p:nvSpPr>
        <p:spPr>
          <a:xfrm>
            <a:off x="5175250" y="4290391"/>
            <a:ext cx="953772" cy="256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42 Malaga</a:t>
            </a:r>
          </a:p>
        </p:txBody>
      </p:sp>
      <p:sp>
        <p:nvSpPr>
          <p:cNvPr id="991" name="TextBox 991"/>
          <p:cNvSpPr txBox="1"/>
          <p:nvPr/>
        </p:nvSpPr>
        <p:spPr>
          <a:xfrm>
            <a:off x="6369538" y="4306956"/>
            <a:ext cx="64690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Shells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0" name="Picture 30" descr="slide-4.svg"/>
          <p:cNvPicPr>
            <a:picLocks noChangeAspect="1"/>
          </p:cNvPicPr>
          <p:nvPr/>
        </p:nvPicPr>
        <p:blipFill>
          <a:blip r:embed="rIdImg3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92" name="TextBox 992"/>
          <p:cNvSpPr txBox="1"/>
          <p:nvPr/>
        </p:nvSpPr>
        <p:spPr>
          <a:xfrm>
            <a:off x="356627" y="422413"/>
            <a:ext cx="1774845" cy="546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400" dirty="0"/>
              <a:t>Ventajas</a:t>
            </a:r>
          </a:p>
        </p:txBody>
      </p:sp>
      <p:sp>
        <p:nvSpPr>
          <p:cNvPr id="993" name="TextBox 993"/>
          <p:cNvSpPr txBox="1"/>
          <p:nvPr/>
        </p:nvSpPr>
        <p:spPr>
          <a:xfrm>
            <a:off x="796192" y="1341782"/>
            <a:ext cx="597144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Bash</a:t>
            </a:r>
          </a:p>
        </p:txBody>
      </p:sp>
      <p:sp>
        <p:nvSpPr>
          <p:cNvPr id="994" name="TextBox 994"/>
          <p:cNvSpPr txBox="1"/>
          <p:nvPr/>
        </p:nvSpPr>
        <p:spPr>
          <a:xfrm>
            <a:off x="4677629" y="1358347"/>
            <a:ext cx="464445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Zsh</a:t>
            </a:r>
          </a:p>
        </p:txBody>
      </p:sp>
      <p:sp>
        <p:nvSpPr>
          <p:cNvPr id="995" name="TextBox 995"/>
          <p:cNvSpPr txBox="1"/>
          <p:nvPr/>
        </p:nvSpPr>
        <p:spPr>
          <a:xfrm>
            <a:off x="8575654" y="1341782"/>
            <a:ext cx="597144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Fish</a:t>
            </a:r>
          </a:p>
        </p:txBody>
      </p:sp>
      <p:sp>
        <p:nvSpPr>
          <p:cNvPr id="996" name="TextBox 996"/>
          <p:cNvSpPr txBox="1"/>
          <p:nvPr/>
        </p:nvSpPr>
        <p:spPr>
          <a:xfrm>
            <a:off x="754723" y="1880152"/>
            <a:ext cx="15260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Portabilidad absoluta:</a:t>
            </a:r>
          </a:p>
        </p:txBody>
      </p:sp>
      <p:sp>
        <p:nvSpPr>
          <p:cNvPr id="997" name="TextBox 997"/>
          <p:cNvSpPr txBox="1"/>
          <p:nvPr/>
        </p:nvSpPr>
        <p:spPr>
          <a:xfrm>
            <a:off x="4685923" y="1871869"/>
            <a:ext cx="150115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Compatibilidad total:</a:t>
            </a:r>
          </a:p>
        </p:txBody>
      </p:sp>
      <p:sp>
        <p:nvSpPr>
          <p:cNvPr id="998" name="TextBox 998"/>
          <p:cNvSpPr txBox="1"/>
          <p:nvPr/>
        </p:nvSpPr>
        <p:spPr>
          <a:xfrm>
            <a:off x="8650297" y="1871869"/>
            <a:ext cx="1667027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Autocompletado nativo:</a:t>
            </a:r>
          </a:p>
        </p:txBody>
      </p:sp>
      <p:sp>
        <p:nvSpPr>
          <p:cNvPr id="999" name="TextBox 999"/>
          <p:cNvSpPr txBox="1"/>
          <p:nvPr/>
        </p:nvSpPr>
        <p:spPr>
          <a:xfrm>
            <a:off x="547382" y="2120347"/>
            <a:ext cx="19738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Linux, macOS, WSL, servidores,</a:t>
            </a:r>
          </a:p>
        </p:txBody>
      </p:sp>
      <p:sp>
        <p:nvSpPr>
          <p:cNvPr id="1000" name="TextBox 1000"/>
          <p:cNvSpPr txBox="1"/>
          <p:nvPr/>
        </p:nvSpPr>
        <p:spPr>
          <a:xfrm>
            <a:off x="2562744" y="2161760"/>
            <a:ext cx="879129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contenedores_</a:t>
            </a:r>
          </a:p>
        </p:txBody>
      </p:sp>
      <p:sp>
        <p:nvSpPr>
          <p:cNvPr id="1001" name="TextBox 1001"/>
          <p:cNvSpPr txBox="1"/>
          <p:nvPr/>
        </p:nvSpPr>
        <p:spPr>
          <a:xfrm>
            <a:off x="4495169" y="2120347"/>
            <a:ext cx="2670561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Los scripts de Bash funcionan sin cambios_</a:t>
            </a:r>
          </a:p>
        </p:txBody>
      </p:sp>
      <p:sp>
        <p:nvSpPr>
          <p:cNvPr id="1002" name="TextBox 1002"/>
          <p:cNvSpPr txBox="1"/>
          <p:nvPr/>
        </p:nvSpPr>
        <p:spPr>
          <a:xfrm>
            <a:off x="8442956" y="2120347"/>
            <a:ext cx="81277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Lee paginas</a:t>
            </a:r>
          </a:p>
        </p:txBody>
      </p:sp>
      <p:sp>
        <p:nvSpPr>
          <p:cNvPr id="1003" name="TextBox 1003"/>
          <p:cNvSpPr txBox="1"/>
          <p:nvPr/>
        </p:nvSpPr>
        <p:spPr>
          <a:xfrm>
            <a:off x="9313791" y="2178326"/>
            <a:ext cx="265397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man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9761649" y="2145195"/>
            <a:ext cx="16255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sugiere comandos en gris_</a:t>
            </a:r>
          </a:p>
        </p:txBody>
      </p:sp>
      <p:sp>
        <p:nvSpPr>
          <p:cNvPr id="1005" name="TextBox 1005"/>
          <p:cNvSpPr txBox="1"/>
          <p:nvPr/>
        </p:nvSpPr>
        <p:spPr>
          <a:xfrm>
            <a:off x="763017" y="2476500"/>
            <a:ext cx="163385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Documentacion infinita: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4702510" y="2476500"/>
            <a:ext cx="79619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Oh My Zsh: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8658591" y="2459934"/>
            <a:ext cx="109476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Sintaxis limpia:</a:t>
            </a:r>
          </a:p>
        </p:txBody>
      </p:sp>
      <p:sp>
        <p:nvSpPr>
          <p:cNvPr id="1008" name="TextBox 1008"/>
          <p:cNvSpPr txBox="1"/>
          <p:nvPr/>
        </p:nvSpPr>
        <p:spPr>
          <a:xfrm>
            <a:off x="555675" y="2741543"/>
            <a:ext cx="315159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todo</a:t>
            </a:r>
          </a:p>
        </p:txBody>
      </p:sp>
      <p:sp>
        <p:nvSpPr>
          <p:cNvPr id="1009" name="TextBox 1009"/>
          <p:cNvSpPr txBox="1"/>
          <p:nvPr/>
        </p:nvSpPr>
        <p:spPr>
          <a:xfrm>
            <a:off x="854248" y="2683565"/>
            <a:ext cx="239687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problema ya fue resuelto en internet.</a:t>
            </a:r>
          </a:p>
        </p:txBody>
      </p:sp>
      <p:sp>
        <p:nvSpPr>
          <p:cNvPr id="1010" name="TextBox 1010"/>
          <p:cNvSpPr txBox="1"/>
          <p:nvPr/>
        </p:nvSpPr>
        <p:spPr>
          <a:xfrm>
            <a:off x="4495169" y="2700130"/>
            <a:ext cx="286960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El mayor ecosistema de plugins y temas de la</a:t>
            </a:r>
          </a:p>
        </p:txBody>
      </p:sp>
      <p:sp>
        <p:nvSpPr>
          <p:cNvPr id="1011" name="TextBox 1011"/>
          <p:cNvSpPr txBox="1"/>
          <p:nvPr/>
        </p:nvSpPr>
        <p:spPr>
          <a:xfrm>
            <a:off x="8451249" y="2708413"/>
            <a:ext cx="49762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Adios a</a:t>
            </a:r>
          </a:p>
        </p:txBody>
      </p:sp>
      <p:sp>
        <p:nvSpPr>
          <p:cNvPr id="1012" name="TextBox 1012"/>
          <p:cNvSpPr txBox="1"/>
          <p:nvPr/>
        </p:nvSpPr>
        <p:spPr>
          <a:xfrm>
            <a:off x="9031806" y="2741543"/>
            <a:ext cx="18246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do</a:t>
            </a:r>
          </a:p>
        </p:txBody>
      </p:sp>
      <p:sp>
        <p:nvSpPr>
          <p:cNvPr id="1013" name="TextBox 1013"/>
          <p:cNvSpPr txBox="1"/>
          <p:nvPr/>
        </p:nvSpPr>
        <p:spPr>
          <a:xfrm>
            <a:off x="9264029" y="2741543"/>
            <a:ext cx="54738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done/fi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9927523" y="2741543"/>
            <a:ext cx="109476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todo termina con</a:t>
            </a:r>
          </a:p>
        </p:txBody>
      </p:sp>
      <p:sp>
        <p:nvSpPr>
          <p:cNvPr id="1015" name="TextBox 1015"/>
          <p:cNvSpPr txBox="1"/>
          <p:nvPr/>
        </p:nvSpPr>
        <p:spPr>
          <a:xfrm>
            <a:off x="11121811" y="2758108"/>
            <a:ext cx="24881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end</a:t>
            </a:r>
          </a:p>
        </p:txBody>
      </p:sp>
      <p:sp>
        <p:nvSpPr>
          <p:cNvPr id="1016" name="TextBox 1016"/>
          <p:cNvSpPr txBox="1"/>
          <p:nvPr/>
        </p:nvSpPr>
        <p:spPr>
          <a:xfrm>
            <a:off x="4520050" y="2973456"/>
            <a:ext cx="74643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comunidad.</a:t>
            </a:r>
          </a:p>
        </p:txBody>
      </p:sp>
      <p:sp>
        <p:nvSpPr>
          <p:cNvPr id="1017" name="TextBox 1017"/>
          <p:cNvSpPr txBox="1"/>
          <p:nvPr/>
        </p:nvSpPr>
        <p:spPr>
          <a:xfrm>
            <a:off x="754723" y="3056282"/>
            <a:ext cx="68008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Estandar:</a:t>
            </a:r>
          </a:p>
        </p:txBody>
      </p:sp>
      <p:sp>
        <p:nvSpPr>
          <p:cNvPr id="1018" name="TextBox 1018"/>
          <p:cNvSpPr txBox="1"/>
          <p:nvPr/>
        </p:nvSpPr>
        <p:spPr>
          <a:xfrm>
            <a:off x="8733234" y="3105978"/>
            <a:ext cx="63031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argparse</a:t>
            </a:r>
          </a:p>
        </p:txBody>
      </p:sp>
      <p:sp>
        <p:nvSpPr>
          <p:cNvPr id="1019" name="TextBox 1019"/>
          <p:cNvSpPr txBox="1"/>
          <p:nvPr/>
        </p:nvSpPr>
        <p:spPr>
          <a:xfrm>
            <a:off x="9446490" y="3089413"/>
            <a:ext cx="72984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integrado:</a:t>
            </a:r>
          </a:p>
        </p:txBody>
      </p:sp>
      <p:sp>
        <p:nvSpPr>
          <p:cNvPr id="1020" name="TextBox 1020"/>
          <p:cNvSpPr txBox="1"/>
          <p:nvPr/>
        </p:nvSpPr>
        <p:spPr>
          <a:xfrm>
            <a:off x="547382" y="3296478"/>
            <a:ext cx="32842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El rey en CICD, Dockerfiles y scripts de instalacion .</a:t>
            </a:r>
          </a:p>
        </p:txBody>
      </p:sp>
      <p:sp>
        <p:nvSpPr>
          <p:cNvPr id="1021" name="TextBox 1021"/>
          <p:cNvSpPr txBox="1"/>
          <p:nvPr/>
        </p:nvSpPr>
        <p:spPr>
          <a:xfrm>
            <a:off x="4702510" y="3304760"/>
            <a:ext cx="107817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Personalizable:</a:t>
            </a:r>
          </a:p>
        </p:txBody>
      </p:sp>
      <p:sp>
        <p:nvSpPr>
          <p:cNvPr id="1022" name="TextBox 1022"/>
          <p:cNvSpPr txBox="1"/>
          <p:nvPr/>
        </p:nvSpPr>
        <p:spPr>
          <a:xfrm>
            <a:off x="8467837" y="3321326"/>
            <a:ext cx="2969133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Procesa banderas avanzadas en una sola linea.</a:t>
            </a:r>
          </a:p>
        </p:txBody>
      </p:sp>
      <p:sp>
        <p:nvSpPr>
          <p:cNvPr id="1023" name="TextBox 1023"/>
          <p:cNvSpPr txBox="1"/>
          <p:nvPr/>
        </p:nvSpPr>
        <p:spPr>
          <a:xfrm>
            <a:off x="4495169" y="3544956"/>
            <a:ext cx="325111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Puedes redefinir cualquier comportamiento interno.</a:t>
            </a:r>
          </a:p>
        </p:txBody>
      </p:sp>
      <p:sp>
        <p:nvSpPr>
          <p:cNvPr id="1024" name="TextBox 1024"/>
          <p:cNvSpPr txBox="1"/>
          <p:nvPr/>
        </p:nvSpPr>
        <p:spPr>
          <a:xfrm>
            <a:off x="738136" y="3652630"/>
            <a:ext cx="53908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Ligero:</a:t>
            </a:r>
          </a:p>
        </p:txBody>
      </p:sp>
      <p:sp>
        <p:nvSpPr>
          <p:cNvPr id="1025" name="TextBox 1025"/>
          <p:cNvSpPr txBox="1"/>
          <p:nvPr/>
        </p:nvSpPr>
        <p:spPr>
          <a:xfrm>
            <a:off x="8650297" y="3669195"/>
            <a:ext cx="978653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Listas nativas:</a:t>
            </a:r>
          </a:p>
        </p:txBody>
      </p:sp>
      <p:sp>
        <p:nvSpPr>
          <p:cNvPr id="1026" name="TextBox 1026"/>
          <p:cNvSpPr txBox="1"/>
          <p:nvPr/>
        </p:nvSpPr>
        <p:spPr>
          <a:xfrm>
            <a:off x="547382" y="3892826"/>
            <a:ext cx="278667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Sin dependencias externas y ultra rapido en</a:t>
            </a:r>
          </a:p>
        </p:txBody>
      </p:sp>
      <p:sp>
        <p:nvSpPr>
          <p:cNvPr id="1027" name="TextBox 1027"/>
          <p:cNvSpPr txBox="1"/>
          <p:nvPr/>
        </p:nvSpPr>
        <p:spPr>
          <a:xfrm>
            <a:off x="4702510" y="3901108"/>
            <a:ext cx="46444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Nativo</a:t>
            </a:r>
          </a:p>
        </p:txBody>
      </p:sp>
      <p:sp>
        <p:nvSpPr>
          <p:cNvPr id="1028" name="TextBox 1028"/>
          <p:cNvSpPr txBox="1"/>
          <p:nvPr/>
        </p:nvSpPr>
        <p:spPr>
          <a:xfrm>
            <a:off x="5200131" y="3950804"/>
            <a:ext cx="182460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en</a:t>
            </a:r>
          </a:p>
        </p:txBody>
      </p:sp>
      <p:sp>
        <p:nvSpPr>
          <p:cNvPr id="1029" name="TextBox 1029"/>
          <p:cNvSpPr txBox="1"/>
          <p:nvPr/>
        </p:nvSpPr>
        <p:spPr>
          <a:xfrm>
            <a:off x="5366004" y="3876260"/>
            <a:ext cx="505913" cy="24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Apple:</a:t>
            </a:r>
          </a:p>
        </p:txBody>
      </p:sp>
      <p:sp>
        <p:nvSpPr>
          <p:cNvPr id="1030" name="TextBox 1030"/>
          <p:cNvSpPr txBox="1"/>
          <p:nvPr/>
        </p:nvSpPr>
        <p:spPr>
          <a:xfrm>
            <a:off x="8442956" y="3892826"/>
            <a:ext cx="31018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Manejo de arrays real sin comillas de proteccion.</a:t>
            </a:r>
          </a:p>
        </p:txBody>
      </p:sp>
      <p:sp>
        <p:nvSpPr>
          <p:cNvPr id="1031" name="TextBox 1031"/>
          <p:cNvSpPr txBox="1"/>
          <p:nvPr/>
        </p:nvSpPr>
        <p:spPr>
          <a:xfrm>
            <a:off x="572263" y="4182717"/>
            <a:ext cx="63031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arranque.</a:t>
            </a:r>
          </a:p>
        </p:txBody>
      </p:sp>
      <p:sp>
        <p:nvSpPr>
          <p:cNvPr id="1032" name="TextBox 1032"/>
          <p:cNvSpPr txBox="1"/>
          <p:nvPr/>
        </p:nvSpPr>
        <p:spPr>
          <a:xfrm>
            <a:off x="4495169" y="4141304"/>
            <a:ext cx="290278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Es la Shell por defecto en macOS actualmente_</a:t>
            </a:r>
          </a:p>
        </p:txBody>
      </p:sp>
      <p:sp>
        <p:nvSpPr>
          <p:cNvPr id="1033" name="TextBox 1033"/>
          <p:cNvSpPr txBox="1"/>
          <p:nvPr/>
        </p:nvSpPr>
        <p:spPr>
          <a:xfrm>
            <a:off x="8724940" y="4257260"/>
            <a:ext cx="638612" cy="1573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funcsave</a:t>
            </a:r>
          </a:p>
        </p:txBody>
      </p:sp>
      <p:sp>
        <p:nvSpPr>
          <p:cNvPr id="1034" name="TextBox 1034"/>
          <p:cNvSpPr txBox="1"/>
          <p:nvPr/>
        </p:nvSpPr>
        <p:spPr>
          <a:xfrm>
            <a:off x="738136" y="4456043"/>
            <a:ext cx="1501154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Compatibilidad total:</a:t>
            </a:r>
          </a:p>
        </p:txBody>
      </p:sp>
      <p:sp>
        <p:nvSpPr>
          <p:cNvPr id="1035" name="TextBox 1035"/>
          <p:cNvSpPr txBox="1"/>
          <p:nvPr/>
        </p:nvSpPr>
        <p:spPr>
          <a:xfrm>
            <a:off x="4694217" y="4489173"/>
            <a:ext cx="1625559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Mejor autocompletado:</a:t>
            </a:r>
          </a:p>
        </p:txBody>
      </p:sp>
      <p:sp>
        <p:nvSpPr>
          <p:cNvPr id="1036" name="TextBox 1036"/>
          <p:cNvSpPr txBox="1"/>
          <p:nvPr/>
        </p:nvSpPr>
        <p:spPr>
          <a:xfrm>
            <a:off x="8467837" y="4497456"/>
            <a:ext cx="278667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Guardado instantaneo de funciones desde la</a:t>
            </a:r>
          </a:p>
        </p:txBody>
      </p:sp>
      <p:sp>
        <p:nvSpPr>
          <p:cNvPr id="1037" name="TextBox 1037"/>
          <p:cNvSpPr txBox="1"/>
          <p:nvPr/>
        </p:nvSpPr>
        <p:spPr>
          <a:xfrm>
            <a:off x="547382" y="4737652"/>
            <a:ext cx="278667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Scripts de hace decadas siguen funcionando</a:t>
            </a:r>
          </a:p>
        </p:txBody>
      </p:sp>
      <p:sp>
        <p:nvSpPr>
          <p:cNvPr id="1038" name="TextBox 1038"/>
          <p:cNvSpPr txBox="1"/>
          <p:nvPr/>
        </p:nvSpPr>
        <p:spPr>
          <a:xfrm>
            <a:off x="4503462" y="4745934"/>
            <a:ext cx="177484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Supera &amp; Bash ampliamente</a:t>
            </a:r>
          </a:p>
        </p:txBody>
      </p:sp>
      <p:sp>
        <p:nvSpPr>
          <p:cNvPr id="1039" name="TextBox 1039"/>
          <p:cNvSpPr txBox="1"/>
          <p:nvPr/>
        </p:nvSpPr>
        <p:spPr>
          <a:xfrm>
            <a:off x="8451249" y="4762500"/>
            <a:ext cx="59714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terminal:</a:t>
            </a:r>
          </a:p>
        </p:txBody>
      </p:sp>
      <p:sp>
        <p:nvSpPr>
          <p:cNvPr id="1040" name="TextBox 1040"/>
          <p:cNvSpPr txBox="1"/>
          <p:nvPr/>
        </p:nvSpPr>
        <p:spPr>
          <a:xfrm>
            <a:off x="4702510" y="5068956"/>
            <a:ext cx="1119645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Arrays flexibles:</a:t>
            </a:r>
          </a:p>
        </p:txBody>
      </p:sp>
      <p:sp>
        <p:nvSpPr>
          <p:cNvPr id="1041" name="TextBox 1041"/>
          <p:cNvSpPr txBox="1"/>
          <p:nvPr/>
        </p:nvSpPr>
        <p:spPr>
          <a:xfrm>
            <a:off x="8642004" y="5068956"/>
            <a:ext cx="126063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Rapido y robusto:</a:t>
            </a:r>
          </a:p>
        </p:txBody>
      </p:sp>
      <p:sp>
        <p:nvSpPr>
          <p:cNvPr id="1042" name="TextBox 1042"/>
          <p:cNvSpPr txBox="1"/>
          <p:nvPr/>
        </p:nvSpPr>
        <p:spPr>
          <a:xfrm>
            <a:off x="4495169" y="5334000"/>
            <a:ext cx="300230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Manipulacion limpia sin requerir   ${array[e]}</a:t>
            </a:r>
          </a:p>
        </p:txBody>
      </p:sp>
      <p:sp>
        <p:nvSpPr>
          <p:cNvPr id="1043" name="TextBox 1043"/>
          <p:cNvSpPr txBox="1"/>
          <p:nvPr/>
        </p:nvSpPr>
        <p:spPr>
          <a:xfrm>
            <a:off x="8451249" y="5342282"/>
            <a:ext cx="235540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Disenado desde cero y escrito en C++_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1" name="Picture 31" descr="slide-5.svg"/>
          <p:cNvPicPr>
            <a:picLocks noChangeAspect="1"/>
          </p:cNvPicPr>
          <p:nvPr/>
        </p:nvPicPr>
        <p:blipFill>
          <a:blip r:embed="rIdImg3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44" name="TextBox 1044"/>
          <p:cNvSpPr txBox="1"/>
          <p:nvPr/>
        </p:nvSpPr>
        <p:spPr>
          <a:xfrm>
            <a:off x="323453" y="438978"/>
            <a:ext cx="2471513" cy="530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300" dirty="0"/>
              <a:t>Desventajas</a:t>
            </a:r>
          </a:p>
        </p:txBody>
      </p:sp>
      <p:sp>
        <p:nvSpPr>
          <p:cNvPr id="1045" name="TextBox 1045"/>
          <p:cNvSpPr txBox="1"/>
          <p:nvPr/>
        </p:nvSpPr>
        <p:spPr>
          <a:xfrm>
            <a:off x="796192" y="1341782"/>
            <a:ext cx="597144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Bash</a:t>
            </a:r>
          </a:p>
        </p:txBody>
      </p:sp>
      <p:sp>
        <p:nvSpPr>
          <p:cNvPr id="1046" name="TextBox 1046"/>
          <p:cNvSpPr txBox="1"/>
          <p:nvPr/>
        </p:nvSpPr>
        <p:spPr>
          <a:xfrm>
            <a:off x="4677629" y="1358347"/>
            <a:ext cx="464445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Zsh</a:t>
            </a:r>
          </a:p>
        </p:txBody>
      </p:sp>
      <p:sp>
        <p:nvSpPr>
          <p:cNvPr id="1047" name="TextBox 1047"/>
          <p:cNvSpPr txBox="1"/>
          <p:nvPr/>
        </p:nvSpPr>
        <p:spPr>
          <a:xfrm>
            <a:off x="8575654" y="1341782"/>
            <a:ext cx="597144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Fish</a:t>
            </a:r>
          </a:p>
        </p:txBody>
      </p:sp>
      <p:sp>
        <p:nvSpPr>
          <p:cNvPr id="1048" name="TextBox 1048"/>
          <p:cNvSpPr txBox="1"/>
          <p:nvPr/>
        </p:nvSpPr>
        <p:spPr>
          <a:xfrm>
            <a:off x="771311" y="1896717"/>
            <a:ext cx="109476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Sintaxis arcaica:</a:t>
            </a:r>
          </a:p>
        </p:txBody>
      </p:sp>
      <p:sp>
        <p:nvSpPr>
          <p:cNvPr id="1049" name="TextBox 1049"/>
          <p:cNvSpPr txBox="1"/>
          <p:nvPr/>
        </p:nvSpPr>
        <p:spPr>
          <a:xfrm>
            <a:off x="4685923" y="1855304"/>
            <a:ext cx="1667027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Requiere configuracion:</a:t>
            </a:r>
          </a:p>
        </p:txBody>
      </p:sp>
      <p:sp>
        <p:nvSpPr>
          <p:cNvPr id="1050" name="TextBox 1050"/>
          <p:cNvSpPr txBox="1"/>
          <p:nvPr/>
        </p:nvSpPr>
        <p:spPr>
          <a:xfrm>
            <a:off x="8633710" y="1855304"/>
            <a:ext cx="1716789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Incompatibilidad POSIX:</a:t>
            </a:r>
          </a:p>
        </p:txBody>
      </p:sp>
      <p:sp>
        <p:nvSpPr>
          <p:cNvPr id="1051" name="TextBox 1051"/>
          <p:cNvSpPr txBox="1"/>
          <p:nvPr/>
        </p:nvSpPr>
        <p:spPr>
          <a:xfrm>
            <a:off x="563969" y="2120347"/>
            <a:ext cx="328429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Un espacio en blanco mal puesto rompe el script pOr</a:t>
            </a:r>
          </a:p>
        </p:txBody>
      </p:sp>
      <p:sp>
        <p:nvSpPr>
          <p:cNvPr id="1052" name="TextBox 1052"/>
          <p:cNvSpPr txBox="1"/>
          <p:nvPr/>
        </p:nvSpPr>
        <p:spPr>
          <a:xfrm>
            <a:off x="4495169" y="2120347"/>
            <a:ext cx="132698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Sin plugins externos_</a:t>
            </a:r>
          </a:p>
        </p:txBody>
      </p:sp>
      <p:sp>
        <p:nvSpPr>
          <p:cNvPr id="1053" name="TextBox 1053"/>
          <p:cNvSpPr txBox="1"/>
          <p:nvPr/>
        </p:nvSpPr>
        <p:spPr>
          <a:xfrm>
            <a:off x="5855331" y="2136913"/>
            <a:ext cx="187436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es visualmente tan gris como</a:t>
            </a:r>
          </a:p>
        </p:txBody>
      </p:sp>
      <p:sp>
        <p:nvSpPr>
          <p:cNvPr id="1054" name="TextBox 1054"/>
          <p:cNvSpPr txBox="1"/>
          <p:nvPr/>
        </p:nvSpPr>
        <p:spPr>
          <a:xfrm>
            <a:off x="8442956" y="2120347"/>
            <a:ext cx="305207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Los scripts de Bash tradicionales no funcionaran</a:t>
            </a:r>
          </a:p>
        </p:txBody>
      </p:sp>
      <p:sp>
        <p:nvSpPr>
          <p:cNvPr id="1055" name="TextBox 1055"/>
          <p:cNvSpPr txBox="1"/>
          <p:nvPr/>
        </p:nvSpPr>
        <p:spPr>
          <a:xfrm>
            <a:off x="572263" y="2393673"/>
            <a:ext cx="59714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completo_</a:t>
            </a:r>
          </a:p>
        </p:txBody>
      </p:sp>
      <p:sp>
        <p:nvSpPr>
          <p:cNvPr id="1056" name="TextBox 1056"/>
          <p:cNvSpPr txBox="1"/>
          <p:nvPr/>
        </p:nvSpPr>
        <p:spPr>
          <a:xfrm>
            <a:off x="4520050" y="2393673"/>
            <a:ext cx="34833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Bash:</a:t>
            </a:r>
          </a:p>
        </p:txBody>
      </p:sp>
      <p:sp>
        <p:nvSpPr>
          <p:cNvPr id="1057" name="TextBox 1057"/>
          <p:cNvSpPr txBox="1"/>
          <p:nvPr/>
        </p:nvSpPr>
        <p:spPr>
          <a:xfrm>
            <a:off x="8451249" y="2410239"/>
            <a:ext cx="84595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nativamente_</a:t>
            </a:r>
          </a:p>
        </p:txBody>
      </p:sp>
      <p:sp>
        <p:nvSpPr>
          <p:cNvPr id="1058" name="TextBox 1058"/>
          <p:cNvSpPr txBox="1"/>
          <p:nvPr/>
        </p:nvSpPr>
        <p:spPr>
          <a:xfrm>
            <a:off x="754723" y="2724978"/>
            <a:ext cx="122746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Espacios en rutas:</a:t>
            </a:r>
          </a:p>
        </p:txBody>
      </p:sp>
      <p:sp>
        <p:nvSpPr>
          <p:cNvPr id="1059" name="TextBox 1059"/>
          <p:cNvSpPr txBox="1"/>
          <p:nvPr/>
        </p:nvSpPr>
        <p:spPr>
          <a:xfrm>
            <a:off x="4702510" y="2708413"/>
            <a:ext cx="64690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Lentitud: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8666885" y="2724978"/>
            <a:ext cx="1608971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Ausencia en servidores:</a:t>
            </a:r>
          </a:p>
        </p:txBody>
      </p:sp>
      <p:sp>
        <p:nvSpPr>
          <p:cNvPr id="1061" name="TextBox 1061"/>
          <p:cNvSpPr txBox="1"/>
          <p:nvPr/>
        </p:nvSpPr>
        <p:spPr>
          <a:xfrm>
            <a:off x="547382" y="2948608"/>
            <a:ext cx="326770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Olvidar las comillas dobles desarma los argumentos</a:t>
            </a:r>
          </a:p>
        </p:txBody>
      </p:sp>
      <p:sp>
        <p:nvSpPr>
          <p:cNvPr id="1062" name="TextBox 1062"/>
          <p:cNvSpPr txBox="1"/>
          <p:nvPr/>
        </p:nvSpPr>
        <p:spPr>
          <a:xfrm>
            <a:off x="4503462" y="2948608"/>
            <a:ext cx="2761792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Cargar Oh My Zsh con muchos temas puede</a:t>
            </a:r>
          </a:p>
        </p:txBody>
      </p:sp>
      <p:sp>
        <p:nvSpPr>
          <p:cNvPr id="1063" name="TextBox 1063"/>
          <p:cNvSpPr txBox="1"/>
          <p:nvPr/>
        </p:nvSpPr>
        <p:spPr>
          <a:xfrm>
            <a:off x="8459543" y="2948608"/>
            <a:ext cx="33672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Rara vez viene instalado por defecto en servidores de</a:t>
            </a:r>
          </a:p>
        </p:txBody>
      </p:sp>
      <p:sp>
        <p:nvSpPr>
          <p:cNvPr id="1064" name="TextBox 1064"/>
          <p:cNvSpPr txBox="1"/>
          <p:nvPr/>
        </p:nvSpPr>
        <p:spPr>
          <a:xfrm>
            <a:off x="4503462" y="3221934"/>
            <a:ext cx="139333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ralentizar el arranque</a:t>
            </a:r>
          </a:p>
        </p:txBody>
      </p:sp>
      <p:sp>
        <p:nvSpPr>
          <p:cNvPr id="1065" name="TextBox 1065"/>
          <p:cNvSpPr txBox="1"/>
          <p:nvPr/>
        </p:nvSpPr>
        <p:spPr>
          <a:xfrm>
            <a:off x="8451249" y="3197086"/>
            <a:ext cx="754723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produccion .</a:t>
            </a:r>
          </a:p>
        </p:txBody>
      </p:sp>
      <p:sp>
        <p:nvSpPr>
          <p:cNvPr id="1066" name="TextBox 1066"/>
          <p:cNvSpPr txBox="1"/>
          <p:nvPr/>
        </p:nvSpPr>
        <p:spPr>
          <a:xfrm>
            <a:off x="771311" y="3321326"/>
            <a:ext cx="1061589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Parseo tedioso:</a:t>
            </a:r>
          </a:p>
        </p:txBody>
      </p:sp>
      <p:sp>
        <p:nvSpPr>
          <p:cNvPr id="1067" name="TextBox 1067"/>
          <p:cNvSpPr txBox="1"/>
          <p:nvPr/>
        </p:nvSpPr>
        <p:spPr>
          <a:xfrm>
            <a:off x="572263" y="3569804"/>
            <a:ext cx="99524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Requiere bucles</a:t>
            </a:r>
          </a:p>
        </p:txBody>
      </p:sp>
      <p:sp>
        <p:nvSpPr>
          <p:cNvPr id="1068" name="TextBox 1068"/>
          <p:cNvSpPr txBox="1"/>
          <p:nvPr/>
        </p:nvSpPr>
        <p:spPr>
          <a:xfrm>
            <a:off x="1650440" y="3586369"/>
            <a:ext cx="39809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while</a:t>
            </a:r>
          </a:p>
        </p:txBody>
      </p:sp>
      <p:sp>
        <p:nvSpPr>
          <p:cNvPr id="1069" name="TextBox 1069"/>
          <p:cNvSpPr txBox="1"/>
          <p:nvPr/>
        </p:nvSpPr>
        <p:spPr>
          <a:xfrm>
            <a:off x="2247584" y="3602934"/>
            <a:ext cx="331746" cy="115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case</a:t>
            </a:r>
          </a:p>
        </p:txBody>
      </p:sp>
      <p:sp>
        <p:nvSpPr>
          <p:cNvPr id="1070" name="TextBox 1070"/>
          <p:cNvSpPr txBox="1"/>
          <p:nvPr/>
        </p:nvSpPr>
        <p:spPr>
          <a:xfrm>
            <a:off x="2778379" y="3586369"/>
            <a:ext cx="398096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shift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3259412" y="3602934"/>
            <a:ext cx="281984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para</a:t>
            </a:r>
          </a:p>
        </p:txBody>
      </p:sp>
      <p:sp>
        <p:nvSpPr>
          <p:cNvPr id="1072" name="TextBox 1072"/>
          <p:cNvSpPr txBox="1"/>
          <p:nvPr/>
        </p:nvSpPr>
        <p:spPr>
          <a:xfrm>
            <a:off x="4702510" y="3553239"/>
            <a:ext cx="127722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Sintaxis heredada:</a:t>
            </a:r>
          </a:p>
        </p:txBody>
      </p:sp>
      <p:sp>
        <p:nvSpPr>
          <p:cNvPr id="1073" name="TextBox 1073"/>
          <p:cNvSpPr txBox="1"/>
          <p:nvPr/>
        </p:nvSpPr>
        <p:spPr>
          <a:xfrm>
            <a:off x="8666885" y="3586369"/>
            <a:ext cx="1277225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Ecosistema menor:</a:t>
            </a:r>
          </a:p>
        </p:txBody>
      </p:sp>
      <p:sp>
        <p:nvSpPr>
          <p:cNvPr id="1074" name="TextBox 1074"/>
          <p:cNvSpPr txBox="1"/>
          <p:nvPr/>
        </p:nvSpPr>
        <p:spPr>
          <a:xfrm>
            <a:off x="572263" y="3818282"/>
            <a:ext cx="1111351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banderas simples_</a:t>
            </a:r>
          </a:p>
        </p:txBody>
      </p:sp>
      <p:sp>
        <p:nvSpPr>
          <p:cNvPr id="1075" name="TextBox 1075"/>
          <p:cNvSpPr txBox="1"/>
          <p:nvPr/>
        </p:nvSpPr>
        <p:spPr>
          <a:xfrm>
            <a:off x="4495169" y="3793434"/>
            <a:ext cx="217294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Mantiene la logica pesada de usar</a:t>
            </a:r>
          </a:p>
        </p:txBody>
      </p:sp>
      <p:sp>
        <p:nvSpPr>
          <p:cNvPr id="1076" name="TextBox 1076"/>
          <p:cNvSpPr txBox="1"/>
          <p:nvPr/>
        </p:nvSpPr>
        <p:spPr>
          <a:xfrm>
            <a:off x="6742753" y="3834847"/>
            <a:ext cx="18246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fi</a:t>
            </a:r>
          </a:p>
        </p:txBody>
      </p:sp>
      <p:sp>
        <p:nvSpPr>
          <p:cNvPr id="1077" name="TextBox 1077"/>
          <p:cNvSpPr txBox="1"/>
          <p:nvPr/>
        </p:nvSpPr>
        <p:spPr>
          <a:xfrm>
            <a:off x="7124262" y="3834847"/>
            <a:ext cx="315159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done</a:t>
            </a:r>
          </a:p>
        </p:txBody>
      </p:sp>
      <p:sp>
        <p:nvSpPr>
          <p:cNvPr id="1078" name="TextBox 1078"/>
          <p:cNvSpPr txBox="1"/>
          <p:nvPr/>
        </p:nvSpPr>
        <p:spPr>
          <a:xfrm>
            <a:off x="8467837" y="3818282"/>
            <a:ext cx="306865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Tiene menos recursos listos para usar que Oh My</a:t>
            </a:r>
          </a:p>
        </p:txBody>
      </p:sp>
      <p:sp>
        <p:nvSpPr>
          <p:cNvPr id="1079" name="TextBox 1079"/>
          <p:cNvSpPr txBox="1"/>
          <p:nvPr/>
        </p:nvSpPr>
        <p:spPr>
          <a:xfrm>
            <a:off x="4561518" y="4041913"/>
            <a:ext cx="44785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[C ]]</a:t>
            </a:r>
          </a:p>
        </p:txBody>
      </p:sp>
      <p:sp>
        <p:nvSpPr>
          <p:cNvPr id="1080" name="TextBox 1080"/>
          <p:cNvSpPr txBox="1"/>
          <p:nvPr/>
        </p:nvSpPr>
        <p:spPr>
          <a:xfrm>
            <a:off x="8451249" y="4050195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Zsh:</a:t>
            </a:r>
          </a:p>
        </p:txBody>
      </p:sp>
      <p:sp>
        <p:nvSpPr>
          <p:cNvPr id="1081" name="TextBox 1081"/>
          <p:cNvSpPr txBox="1"/>
          <p:nvPr/>
        </p:nvSpPr>
        <p:spPr>
          <a:xfrm>
            <a:off x="771311" y="4149586"/>
            <a:ext cx="16255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Autocompletado basico:</a:t>
            </a:r>
          </a:p>
        </p:txBody>
      </p:sp>
      <p:sp>
        <p:nvSpPr>
          <p:cNvPr id="1082" name="TextBox 1082"/>
          <p:cNvSpPr txBox="1"/>
          <p:nvPr/>
        </p:nvSpPr>
        <p:spPr>
          <a:xfrm>
            <a:off x="572263" y="4398065"/>
            <a:ext cx="1675321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Por defecto viene limitado</a:t>
            </a:r>
          </a:p>
        </p:txBody>
      </p:sp>
      <p:sp>
        <p:nvSpPr>
          <p:cNvPr id="1083" name="TextBox 1083"/>
          <p:cNvSpPr txBox="1"/>
          <p:nvPr/>
        </p:nvSpPr>
        <p:spPr>
          <a:xfrm>
            <a:off x="2355402" y="4398065"/>
            <a:ext cx="131869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comandos y archivos</a:t>
            </a:r>
          </a:p>
        </p:txBody>
      </p:sp>
      <p:sp>
        <p:nvSpPr>
          <p:cNvPr id="1084" name="TextBox 1084"/>
          <p:cNvSpPr txBox="1"/>
          <p:nvPr/>
        </p:nvSpPr>
        <p:spPr>
          <a:xfrm>
            <a:off x="4719098" y="4414630"/>
            <a:ext cx="1078177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Inconsistencias:</a:t>
            </a:r>
          </a:p>
        </p:txBody>
      </p:sp>
      <p:sp>
        <p:nvSpPr>
          <p:cNvPr id="1085" name="TextBox 1085"/>
          <p:cNvSpPr txBox="1"/>
          <p:nvPr/>
        </p:nvSpPr>
        <p:spPr>
          <a:xfrm>
            <a:off x="8666885" y="4398065"/>
            <a:ext cx="180802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Herramientas CLI externas:</a:t>
            </a:r>
          </a:p>
        </p:txBody>
      </p:sp>
      <p:sp>
        <p:nvSpPr>
          <p:cNvPr id="1086" name="TextBox 1086"/>
          <p:cNvSpPr txBox="1"/>
          <p:nvPr/>
        </p:nvSpPr>
        <p:spPr>
          <a:xfrm>
            <a:off x="555675" y="4663108"/>
            <a:ext cx="49762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locales.</a:t>
            </a:r>
          </a:p>
        </p:txBody>
      </p:sp>
      <p:sp>
        <p:nvSpPr>
          <p:cNvPr id="1087" name="TextBox 1087"/>
          <p:cNvSpPr txBox="1"/>
          <p:nvPr/>
        </p:nvSpPr>
        <p:spPr>
          <a:xfrm>
            <a:off x="4495169" y="4638260"/>
            <a:ext cx="331746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Algunas funciones nativas de Bash no se comportan</a:t>
            </a:r>
          </a:p>
        </p:txBody>
      </p:sp>
      <p:sp>
        <p:nvSpPr>
          <p:cNvPr id="1088" name="TextBox 1088"/>
          <p:cNvSpPr txBox="1"/>
          <p:nvPr/>
        </p:nvSpPr>
        <p:spPr>
          <a:xfrm>
            <a:off x="8600535" y="4663108"/>
            <a:ext cx="2123179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veces requieren envoltorios como</a:t>
            </a:r>
          </a:p>
        </p:txBody>
      </p:sp>
      <p:sp>
        <p:nvSpPr>
          <p:cNvPr id="1089" name="TextBox 1089"/>
          <p:cNvSpPr txBox="1"/>
          <p:nvPr/>
        </p:nvSpPr>
        <p:spPr>
          <a:xfrm>
            <a:off x="10806652" y="4679673"/>
            <a:ext cx="315159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bass</a:t>
            </a:r>
          </a:p>
        </p:txBody>
      </p:sp>
      <p:sp>
        <p:nvSpPr>
          <p:cNvPr id="1090" name="TextBox 1090"/>
          <p:cNvSpPr txBox="1"/>
          <p:nvPr/>
        </p:nvSpPr>
        <p:spPr>
          <a:xfrm>
            <a:off x="4478581" y="4886739"/>
            <a:ext cx="71325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igual aqui:</a:t>
            </a:r>
          </a:p>
        </p:txBody>
      </p:sp>
      <p:sp>
        <p:nvSpPr>
          <p:cNvPr id="1091" name="TextBox 1091"/>
          <p:cNvSpPr txBox="1"/>
          <p:nvPr/>
        </p:nvSpPr>
        <p:spPr>
          <a:xfrm>
            <a:off x="8467837" y="4911586"/>
            <a:ext cx="1210875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traduccion manual.</a:t>
            </a:r>
          </a:p>
        </p:txBody>
      </p:sp>
      <p:sp>
        <p:nvSpPr>
          <p:cNvPr id="1092" name="TextBox 1092"/>
          <p:cNvSpPr txBox="1"/>
          <p:nvPr/>
        </p:nvSpPr>
        <p:spPr>
          <a:xfrm>
            <a:off x="4694217" y="5234608"/>
            <a:ext cx="159238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Dependencias pesadas:</a:t>
            </a:r>
          </a:p>
        </p:txBody>
      </p:sp>
      <p:sp>
        <p:nvSpPr>
          <p:cNvPr id="1093" name="TextBox 1093"/>
          <p:cNvSpPr txBox="1"/>
          <p:nvPr/>
        </p:nvSpPr>
        <p:spPr>
          <a:xfrm>
            <a:off x="8650297" y="5218043"/>
            <a:ext cx="1517741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Curva de aprendizaje:</a:t>
            </a:r>
          </a:p>
        </p:txBody>
      </p:sp>
      <p:sp>
        <p:nvSpPr>
          <p:cNvPr id="1094" name="TextBox 1094"/>
          <p:cNvSpPr txBox="1"/>
          <p:nvPr/>
        </p:nvSpPr>
        <p:spPr>
          <a:xfrm>
            <a:off x="4495169" y="5449956"/>
            <a:ext cx="3284293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Oh My Zsh puede convertirse en un monstruo dificil</a:t>
            </a:r>
          </a:p>
        </p:txBody>
      </p:sp>
      <p:sp>
        <p:nvSpPr>
          <p:cNvPr id="1095" name="TextBox 1095"/>
          <p:cNvSpPr txBox="1"/>
          <p:nvPr/>
        </p:nvSpPr>
        <p:spPr>
          <a:xfrm>
            <a:off x="8442956" y="5449956"/>
            <a:ext cx="283643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Su sintaxis diferente puede chocar a usuarios</a:t>
            </a:r>
          </a:p>
        </p:txBody>
      </p:sp>
      <p:sp>
        <p:nvSpPr>
          <p:cNvPr id="1096" name="TextBox 1096"/>
          <p:cNvSpPr txBox="1"/>
          <p:nvPr/>
        </p:nvSpPr>
        <p:spPr>
          <a:xfrm>
            <a:off x="4503462" y="5723282"/>
            <a:ext cx="69666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de auditar:</a:t>
            </a:r>
          </a:p>
        </p:txBody>
      </p:sp>
      <p:sp>
        <p:nvSpPr>
          <p:cNvPr id="1097" name="TextBox 1097"/>
          <p:cNvSpPr txBox="1"/>
          <p:nvPr/>
        </p:nvSpPr>
        <p:spPr>
          <a:xfrm>
            <a:off x="8451249" y="5723282"/>
            <a:ext cx="149286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veteranos de BashZsh: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2" name="Picture 32" descr="slide-6.svg"/>
          <p:cNvPicPr>
            <a:picLocks noChangeAspect="1"/>
          </p:cNvPicPr>
          <p:nvPr/>
        </p:nvPicPr>
        <p:blipFill>
          <a:blip r:embed="rIdImg3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98" name="TextBox 1098"/>
          <p:cNvSpPr txBox="1"/>
          <p:nvPr/>
        </p:nvSpPr>
        <p:spPr>
          <a:xfrm>
            <a:off x="655199" y="488673"/>
            <a:ext cx="5175250" cy="546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400" dirty="0"/>
              <a:t>Variables y Condicionales</a:t>
            </a:r>
          </a:p>
        </p:txBody>
      </p:sp>
      <p:sp>
        <p:nvSpPr>
          <p:cNvPr id="1099" name="TextBox 1099"/>
          <p:cNvSpPr txBox="1"/>
          <p:nvPr/>
        </p:nvSpPr>
        <p:spPr>
          <a:xfrm>
            <a:off x="622025" y="1416326"/>
            <a:ext cx="1957306" cy="496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100" dirty="0"/>
              <a:t>Bash/Zsh</a:t>
            </a:r>
          </a:p>
        </p:txBody>
      </p:sp>
      <p:sp>
        <p:nvSpPr>
          <p:cNvPr id="1100" name="TextBox 1100"/>
          <p:cNvSpPr txBox="1"/>
          <p:nvPr/>
        </p:nvSpPr>
        <p:spPr>
          <a:xfrm>
            <a:off x="6170490" y="1424608"/>
            <a:ext cx="945478" cy="46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900" dirty="0"/>
              <a:t>Fish</a:t>
            </a:r>
          </a:p>
        </p:txBody>
      </p:sp>
      <p:sp>
        <p:nvSpPr>
          <p:cNvPr id="1101" name="TextBox 1101"/>
          <p:cNvSpPr txBox="1"/>
          <p:nvPr/>
        </p:nvSpPr>
        <p:spPr>
          <a:xfrm>
            <a:off x="1285518" y="2244586"/>
            <a:ext cx="63031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nombre</a:t>
            </a:r>
          </a:p>
        </p:txBody>
      </p:sp>
      <p:sp>
        <p:nvSpPr>
          <p:cNvPr id="1102" name="TextBox 1102"/>
          <p:cNvSpPr txBox="1"/>
          <p:nvPr/>
        </p:nvSpPr>
        <p:spPr>
          <a:xfrm>
            <a:off x="1949012" y="2170043"/>
            <a:ext cx="771311" cy="256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'42Malaga</a:t>
            </a:r>
          </a:p>
        </p:txBody>
      </p:sp>
      <p:sp>
        <p:nvSpPr>
          <p:cNvPr id="1103" name="TextBox 1103"/>
          <p:cNvSpPr txBox="1"/>
          <p:nvPr/>
        </p:nvSpPr>
        <p:spPr>
          <a:xfrm>
            <a:off x="6825690" y="2228021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set</a:t>
            </a:r>
          </a:p>
        </p:txBody>
      </p:sp>
      <p:sp>
        <p:nvSpPr>
          <p:cNvPr id="1104" name="TextBox 1104"/>
          <p:cNvSpPr txBox="1"/>
          <p:nvPr/>
        </p:nvSpPr>
        <p:spPr>
          <a:xfrm>
            <a:off x="7165730" y="2203173"/>
            <a:ext cx="144309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nombre "42Malaga</a:t>
            </a:r>
          </a:p>
        </p:txBody>
      </p:sp>
      <p:sp>
        <p:nvSpPr>
          <p:cNvPr id="1105" name="TextBox 1105"/>
          <p:cNvSpPr txBox="1"/>
          <p:nvPr/>
        </p:nvSpPr>
        <p:spPr>
          <a:xfrm>
            <a:off x="6825690" y="2443369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set</a:t>
            </a:r>
          </a:p>
        </p:txBody>
      </p:sp>
      <p:sp>
        <p:nvSpPr>
          <p:cNvPr id="1106" name="TextBox 1106"/>
          <p:cNvSpPr txBox="1"/>
          <p:nvPr/>
        </p:nvSpPr>
        <p:spPr>
          <a:xfrm>
            <a:off x="7190611" y="2443369"/>
            <a:ext cx="114452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~l ruta_local</a:t>
            </a:r>
          </a:p>
        </p:txBody>
      </p:sp>
      <p:sp>
        <p:nvSpPr>
          <p:cNvPr id="1107" name="TextBox 1107"/>
          <p:cNvSpPr txBox="1"/>
          <p:nvPr/>
        </p:nvSpPr>
        <p:spPr>
          <a:xfrm>
            <a:off x="8459543" y="2418521"/>
            <a:ext cx="144309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'SHOME / Downloads"</a:t>
            </a:r>
          </a:p>
        </p:txBody>
      </p:sp>
      <p:sp>
        <p:nvSpPr>
          <p:cNvPr id="1108" name="TextBox 1108"/>
          <p:cNvSpPr txBox="1"/>
          <p:nvPr/>
        </p:nvSpPr>
        <p:spPr>
          <a:xfrm>
            <a:off x="1260637" y="2650434"/>
            <a:ext cx="68008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if [ -d</a:t>
            </a:r>
          </a:p>
        </p:txBody>
      </p:sp>
      <p:sp>
        <p:nvSpPr>
          <p:cNvPr id="1109" name="TextBox 1109"/>
          <p:cNvSpPr txBox="1"/>
          <p:nvPr/>
        </p:nvSpPr>
        <p:spPr>
          <a:xfrm>
            <a:off x="2056830" y="2650434"/>
            <a:ext cx="2139766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SHOME /Downloads" ]; then</a:t>
            </a:r>
          </a:p>
        </p:txBody>
      </p:sp>
      <p:sp>
        <p:nvSpPr>
          <p:cNvPr id="1110" name="TextBox 1110"/>
          <p:cNvSpPr txBox="1"/>
          <p:nvPr/>
        </p:nvSpPr>
        <p:spPr>
          <a:xfrm>
            <a:off x="6825690" y="2675282"/>
            <a:ext cx="298572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set</a:t>
            </a:r>
          </a:p>
        </p:txBody>
      </p:sp>
      <p:sp>
        <p:nvSpPr>
          <p:cNvPr id="1111" name="TextBox 1111"/>
          <p:cNvSpPr txBox="1"/>
          <p:nvPr/>
        </p:nvSpPr>
        <p:spPr>
          <a:xfrm>
            <a:off x="7248667" y="2650434"/>
            <a:ext cx="162555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gx VARIABLE_GLOBAL</a:t>
            </a:r>
          </a:p>
        </p:txBody>
      </p:sp>
      <p:sp>
        <p:nvSpPr>
          <p:cNvPr id="1112" name="TextBox 1112"/>
          <p:cNvSpPr txBox="1"/>
          <p:nvPr/>
        </p:nvSpPr>
        <p:spPr>
          <a:xfrm>
            <a:off x="8982044" y="2642152"/>
            <a:ext cx="854248" cy="2070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'exportada</a:t>
            </a:r>
          </a:p>
        </p:txBody>
      </p:sp>
      <p:sp>
        <p:nvSpPr>
          <p:cNvPr id="1113" name="TextBox 1113"/>
          <p:cNvSpPr txBox="1"/>
          <p:nvPr/>
        </p:nvSpPr>
        <p:spPr>
          <a:xfrm>
            <a:off x="1617265" y="2890630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1114" name="TextBox 1114"/>
          <p:cNvSpPr txBox="1"/>
          <p:nvPr/>
        </p:nvSpPr>
        <p:spPr>
          <a:xfrm>
            <a:off x="2131473" y="2857500"/>
            <a:ext cx="213147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Snombre: carpeta existe"</a:t>
            </a:r>
          </a:p>
        </p:txBody>
      </p:sp>
      <p:sp>
        <p:nvSpPr>
          <p:cNvPr id="1115" name="TextBox 1115"/>
          <p:cNvSpPr txBox="1"/>
          <p:nvPr/>
        </p:nvSpPr>
        <p:spPr>
          <a:xfrm>
            <a:off x="1268931" y="3105978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fi</a:t>
            </a:r>
          </a:p>
        </p:txBody>
      </p:sp>
      <p:sp>
        <p:nvSpPr>
          <p:cNvPr id="1116" name="TextBox 1116"/>
          <p:cNvSpPr txBox="1"/>
          <p:nvPr/>
        </p:nvSpPr>
        <p:spPr>
          <a:xfrm>
            <a:off x="6825690" y="3105978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if</a:t>
            </a:r>
          </a:p>
        </p:txBody>
      </p:sp>
      <p:sp>
        <p:nvSpPr>
          <p:cNvPr id="1117" name="TextBox 1117"/>
          <p:cNvSpPr txBox="1"/>
          <p:nvPr/>
        </p:nvSpPr>
        <p:spPr>
          <a:xfrm>
            <a:off x="7091087" y="3122543"/>
            <a:ext cx="38150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test</a:t>
            </a:r>
          </a:p>
        </p:txBody>
      </p:sp>
      <p:sp>
        <p:nvSpPr>
          <p:cNvPr id="1118" name="TextBox 1118"/>
          <p:cNvSpPr txBox="1"/>
          <p:nvPr/>
        </p:nvSpPr>
        <p:spPr>
          <a:xfrm>
            <a:off x="7613589" y="3097695"/>
            <a:ext cx="152603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  SHOME/Downloads</a:t>
            </a:r>
          </a:p>
        </p:txBody>
      </p:sp>
      <p:sp>
        <p:nvSpPr>
          <p:cNvPr id="1119" name="TextBox 1119"/>
          <p:cNvSpPr txBox="1"/>
          <p:nvPr/>
        </p:nvSpPr>
        <p:spPr>
          <a:xfrm>
            <a:off x="7174024" y="3337891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1120" name="TextBox 1120"/>
          <p:cNvSpPr txBox="1"/>
          <p:nvPr/>
        </p:nvSpPr>
        <p:spPr>
          <a:xfrm>
            <a:off x="7679938" y="3329608"/>
            <a:ext cx="127722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Carpeta existe</a:t>
            </a:r>
          </a:p>
        </p:txBody>
      </p:sp>
      <p:sp>
        <p:nvSpPr>
          <p:cNvPr id="1121" name="TextBox 1121"/>
          <p:cNvSpPr txBox="1"/>
          <p:nvPr/>
        </p:nvSpPr>
        <p:spPr>
          <a:xfrm>
            <a:off x="6842277" y="3569804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end</a:t>
            </a:r>
          </a:p>
        </p:txBody>
      </p:sp>
      <p:sp>
        <p:nvSpPr>
          <p:cNvPr id="1122" name="TextBox 1122"/>
          <p:cNvSpPr txBox="1"/>
          <p:nvPr/>
        </p:nvSpPr>
        <p:spPr>
          <a:xfrm>
            <a:off x="655199" y="3619500"/>
            <a:ext cx="1675321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Reglas estrictas:</a:t>
            </a:r>
          </a:p>
        </p:txBody>
      </p:sp>
      <p:sp>
        <p:nvSpPr>
          <p:cNvPr id="1123" name="TextBox 1123"/>
          <p:cNvSpPr txBox="1"/>
          <p:nvPr/>
        </p:nvSpPr>
        <p:spPr>
          <a:xfrm>
            <a:off x="937184" y="4141304"/>
            <a:ext cx="2637387" cy="339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100" dirty="0"/>
              <a:t>Sin espacios alrededor del</a:t>
            </a:r>
          </a:p>
        </p:txBody>
      </p:sp>
      <p:sp>
        <p:nvSpPr>
          <p:cNvPr id="1124" name="TextBox 1124"/>
          <p:cNvSpPr txBox="1"/>
          <p:nvPr/>
        </p:nvSpPr>
        <p:spPr>
          <a:xfrm>
            <a:off x="6211958" y="4066760"/>
            <a:ext cx="2123179" cy="3147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900" dirty="0"/>
              <a:t>Reglas mas flexibles:</a:t>
            </a:r>
          </a:p>
        </p:txBody>
      </p:sp>
      <p:sp>
        <p:nvSpPr>
          <p:cNvPr id="1125" name="TextBox 1125"/>
          <p:cNvSpPr txBox="1"/>
          <p:nvPr/>
        </p:nvSpPr>
        <p:spPr>
          <a:xfrm>
            <a:off x="953772" y="4596847"/>
            <a:ext cx="3284293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Espacios obligatorios dentro de</a:t>
            </a:r>
          </a:p>
        </p:txBody>
      </p:sp>
      <p:sp>
        <p:nvSpPr>
          <p:cNvPr id="1126" name="TextBox 1126"/>
          <p:cNvSpPr txBox="1"/>
          <p:nvPr/>
        </p:nvSpPr>
        <p:spPr>
          <a:xfrm>
            <a:off x="4321002" y="4646543"/>
            <a:ext cx="13269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[</a:t>
            </a:r>
          </a:p>
        </p:txBody>
      </p:sp>
      <p:sp>
        <p:nvSpPr>
          <p:cNvPr id="1127" name="TextBox 1127"/>
          <p:cNvSpPr txBox="1"/>
          <p:nvPr/>
        </p:nvSpPr>
        <p:spPr>
          <a:xfrm>
            <a:off x="6568586" y="4613413"/>
            <a:ext cx="1832901" cy="2981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800" dirty="0"/>
              <a:t>set reemplaza al</a:t>
            </a:r>
          </a:p>
        </p:txBody>
      </p:sp>
      <p:sp>
        <p:nvSpPr>
          <p:cNvPr id="1128" name="TextBox 1128"/>
          <p:cNvSpPr txBox="1"/>
          <p:nvPr/>
        </p:nvSpPr>
        <p:spPr>
          <a:xfrm>
            <a:off x="8923988" y="4638260"/>
            <a:ext cx="140992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sin errores de</a:t>
            </a:r>
          </a:p>
        </p:txBody>
      </p:sp>
      <p:sp>
        <p:nvSpPr>
          <p:cNvPr id="1129" name="TextBox 1129"/>
          <p:cNvSpPr txBox="1"/>
          <p:nvPr/>
        </p:nvSpPr>
        <p:spPr>
          <a:xfrm>
            <a:off x="10292444" y="4588565"/>
            <a:ext cx="937184" cy="339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100" dirty="0"/>
              <a:t>espacios</a:t>
            </a:r>
          </a:p>
        </p:txBody>
      </p:sp>
      <p:sp>
        <p:nvSpPr>
          <p:cNvPr id="1130" name="TextBox 1130"/>
          <p:cNvSpPr txBox="1"/>
          <p:nvPr/>
        </p:nvSpPr>
        <p:spPr>
          <a:xfrm>
            <a:off x="920597" y="4986130"/>
            <a:ext cx="3839969" cy="3395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100" dirty="0"/>
              <a:t>Las comillas dobles protegen espacios</a:t>
            </a:r>
          </a:p>
        </p:txBody>
      </p:sp>
      <p:sp>
        <p:nvSpPr>
          <p:cNvPr id="1131" name="TextBox 1131"/>
          <p:cNvSpPr txBox="1"/>
          <p:nvPr/>
        </p:nvSpPr>
        <p:spPr>
          <a:xfrm>
            <a:off x="6585174" y="5085521"/>
            <a:ext cx="53079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test</a:t>
            </a:r>
          </a:p>
        </p:txBody>
      </p:sp>
      <p:sp>
        <p:nvSpPr>
          <p:cNvPr id="1132" name="TextBox 1132"/>
          <p:cNvSpPr txBox="1"/>
          <p:nvPr/>
        </p:nvSpPr>
        <p:spPr>
          <a:xfrm>
            <a:off x="7198905" y="5035826"/>
            <a:ext cx="2421751" cy="2650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sin corchetes, cierra con</a:t>
            </a:r>
          </a:p>
        </p:txBody>
      </p:sp>
      <p:sp>
        <p:nvSpPr>
          <p:cNvPr id="1133" name="TextBox 1133"/>
          <p:cNvSpPr txBox="1"/>
          <p:nvPr/>
        </p:nvSpPr>
        <p:spPr>
          <a:xfrm>
            <a:off x="9703593" y="5068956"/>
            <a:ext cx="414683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end</a:t>
            </a:r>
          </a:p>
        </p:txBody>
      </p:sp>
      <p:sp>
        <p:nvSpPr>
          <p:cNvPr id="1134" name="TextBox 1134"/>
          <p:cNvSpPr txBox="1"/>
          <p:nvPr/>
        </p:nvSpPr>
        <p:spPr>
          <a:xfrm>
            <a:off x="6510531" y="5408543"/>
            <a:ext cx="2222703" cy="347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100" dirty="0"/>
              <a:t>Variables globales con</a:t>
            </a:r>
          </a:p>
        </p:txBody>
      </p:sp>
      <p:sp>
        <p:nvSpPr>
          <p:cNvPr id="1135" name="TextBox 1135"/>
          <p:cNvSpPr txBox="1"/>
          <p:nvPr/>
        </p:nvSpPr>
        <p:spPr>
          <a:xfrm>
            <a:off x="8807877" y="5499652"/>
            <a:ext cx="3980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</a:t>
            </a:r>
          </a:p>
        </p:txBody>
      </p:sp>
      <p:sp>
        <p:nvSpPr>
          <p:cNvPr id="1136" name="TextBox 1136"/>
          <p:cNvSpPr txBox="1"/>
          <p:nvPr/>
        </p:nvSpPr>
        <p:spPr>
          <a:xfrm>
            <a:off x="9421609" y="5516217"/>
            <a:ext cx="298572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gx</a:t>
            </a:r>
          </a:p>
        </p:txBody>
      </p:sp>
      <p:sp>
        <p:nvSpPr>
          <p:cNvPr id="1137" name="TextBox 1137"/>
          <p:cNvSpPr txBox="1"/>
          <p:nvPr/>
        </p:nvSpPr>
        <p:spPr>
          <a:xfrm>
            <a:off x="6518824" y="5872369"/>
            <a:ext cx="2073417" cy="256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600" dirty="0"/>
              <a:t>Variables locales con</a:t>
            </a:r>
          </a:p>
        </p:txBody>
      </p:sp>
      <p:sp>
        <p:nvSpPr>
          <p:cNvPr id="1138" name="TextBox 1138"/>
          <p:cNvSpPr txBox="1"/>
          <p:nvPr/>
        </p:nvSpPr>
        <p:spPr>
          <a:xfrm>
            <a:off x="8675178" y="5913782"/>
            <a:ext cx="3980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3" name="Picture 33" descr="slide-7.svg"/>
          <p:cNvPicPr>
            <a:picLocks noChangeAspect="1"/>
          </p:cNvPicPr>
          <p:nvPr/>
        </p:nvPicPr>
        <p:blipFill>
          <a:blip r:embed="rIdImg3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39" name="TextBox 1139"/>
          <p:cNvSpPr txBox="1"/>
          <p:nvPr/>
        </p:nvSpPr>
        <p:spPr>
          <a:xfrm>
            <a:off x="622025" y="505239"/>
            <a:ext cx="3176475" cy="612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800" dirty="0"/>
              <a:t>Arrays y Bucles</a:t>
            </a:r>
          </a:p>
        </p:txBody>
      </p:sp>
      <p:sp>
        <p:nvSpPr>
          <p:cNvPr id="1140" name="TextBox 1140"/>
          <p:cNvSpPr txBox="1"/>
          <p:nvPr/>
        </p:nvSpPr>
        <p:spPr>
          <a:xfrm>
            <a:off x="622025" y="1416326"/>
            <a:ext cx="1957306" cy="496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100" dirty="0"/>
              <a:t>Bash/Zsh</a:t>
            </a:r>
          </a:p>
        </p:txBody>
      </p:sp>
      <p:sp>
        <p:nvSpPr>
          <p:cNvPr id="1141" name="TextBox 1141"/>
          <p:cNvSpPr txBox="1"/>
          <p:nvPr/>
        </p:nvSpPr>
        <p:spPr>
          <a:xfrm>
            <a:off x="6170490" y="1424608"/>
            <a:ext cx="945478" cy="46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900" dirty="0"/>
              <a:t>Fish</a:t>
            </a:r>
          </a:p>
        </p:txBody>
      </p:sp>
      <p:sp>
        <p:nvSpPr>
          <p:cNvPr id="1142" name="TextBox 1142"/>
          <p:cNvSpPr txBox="1"/>
          <p:nvPr/>
        </p:nvSpPr>
        <p:spPr>
          <a:xfrm>
            <a:off x="1260637" y="2203173"/>
            <a:ext cx="1973893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extensiones-(js py ts)</a:t>
            </a:r>
          </a:p>
        </p:txBody>
      </p:sp>
      <p:sp>
        <p:nvSpPr>
          <p:cNvPr id="1143" name="TextBox 1143"/>
          <p:cNvSpPr txBox="1"/>
          <p:nvPr/>
        </p:nvSpPr>
        <p:spPr>
          <a:xfrm>
            <a:off x="6817396" y="2203173"/>
            <a:ext cx="187436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set extensiones js py</a:t>
            </a:r>
          </a:p>
        </p:txBody>
      </p:sp>
      <p:sp>
        <p:nvSpPr>
          <p:cNvPr id="1144" name="TextBox 1144"/>
          <p:cNvSpPr txBox="1"/>
          <p:nvPr/>
        </p:nvSpPr>
        <p:spPr>
          <a:xfrm>
            <a:off x="8733234" y="2228021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ts</a:t>
            </a:r>
          </a:p>
        </p:txBody>
      </p:sp>
      <p:sp>
        <p:nvSpPr>
          <p:cNvPr id="1145" name="TextBox 1145"/>
          <p:cNvSpPr txBox="1"/>
          <p:nvPr/>
        </p:nvSpPr>
        <p:spPr>
          <a:xfrm>
            <a:off x="1268931" y="2658717"/>
            <a:ext cx="31515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for</a:t>
            </a:r>
          </a:p>
        </p:txBody>
      </p:sp>
      <p:sp>
        <p:nvSpPr>
          <p:cNvPr id="1146" name="TextBox 1146"/>
          <p:cNvSpPr txBox="1"/>
          <p:nvPr/>
        </p:nvSpPr>
        <p:spPr>
          <a:xfrm>
            <a:off x="1633853" y="2658717"/>
            <a:ext cx="54738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ext in</a:t>
            </a:r>
          </a:p>
        </p:txBody>
      </p:sp>
      <p:sp>
        <p:nvSpPr>
          <p:cNvPr id="1147" name="TextBox 1147"/>
          <p:cNvSpPr txBox="1"/>
          <p:nvPr/>
        </p:nvSpPr>
        <p:spPr>
          <a:xfrm>
            <a:off x="2297346" y="2642152"/>
            <a:ext cx="162555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'${extensiones[@]}"</a:t>
            </a:r>
          </a:p>
        </p:txBody>
      </p:sp>
      <p:sp>
        <p:nvSpPr>
          <p:cNvPr id="1148" name="TextBox 1148"/>
          <p:cNvSpPr txBox="1"/>
          <p:nvPr/>
        </p:nvSpPr>
        <p:spPr>
          <a:xfrm>
            <a:off x="4072192" y="2691847"/>
            <a:ext cx="19904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do</a:t>
            </a:r>
          </a:p>
        </p:txBody>
      </p:sp>
      <p:sp>
        <p:nvSpPr>
          <p:cNvPr id="1149" name="TextBox 1149"/>
          <p:cNvSpPr txBox="1"/>
          <p:nvPr/>
        </p:nvSpPr>
        <p:spPr>
          <a:xfrm>
            <a:off x="6825690" y="2658717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for</a:t>
            </a:r>
          </a:p>
        </p:txBody>
      </p:sp>
      <p:sp>
        <p:nvSpPr>
          <p:cNvPr id="1150" name="TextBox 1150"/>
          <p:cNvSpPr txBox="1"/>
          <p:nvPr/>
        </p:nvSpPr>
        <p:spPr>
          <a:xfrm>
            <a:off x="7174024" y="2658717"/>
            <a:ext cx="16919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ext in fextensiones</a:t>
            </a:r>
          </a:p>
        </p:txBody>
      </p:sp>
      <p:sp>
        <p:nvSpPr>
          <p:cNvPr id="1151" name="TextBox 1151"/>
          <p:cNvSpPr txBox="1"/>
          <p:nvPr/>
        </p:nvSpPr>
        <p:spPr>
          <a:xfrm>
            <a:off x="1617265" y="2890630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1152" name="TextBox 1152"/>
          <p:cNvSpPr txBox="1"/>
          <p:nvPr/>
        </p:nvSpPr>
        <p:spPr>
          <a:xfrm>
            <a:off x="2148060" y="2890630"/>
            <a:ext cx="97865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Procesando :</a:t>
            </a:r>
          </a:p>
        </p:txBody>
      </p:sp>
      <p:sp>
        <p:nvSpPr>
          <p:cNvPr id="1153" name="TextBox 1153"/>
          <p:cNvSpPr txBox="1"/>
          <p:nvPr/>
        </p:nvSpPr>
        <p:spPr>
          <a:xfrm>
            <a:off x="3184769" y="2865782"/>
            <a:ext cx="39809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Sext</a:t>
            </a:r>
          </a:p>
        </p:txBody>
      </p:sp>
      <p:sp>
        <p:nvSpPr>
          <p:cNvPr id="1154" name="TextBox 1154"/>
          <p:cNvSpPr txBox="1"/>
          <p:nvPr/>
        </p:nvSpPr>
        <p:spPr>
          <a:xfrm>
            <a:off x="7174024" y="2890630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1155" name="TextBox 1155"/>
          <p:cNvSpPr txBox="1"/>
          <p:nvPr/>
        </p:nvSpPr>
        <p:spPr>
          <a:xfrm>
            <a:off x="7688232" y="2890630"/>
            <a:ext cx="978653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Procesando :</a:t>
            </a:r>
          </a:p>
        </p:txBody>
      </p:sp>
      <p:sp>
        <p:nvSpPr>
          <p:cNvPr id="1156" name="TextBox 1156"/>
          <p:cNvSpPr txBox="1"/>
          <p:nvPr/>
        </p:nvSpPr>
        <p:spPr>
          <a:xfrm>
            <a:off x="8749821" y="2890630"/>
            <a:ext cx="44785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fext"</a:t>
            </a:r>
          </a:p>
        </p:txBody>
      </p:sp>
      <p:sp>
        <p:nvSpPr>
          <p:cNvPr id="1157" name="TextBox 1157"/>
          <p:cNvSpPr txBox="1"/>
          <p:nvPr/>
        </p:nvSpPr>
        <p:spPr>
          <a:xfrm>
            <a:off x="1268931" y="3105978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done</a:t>
            </a:r>
          </a:p>
        </p:txBody>
      </p:sp>
      <p:sp>
        <p:nvSpPr>
          <p:cNvPr id="1158" name="TextBox 1158"/>
          <p:cNvSpPr txBox="1"/>
          <p:nvPr/>
        </p:nvSpPr>
        <p:spPr>
          <a:xfrm>
            <a:off x="6825690" y="3105978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1159" name="TextBox 1159"/>
          <p:cNvSpPr txBox="1"/>
          <p:nvPr/>
        </p:nvSpPr>
        <p:spPr>
          <a:xfrm>
            <a:off x="6502237" y="3528391"/>
            <a:ext cx="2206116" cy="248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500" dirty="0"/>
              <a:t>Las listas son nativas:</a:t>
            </a:r>
          </a:p>
        </p:txBody>
      </p:sp>
      <p:sp>
        <p:nvSpPr>
          <p:cNvPr id="1160" name="TextBox 1160"/>
          <p:cNvSpPr txBox="1"/>
          <p:nvPr/>
        </p:nvSpPr>
        <p:spPr>
          <a:xfrm>
            <a:off x="8791290" y="3544956"/>
            <a:ext cx="1526035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Sextensiones</a:t>
            </a:r>
          </a:p>
        </p:txBody>
      </p:sp>
      <p:sp>
        <p:nvSpPr>
          <p:cNvPr id="1161" name="TextBox 1161"/>
          <p:cNvSpPr txBox="1"/>
          <p:nvPr/>
        </p:nvSpPr>
        <p:spPr>
          <a:xfrm>
            <a:off x="10400262" y="3578086"/>
            <a:ext cx="96206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ya es una</a:t>
            </a:r>
          </a:p>
        </p:txBody>
      </p:sp>
      <p:sp>
        <p:nvSpPr>
          <p:cNvPr id="1162" name="TextBox 1162"/>
          <p:cNvSpPr txBox="1"/>
          <p:nvPr/>
        </p:nvSpPr>
        <p:spPr>
          <a:xfrm>
            <a:off x="655199" y="3602934"/>
            <a:ext cx="3184769" cy="331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000" dirty="0"/>
              <a:t>Sintaxis pesada: ${array[e]}</a:t>
            </a:r>
          </a:p>
        </p:txBody>
      </p:sp>
      <p:sp>
        <p:nvSpPr>
          <p:cNvPr id="1163" name="TextBox 1163"/>
          <p:cNvSpPr txBox="1"/>
          <p:nvPr/>
        </p:nvSpPr>
        <p:spPr>
          <a:xfrm>
            <a:off x="4014136" y="3644347"/>
            <a:ext cx="298572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do</a:t>
            </a:r>
          </a:p>
        </p:txBody>
      </p:sp>
      <p:sp>
        <p:nvSpPr>
          <p:cNvPr id="1164" name="TextBox 1164"/>
          <p:cNvSpPr txBox="1"/>
          <p:nvPr/>
        </p:nvSpPr>
        <p:spPr>
          <a:xfrm>
            <a:off x="4495169" y="3644347"/>
            <a:ext cx="53079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done</a:t>
            </a:r>
          </a:p>
        </p:txBody>
      </p:sp>
      <p:sp>
        <p:nvSpPr>
          <p:cNvPr id="1165" name="TextBox 1165"/>
          <p:cNvSpPr txBox="1"/>
          <p:nvPr/>
        </p:nvSpPr>
        <p:spPr>
          <a:xfrm>
            <a:off x="6485649" y="3959086"/>
            <a:ext cx="481032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lista</a:t>
            </a:r>
          </a:p>
        </p:txBody>
      </p:sp>
      <p:sp>
        <p:nvSpPr>
          <p:cNvPr id="1166" name="TextBox 1166"/>
          <p:cNvSpPr txBox="1"/>
          <p:nvPr/>
        </p:nvSpPr>
        <p:spPr>
          <a:xfrm>
            <a:off x="6493943" y="4331804"/>
            <a:ext cx="1890956" cy="3147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900" dirty="0"/>
              <a:t>Sin ${array[e]}</a:t>
            </a:r>
          </a:p>
        </p:txBody>
      </p:sp>
      <p:sp>
        <p:nvSpPr>
          <p:cNvPr id="1167" name="TextBox 1167"/>
          <p:cNvSpPr txBox="1"/>
          <p:nvPr/>
        </p:nvSpPr>
        <p:spPr>
          <a:xfrm>
            <a:off x="8492718" y="4356652"/>
            <a:ext cx="364921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sin</a:t>
            </a:r>
          </a:p>
        </p:txBody>
      </p:sp>
      <p:sp>
        <p:nvSpPr>
          <p:cNvPr id="1168" name="TextBox 1168"/>
          <p:cNvSpPr txBox="1"/>
          <p:nvPr/>
        </p:nvSpPr>
        <p:spPr>
          <a:xfrm>
            <a:off x="8923988" y="4373217"/>
            <a:ext cx="281984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do</a:t>
            </a:r>
          </a:p>
        </p:txBody>
      </p:sp>
      <p:sp>
        <p:nvSpPr>
          <p:cNvPr id="1169" name="TextBox 1169"/>
          <p:cNvSpPr txBox="1"/>
          <p:nvPr/>
        </p:nvSpPr>
        <p:spPr>
          <a:xfrm>
            <a:off x="9388434" y="4356652"/>
            <a:ext cx="530794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done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4" name="Picture 34" descr="slide-8.svg"/>
          <p:cNvPicPr>
            <a:picLocks noChangeAspect="1"/>
          </p:cNvPicPr>
          <p:nvPr/>
        </p:nvPicPr>
        <p:blipFill>
          <a:blip r:embed="rIdImg3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70" name="TextBox 1170"/>
          <p:cNvSpPr txBox="1"/>
          <p:nvPr/>
        </p:nvSpPr>
        <p:spPr>
          <a:xfrm>
            <a:off x="597144" y="496956"/>
            <a:ext cx="6485649" cy="604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800" dirty="0"/>
              <a:t>Brace Expansion &amp; Argumentos</a:t>
            </a:r>
          </a:p>
        </p:txBody>
      </p:sp>
      <p:sp>
        <p:nvSpPr>
          <p:cNvPr id="1171" name="TextBox 1171"/>
          <p:cNvSpPr txBox="1"/>
          <p:nvPr/>
        </p:nvSpPr>
        <p:spPr>
          <a:xfrm>
            <a:off x="622025" y="1416326"/>
            <a:ext cx="1957306" cy="4969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3100" dirty="0"/>
              <a:t>Bash/Zsh</a:t>
            </a:r>
          </a:p>
        </p:txBody>
      </p:sp>
      <p:sp>
        <p:nvSpPr>
          <p:cNvPr id="1172" name="TextBox 1172"/>
          <p:cNvSpPr txBox="1"/>
          <p:nvPr/>
        </p:nvSpPr>
        <p:spPr>
          <a:xfrm>
            <a:off x="6170490" y="1424608"/>
            <a:ext cx="945478" cy="463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900" dirty="0"/>
              <a:t>Fish</a:t>
            </a:r>
          </a:p>
        </p:txBody>
      </p:sp>
      <p:sp>
        <p:nvSpPr>
          <p:cNvPr id="1173" name="TextBox 1173"/>
          <p:cNvSpPr txBox="1"/>
          <p:nvPr/>
        </p:nvSpPr>
        <p:spPr>
          <a:xfrm>
            <a:off x="1443098" y="2203173"/>
            <a:ext cx="127722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Crear carpetas</a:t>
            </a:r>
          </a:p>
        </p:txBody>
      </p:sp>
      <p:sp>
        <p:nvSpPr>
          <p:cNvPr id="1174" name="TextBox 1174"/>
          <p:cNvSpPr txBox="1"/>
          <p:nvPr/>
        </p:nvSpPr>
        <p:spPr>
          <a:xfrm>
            <a:off x="2761792" y="2228021"/>
            <a:ext cx="182460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al</a:t>
            </a:r>
          </a:p>
        </p:txBody>
      </p:sp>
      <p:sp>
        <p:nvSpPr>
          <p:cNvPr id="1175" name="TextBox 1175"/>
          <p:cNvSpPr txBox="1"/>
          <p:nvPr/>
        </p:nvSpPr>
        <p:spPr>
          <a:xfrm>
            <a:off x="3027189" y="2244586"/>
            <a:ext cx="46444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vuelo</a:t>
            </a:r>
          </a:p>
        </p:txBody>
      </p:sp>
      <p:sp>
        <p:nvSpPr>
          <p:cNvPr id="1176" name="TextBox 1176"/>
          <p:cNvSpPr txBox="1"/>
          <p:nvPr/>
        </p:nvSpPr>
        <p:spPr>
          <a:xfrm>
            <a:off x="6817396" y="2186608"/>
            <a:ext cx="1526035" cy="223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# Brace expansion</a:t>
            </a:r>
          </a:p>
        </p:txBody>
      </p:sp>
      <p:sp>
        <p:nvSpPr>
          <p:cNvPr id="1177" name="TextBox 1177"/>
          <p:cNvSpPr txBox="1"/>
          <p:nvPr/>
        </p:nvSpPr>
        <p:spPr>
          <a:xfrm>
            <a:off x="8393194" y="2203173"/>
            <a:ext cx="1011827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(desde Fish</a:t>
            </a:r>
          </a:p>
        </p:txBody>
      </p:sp>
      <p:sp>
        <p:nvSpPr>
          <p:cNvPr id="1178" name="TextBox 1178"/>
          <p:cNvSpPr txBox="1"/>
          <p:nvPr/>
        </p:nvSpPr>
        <p:spPr>
          <a:xfrm>
            <a:off x="9438196" y="2203173"/>
            <a:ext cx="38150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3.0)</a:t>
            </a:r>
          </a:p>
        </p:txBody>
      </p:sp>
      <p:sp>
        <p:nvSpPr>
          <p:cNvPr id="1179" name="TextBox 1179"/>
          <p:cNvSpPr txBox="1"/>
          <p:nvPr/>
        </p:nvSpPr>
        <p:spPr>
          <a:xfrm>
            <a:off x="1260637" y="2418521"/>
            <a:ext cx="144309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mkdir test{1..4}</a:t>
            </a:r>
          </a:p>
        </p:txBody>
      </p:sp>
      <p:sp>
        <p:nvSpPr>
          <p:cNvPr id="1180" name="TextBox 1180"/>
          <p:cNvSpPr txBox="1"/>
          <p:nvPr/>
        </p:nvSpPr>
        <p:spPr>
          <a:xfrm>
            <a:off x="6800809" y="2418521"/>
            <a:ext cx="145968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mkdir test{1..4}</a:t>
            </a:r>
          </a:p>
        </p:txBody>
      </p:sp>
      <p:sp>
        <p:nvSpPr>
          <p:cNvPr id="1181" name="TextBox 1181"/>
          <p:cNvSpPr txBox="1"/>
          <p:nvPr/>
        </p:nvSpPr>
        <p:spPr>
          <a:xfrm>
            <a:off x="1268931" y="2658717"/>
            <a:ext cx="48103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mkdir</a:t>
            </a:r>
          </a:p>
        </p:txBody>
      </p:sp>
      <p:sp>
        <p:nvSpPr>
          <p:cNvPr id="1182" name="TextBox 1182"/>
          <p:cNvSpPr txBox="1"/>
          <p:nvPr/>
        </p:nvSpPr>
        <p:spPr>
          <a:xfrm>
            <a:off x="1832901" y="2708413"/>
            <a:ext cx="18246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~p</a:t>
            </a:r>
          </a:p>
        </p:txBody>
      </p:sp>
      <p:sp>
        <p:nvSpPr>
          <p:cNvPr id="1183" name="TextBox 1183"/>
          <p:cNvSpPr txBox="1"/>
          <p:nvPr/>
        </p:nvSpPr>
        <p:spPr>
          <a:xfrm>
            <a:off x="2040242" y="2650434"/>
            <a:ext cx="2504688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proyecto/ {js,css}/{src,dist}</a:t>
            </a:r>
          </a:p>
        </p:txBody>
      </p:sp>
      <p:sp>
        <p:nvSpPr>
          <p:cNvPr id="1184" name="TextBox 1184"/>
          <p:cNvSpPr txBox="1"/>
          <p:nvPr/>
        </p:nvSpPr>
        <p:spPr>
          <a:xfrm>
            <a:off x="6809103" y="2658717"/>
            <a:ext cx="49762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mkdir</a:t>
            </a:r>
          </a:p>
        </p:txBody>
      </p:sp>
      <p:sp>
        <p:nvSpPr>
          <p:cNvPr id="1185" name="TextBox 1185"/>
          <p:cNvSpPr txBox="1"/>
          <p:nvPr/>
        </p:nvSpPr>
        <p:spPr>
          <a:xfrm>
            <a:off x="7373072" y="2708413"/>
            <a:ext cx="182460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~p</a:t>
            </a:r>
          </a:p>
        </p:txBody>
      </p:sp>
      <p:sp>
        <p:nvSpPr>
          <p:cNvPr id="1186" name="TextBox 1186"/>
          <p:cNvSpPr txBox="1"/>
          <p:nvPr/>
        </p:nvSpPr>
        <p:spPr>
          <a:xfrm>
            <a:off x="7597001" y="2633869"/>
            <a:ext cx="2496394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proyecto/ {js,css}/{Src,dist}</a:t>
            </a:r>
          </a:p>
        </p:txBody>
      </p:sp>
      <p:sp>
        <p:nvSpPr>
          <p:cNvPr id="1187" name="TextBox 1187"/>
          <p:cNvSpPr txBox="1"/>
          <p:nvPr/>
        </p:nvSpPr>
        <p:spPr>
          <a:xfrm>
            <a:off x="1434804" y="3089413"/>
            <a:ext cx="58885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Parseo</a:t>
            </a:r>
          </a:p>
        </p:txBody>
      </p:sp>
      <p:sp>
        <p:nvSpPr>
          <p:cNvPr id="1188" name="TextBox 1188"/>
          <p:cNvSpPr txBox="1"/>
          <p:nvPr/>
        </p:nvSpPr>
        <p:spPr>
          <a:xfrm>
            <a:off x="2065123" y="3122543"/>
            <a:ext cx="53079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manual</a:t>
            </a:r>
          </a:p>
        </p:txBody>
      </p:sp>
      <p:sp>
        <p:nvSpPr>
          <p:cNvPr id="1189" name="TextBox 1189"/>
          <p:cNvSpPr txBox="1"/>
          <p:nvPr/>
        </p:nvSpPr>
        <p:spPr>
          <a:xfrm>
            <a:off x="2653974" y="3097695"/>
            <a:ext cx="1194288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de argumentos</a:t>
            </a:r>
          </a:p>
        </p:txBody>
      </p:sp>
      <p:sp>
        <p:nvSpPr>
          <p:cNvPr id="1190" name="TextBox 1190"/>
          <p:cNvSpPr txBox="1"/>
          <p:nvPr/>
        </p:nvSpPr>
        <p:spPr>
          <a:xfrm>
            <a:off x="6983270" y="3089413"/>
            <a:ext cx="1808020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Parseo de argumentos</a:t>
            </a:r>
          </a:p>
        </p:txBody>
      </p:sp>
      <p:sp>
        <p:nvSpPr>
          <p:cNvPr id="1191" name="TextBox 1191"/>
          <p:cNvSpPr txBox="1"/>
          <p:nvPr/>
        </p:nvSpPr>
        <p:spPr>
          <a:xfrm>
            <a:off x="8832758" y="3122543"/>
            <a:ext cx="199048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en</a:t>
            </a:r>
          </a:p>
        </p:txBody>
      </p:sp>
      <p:sp>
        <p:nvSpPr>
          <p:cNvPr id="1192" name="TextBox 1192"/>
          <p:cNvSpPr txBox="1"/>
          <p:nvPr/>
        </p:nvSpPr>
        <p:spPr>
          <a:xfrm>
            <a:off x="9098156" y="3105978"/>
            <a:ext cx="812779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una linea</a:t>
            </a:r>
          </a:p>
        </p:txBody>
      </p:sp>
      <p:sp>
        <p:nvSpPr>
          <p:cNvPr id="1193" name="TextBox 1193"/>
          <p:cNvSpPr txBox="1"/>
          <p:nvPr/>
        </p:nvSpPr>
        <p:spPr>
          <a:xfrm>
            <a:off x="1260637" y="3329608"/>
            <a:ext cx="127722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ejemplo_args()</a:t>
            </a:r>
          </a:p>
        </p:txBody>
      </p:sp>
      <p:sp>
        <p:nvSpPr>
          <p:cNvPr id="1194" name="TextBox 1194"/>
          <p:cNvSpPr txBox="1"/>
          <p:nvPr/>
        </p:nvSpPr>
        <p:spPr>
          <a:xfrm>
            <a:off x="6817396" y="3329608"/>
            <a:ext cx="187436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function ejemplo_args</a:t>
            </a:r>
          </a:p>
        </p:txBody>
      </p:sp>
      <p:sp>
        <p:nvSpPr>
          <p:cNvPr id="1195" name="TextBox 1195"/>
          <p:cNvSpPr txBox="1"/>
          <p:nvPr/>
        </p:nvSpPr>
        <p:spPr>
          <a:xfrm>
            <a:off x="1617265" y="3553239"/>
            <a:ext cx="46444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Local</a:t>
            </a:r>
          </a:p>
        </p:txBody>
      </p:sp>
      <p:sp>
        <p:nvSpPr>
          <p:cNvPr id="1196" name="TextBox 1196"/>
          <p:cNvSpPr txBox="1"/>
          <p:nvPr/>
        </p:nvSpPr>
        <p:spPr>
          <a:xfrm>
            <a:off x="2148060" y="3569804"/>
            <a:ext cx="63031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output</a:t>
            </a:r>
          </a:p>
        </p:txBody>
      </p:sp>
      <p:sp>
        <p:nvSpPr>
          <p:cNvPr id="1197" name="TextBox 1197"/>
          <p:cNvSpPr txBox="1"/>
          <p:nvPr/>
        </p:nvSpPr>
        <p:spPr>
          <a:xfrm>
            <a:off x="7165730" y="3561521"/>
            <a:ext cx="746430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argparse</a:t>
            </a:r>
          </a:p>
        </p:txBody>
      </p:sp>
      <p:sp>
        <p:nvSpPr>
          <p:cNvPr id="1198" name="TextBox 1198"/>
          <p:cNvSpPr txBox="1"/>
          <p:nvPr/>
        </p:nvSpPr>
        <p:spPr>
          <a:xfrm>
            <a:off x="8036566" y="3569804"/>
            <a:ext cx="829367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o/output=</a:t>
            </a:r>
          </a:p>
        </p:txBody>
      </p:sp>
      <p:sp>
        <p:nvSpPr>
          <p:cNvPr id="1199" name="TextBox 1199"/>
          <p:cNvSpPr txBox="1"/>
          <p:nvPr/>
        </p:nvSpPr>
        <p:spPr>
          <a:xfrm>
            <a:off x="9098156" y="3569804"/>
            <a:ext cx="646906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elexte+</a:t>
            </a:r>
          </a:p>
        </p:txBody>
      </p:sp>
      <p:sp>
        <p:nvSpPr>
          <p:cNvPr id="1200" name="TextBox 1200"/>
          <p:cNvSpPr txBox="1"/>
          <p:nvPr/>
        </p:nvSpPr>
        <p:spPr>
          <a:xfrm>
            <a:off x="10109983" y="3536673"/>
            <a:ext cx="505913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Sargv</a:t>
            </a:r>
          </a:p>
        </p:txBody>
      </p:sp>
      <p:sp>
        <p:nvSpPr>
          <p:cNvPr id="1201" name="TextBox 1201"/>
          <p:cNvSpPr txBox="1"/>
          <p:nvPr/>
        </p:nvSpPr>
        <p:spPr>
          <a:xfrm>
            <a:off x="1608971" y="3760304"/>
            <a:ext cx="1028415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while [L S#</a:t>
            </a:r>
          </a:p>
        </p:txBody>
      </p:sp>
      <p:sp>
        <p:nvSpPr>
          <p:cNvPr id="1202" name="TextBox 1202"/>
          <p:cNvSpPr txBox="1"/>
          <p:nvPr/>
        </p:nvSpPr>
        <p:spPr>
          <a:xfrm>
            <a:off x="2695442" y="3818282"/>
            <a:ext cx="281984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~gt</a:t>
            </a:r>
          </a:p>
        </p:txBody>
      </p:sp>
      <p:sp>
        <p:nvSpPr>
          <p:cNvPr id="1203" name="TextBox 1203"/>
          <p:cNvSpPr txBox="1"/>
          <p:nvPr/>
        </p:nvSpPr>
        <p:spPr>
          <a:xfrm>
            <a:off x="3168181" y="3760304"/>
            <a:ext cx="315159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JJ;</a:t>
            </a:r>
          </a:p>
        </p:txBody>
      </p:sp>
      <p:sp>
        <p:nvSpPr>
          <p:cNvPr id="1204" name="TextBox 1204"/>
          <p:cNvSpPr txBox="1"/>
          <p:nvPr/>
        </p:nvSpPr>
        <p:spPr>
          <a:xfrm>
            <a:off x="3541397" y="3785152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do</a:t>
            </a:r>
          </a:p>
        </p:txBody>
      </p:sp>
      <p:sp>
        <p:nvSpPr>
          <p:cNvPr id="1205" name="TextBox 1205"/>
          <p:cNvSpPr txBox="1"/>
          <p:nvPr/>
        </p:nvSpPr>
        <p:spPr>
          <a:xfrm>
            <a:off x="7174024" y="3785152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1206" name="TextBox 1206"/>
          <p:cNvSpPr txBox="1"/>
          <p:nvPr/>
        </p:nvSpPr>
        <p:spPr>
          <a:xfrm>
            <a:off x="7679938" y="3760304"/>
            <a:ext cx="64690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Salida:</a:t>
            </a:r>
          </a:p>
        </p:txBody>
      </p:sp>
      <p:sp>
        <p:nvSpPr>
          <p:cNvPr id="1207" name="TextBox 1207"/>
          <p:cNvSpPr txBox="1"/>
          <p:nvPr/>
        </p:nvSpPr>
        <p:spPr>
          <a:xfrm>
            <a:off x="8393194" y="3760304"/>
            <a:ext cx="124405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$_flag_output"</a:t>
            </a:r>
          </a:p>
        </p:txBody>
      </p:sp>
      <p:sp>
        <p:nvSpPr>
          <p:cNvPr id="1208" name="TextBox 1208"/>
          <p:cNvSpPr txBox="1"/>
          <p:nvPr/>
        </p:nvSpPr>
        <p:spPr>
          <a:xfrm>
            <a:off x="1965599" y="4017065"/>
            <a:ext cx="398096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case</a:t>
            </a:r>
          </a:p>
        </p:txBody>
      </p:sp>
      <p:sp>
        <p:nvSpPr>
          <p:cNvPr id="1209" name="TextBox 1209"/>
          <p:cNvSpPr txBox="1"/>
          <p:nvPr/>
        </p:nvSpPr>
        <p:spPr>
          <a:xfrm>
            <a:off x="2488101" y="3992217"/>
            <a:ext cx="580556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$1" in</a:t>
            </a:r>
          </a:p>
        </p:txBody>
      </p:sp>
      <p:sp>
        <p:nvSpPr>
          <p:cNvPr id="1210" name="TextBox 1210"/>
          <p:cNvSpPr txBox="1"/>
          <p:nvPr/>
        </p:nvSpPr>
        <p:spPr>
          <a:xfrm>
            <a:off x="7174024" y="4000500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echo</a:t>
            </a:r>
          </a:p>
        </p:txBody>
      </p:sp>
      <p:sp>
        <p:nvSpPr>
          <p:cNvPr id="1211" name="TextBox 1211"/>
          <p:cNvSpPr txBox="1"/>
          <p:nvPr/>
        </p:nvSpPr>
        <p:spPr>
          <a:xfrm>
            <a:off x="7671644" y="3975652"/>
            <a:ext cx="2156354" cy="231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400" dirty="0"/>
              <a:t>'Extensiones: $_flag_ext"</a:t>
            </a:r>
          </a:p>
        </p:txBody>
      </p:sp>
      <p:sp>
        <p:nvSpPr>
          <p:cNvPr id="1212" name="TextBox 1212"/>
          <p:cNvSpPr txBox="1"/>
          <p:nvPr/>
        </p:nvSpPr>
        <p:spPr>
          <a:xfrm>
            <a:off x="804485" y="4215847"/>
            <a:ext cx="19904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10</a:t>
            </a:r>
          </a:p>
        </p:txBody>
      </p:sp>
      <p:sp>
        <p:nvSpPr>
          <p:cNvPr id="1213" name="TextBox 1213"/>
          <p:cNvSpPr txBox="1"/>
          <p:nvPr/>
        </p:nvSpPr>
        <p:spPr>
          <a:xfrm>
            <a:off x="2347108" y="4248978"/>
            <a:ext cx="96206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~0 | --output</a:t>
            </a:r>
          </a:p>
        </p:txBody>
      </p:sp>
      <p:sp>
        <p:nvSpPr>
          <p:cNvPr id="1214" name="TextBox 1214"/>
          <p:cNvSpPr txBox="1"/>
          <p:nvPr/>
        </p:nvSpPr>
        <p:spPr>
          <a:xfrm>
            <a:off x="3466754" y="4207565"/>
            <a:ext cx="995240" cy="215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300" dirty="0"/>
              <a:t>output="52"</a:t>
            </a:r>
          </a:p>
        </p:txBody>
      </p:sp>
      <p:sp>
        <p:nvSpPr>
          <p:cNvPr id="1215" name="TextBox 1215"/>
          <p:cNvSpPr txBox="1"/>
          <p:nvPr/>
        </p:nvSpPr>
        <p:spPr>
          <a:xfrm>
            <a:off x="4578105" y="4207565"/>
            <a:ext cx="481032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shift</a:t>
            </a:r>
          </a:p>
        </p:txBody>
      </p:sp>
      <p:sp>
        <p:nvSpPr>
          <p:cNvPr id="1216" name="TextBox 1216"/>
          <p:cNvSpPr txBox="1"/>
          <p:nvPr/>
        </p:nvSpPr>
        <p:spPr>
          <a:xfrm>
            <a:off x="6352951" y="4207565"/>
            <a:ext cx="215635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10</a:t>
            </a:r>
          </a:p>
        </p:txBody>
      </p:sp>
      <p:sp>
        <p:nvSpPr>
          <p:cNvPr id="1217" name="TextBox 1217"/>
          <p:cNvSpPr txBox="1"/>
          <p:nvPr/>
        </p:nvSpPr>
        <p:spPr>
          <a:xfrm>
            <a:off x="6825690" y="4232413"/>
            <a:ext cx="298572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end</a:t>
            </a:r>
          </a:p>
        </p:txBody>
      </p:sp>
      <p:sp>
        <p:nvSpPr>
          <p:cNvPr id="1218" name="TextBox 1218"/>
          <p:cNvSpPr txBox="1"/>
          <p:nvPr/>
        </p:nvSpPr>
        <p:spPr>
          <a:xfrm>
            <a:off x="2579331" y="4464326"/>
            <a:ext cx="398096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echo</a:t>
            </a:r>
          </a:p>
        </p:txBody>
      </p:sp>
      <p:sp>
        <p:nvSpPr>
          <p:cNvPr id="1219" name="TextBox 1219"/>
          <p:cNvSpPr txBox="1"/>
          <p:nvPr/>
        </p:nvSpPr>
        <p:spPr>
          <a:xfrm>
            <a:off x="3110126" y="4447760"/>
            <a:ext cx="530794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Error:</a:t>
            </a:r>
          </a:p>
        </p:txBody>
      </p:sp>
      <p:sp>
        <p:nvSpPr>
          <p:cNvPr id="1220" name="TextBox 1220"/>
          <p:cNvSpPr txBox="1"/>
          <p:nvPr/>
        </p:nvSpPr>
        <p:spPr>
          <a:xfrm>
            <a:off x="3698976" y="4439478"/>
            <a:ext cx="315159" cy="1987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200" dirty="0"/>
              <a:t>$1"</a:t>
            </a:r>
          </a:p>
        </p:txBody>
      </p:sp>
      <p:sp>
        <p:nvSpPr>
          <p:cNvPr id="1221" name="TextBox 1221"/>
          <p:cNvSpPr txBox="1"/>
          <p:nvPr/>
        </p:nvSpPr>
        <p:spPr>
          <a:xfrm>
            <a:off x="4155128" y="4480891"/>
            <a:ext cx="547382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return</a:t>
            </a:r>
          </a:p>
        </p:txBody>
      </p:sp>
      <p:sp>
        <p:nvSpPr>
          <p:cNvPr id="1222" name="TextBox 1222"/>
          <p:cNvSpPr txBox="1"/>
          <p:nvPr/>
        </p:nvSpPr>
        <p:spPr>
          <a:xfrm>
            <a:off x="6361244" y="4447760"/>
            <a:ext cx="182460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11</a:t>
            </a:r>
          </a:p>
        </p:txBody>
      </p:sp>
      <p:sp>
        <p:nvSpPr>
          <p:cNvPr id="1223" name="TextBox 1223"/>
          <p:cNvSpPr txBox="1"/>
          <p:nvPr/>
        </p:nvSpPr>
        <p:spPr>
          <a:xfrm>
            <a:off x="796192" y="4422913"/>
            <a:ext cx="232222" cy="4306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2700" dirty="0"/>
              <a:t>12</a:t>
            </a:r>
          </a:p>
        </p:txBody>
      </p:sp>
      <p:sp>
        <p:nvSpPr>
          <p:cNvPr id="1224" name="TextBox 1224"/>
          <p:cNvSpPr txBox="1"/>
          <p:nvPr/>
        </p:nvSpPr>
        <p:spPr>
          <a:xfrm>
            <a:off x="1982187" y="4712804"/>
            <a:ext cx="381508" cy="1325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800" dirty="0"/>
              <a:t>esac</a:t>
            </a:r>
          </a:p>
        </p:txBody>
      </p:sp>
      <p:sp>
        <p:nvSpPr>
          <p:cNvPr id="1225" name="TextBox 1225"/>
          <p:cNvSpPr txBox="1"/>
          <p:nvPr/>
        </p:nvSpPr>
        <p:spPr>
          <a:xfrm>
            <a:off x="804485" y="4895021"/>
            <a:ext cx="215635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13</a:t>
            </a:r>
          </a:p>
        </p:txBody>
      </p:sp>
      <p:sp>
        <p:nvSpPr>
          <p:cNvPr id="1226" name="TextBox 1226"/>
          <p:cNvSpPr txBox="1"/>
          <p:nvPr/>
        </p:nvSpPr>
        <p:spPr>
          <a:xfrm>
            <a:off x="1633853" y="4895021"/>
            <a:ext cx="381508" cy="1656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1000" dirty="0"/>
              <a:t>done</a:t>
            </a:r>
          </a:p>
        </p:txBody>
      </p:sp>
      <p:sp>
        <p:nvSpPr>
          <p:cNvPr id="1227" name="TextBox 1227"/>
          <p:cNvSpPr txBox="1"/>
          <p:nvPr/>
        </p:nvSpPr>
        <p:spPr>
          <a:xfrm>
            <a:off x="804485" y="5126934"/>
            <a:ext cx="215635" cy="149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900" dirty="0"/>
              <a:t>14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5" name="Picture 35" descr="slide-9.svg"/>
          <p:cNvPicPr>
            <a:picLocks noChangeAspect="1"/>
          </p:cNvPicPr>
          <p:nvPr/>
        </p:nvPicPr>
        <p:blipFill>
          <a:blip r:embed="rIdImg3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228" name="TextBox 1228"/>
          <p:cNvSpPr txBox="1"/>
          <p:nvPr/>
        </p:nvSpPr>
        <p:spPr>
          <a:xfrm>
            <a:off x="2015361" y="2932043"/>
            <a:ext cx="8152677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p>
            <a:r>
              <a:rPr lang="en-US" sz="6000" dirty="0"/>
              <a:t>05 . Comparativa Directa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